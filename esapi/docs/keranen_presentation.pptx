
<file path=[Content_Types].xml><?xml version="1.0" encoding="utf-8"?>
<Types xmlns="http://schemas.openxmlformats.org/package/2006/content-types">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sldIdLst>
    <p:sldId id="262" r:id="rId2"/>
    <p:sldId id="260" r:id="rId3"/>
    <p:sldId id="264" r:id="rId4"/>
    <p:sldId id="263" r:id="rId5"/>
    <p:sldId id="266" r:id="rId6"/>
    <p:sldId id="267" r:id="rId7"/>
    <p:sldId id="265" r:id="rId8"/>
    <p:sldId id="268" r:id="rId9"/>
    <p:sldId id="269" r:id="rId10"/>
    <p:sldId id="270" r:id="rId11"/>
    <p:sldId id="261" r:id="rId12"/>
    <p:sldId id="321" r:id="rId13"/>
    <p:sldId id="322" r:id="rId14"/>
    <p:sldId id="323" r:id="rId15"/>
    <p:sldId id="324" r:id="rId16"/>
    <p:sldId id="325" r:id="rId17"/>
    <p:sldId id="326" r:id="rId18"/>
    <p:sldId id="335" r:id="rId19"/>
    <p:sldId id="320" r:id="rId20"/>
    <p:sldId id="279" r:id="rId21"/>
    <p:sldId id="293" r:id="rId22"/>
    <p:sldId id="292" r:id="rId23"/>
    <p:sldId id="280" r:id="rId24"/>
    <p:sldId id="281" r:id="rId25"/>
    <p:sldId id="259" r:id="rId26"/>
    <p:sldId id="301" r:id="rId27"/>
    <p:sldId id="302" r:id="rId28"/>
    <p:sldId id="304" r:id="rId29"/>
    <p:sldId id="305" r:id="rId30"/>
    <p:sldId id="300" r:id="rId31"/>
    <p:sldId id="307" r:id="rId32"/>
    <p:sldId id="308" r:id="rId33"/>
    <p:sldId id="309" r:id="rId34"/>
    <p:sldId id="295" r:id="rId35"/>
    <p:sldId id="311" r:id="rId36"/>
    <p:sldId id="312" r:id="rId37"/>
    <p:sldId id="314" r:id="rId38"/>
    <p:sldId id="315" r:id="rId39"/>
    <p:sldId id="272" r:id="rId40"/>
    <p:sldId id="318" r:id="rId41"/>
    <p:sldId id="319" r:id="rId42"/>
    <p:sldId id="313"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4785" autoAdjust="0"/>
  </p:normalViewPr>
  <p:slideViewPr>
    <p:cSldViewPr>
      <p:cViewPr varScale="1">
        <p:scale>
          <a:sx n="74" d="100"/>
          <a:sy n="74" d="100"/>
        </p:scale>
        <p:origin x="1044"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75A9F51-2C5B-42A0-9143-18948F8E3179}" type="datetimeFigureOut">
              <a:rPr lang="en-US" smtClean="0"/>
              <a:t>4/29/2016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1FEC518-73FD-4E79-9D13-17DF88DFE6E4}" type="slidenum">
              <a:rPr lang="en-US" smtClean="0"/>
              <a:t>‹#›</a:t>
            </a:fld>
            <a:endParaRPr lang="en-US"/>
          </a:p>
        </p:txBody>
      </p:sp>
    </p:spTree>
    <p:extLst>
      <p:ext uri="{BB962C8B-B14F-4D97-AF65-F5344CB8AC3E}">
        <p14:creationId xmlns:p14="http://schemas.microsoft.com/office/powerpoint/2010/main" val="3958203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www.varian.com/media/oncology/services_and_support/pdf/dicom/SystemServer11.pdf" TargetMode="External"/><Relationship Id="rId2" Type="http://schemas.openxmlformats.org/officeDocument/2006/relationships/slide" Target="../slides/slide39.xml"/><Relationship Id="rId1" Type="http://schemas.openxmlformats.org/officeDocument/2006/relationships/notesMaster" Target="../notesMasters/notesMaster1.xml"/><Relationship Id="rId5" Type="http://schemas.openxmlformats.org/officeDocument/2006/relationships/hyperlink" Target="https://myvarian.com/system/files/100061926-01-Rev%2001-Varian%20ARIA%20Document%20Service%20Installation%20Instructions%20and%20Configuration%20Guide%20Ver%2011.pdf?download=1" TargetMode="External"/><Relationship Id="rId4" Type="http://schemas.openxmlformats.org/officeDocument/2006/relationships/hyperlink" Target="https://myvarian.com/system/files/100061927-Rev%2001-Varian%20Document%20Service%20User%20Guide%20-%20Version%201.0.pdf?download=1" TargetMode="Externa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1FEC518-73FD-4E79-9D13-17DF88DFE6E4}" type="slidenum">
              <a:rPr lang="en-US" smtClean="0"/>
              <a:t>1</a:t>
            </a:fld>
            <a:endParaRPr lang="en-US"/>
          </a:p>
        </p:txBody>
      </p:sp>
    </p:spTree>
    <p:extLst>
      <p:ext uri="{BB962C8B-B14F-4D97-AF65-F5344CB8AC3E}">
        <p14:creationId xmlns:p14="http://schemas.microsoft.com/office/powerpoint/2010/main" val="36757599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little Dave Barry style humor…</a:t>
            </a:r>
            <a:endParaRPr lang="en-US" dirty="0"/>
          </a:p>
        </p:txBody>
      </p:sp>
      <p:sp>
        <p:nvSpPr>
          <p:cNvPr id="4" name="Slide Number Placeholder 3"/>
          <p:cNvSpPr>
            <a:spLocks noGrp="1"/>
          </p:cNvSpPr>
          <p:nvPr>
            <p:ph type="sldNum" sz="quarter" idx="10"/>
          </p:nvPr>
        </p:nvSpPr>
        <p:spPr/>
        <p:txBody>
          <a:bodyPr/>
          <a:lstStyle/>
          <a:p>
            <a:fld id="{21FEC518-73FD-4E79-9D13-17DF88DFE6E4}" type="slidenum">
              <a:rPr lang="en-US" smtClean="0"/>
              <a:t>2</a:t>
            </a:fld>
            <a:endParaRPr lang="en-US"/>
          </a:p>
        </p:txBody>
      </p:sp>
    </p:spTree>
    <p:extLst>
      <p:ext uri="{BB962C8B-B14F-4D97-AF65-F5344CB8AC3E}">
        <p14:creationId xmlns:p14="http://schemas.microsoft.com/office/powerpoint/2010/main" val="4306501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Before we get started,</a:t>
            </a:r>
            <a:r>
              <a:rPr lang="en-US" baseline="0" dirty="0" smtClean="0"/>
              <a:t> what is an API?</a:t>
            </a:r>
            <a:endParaRPr lang="en-US" dirty="0"/>
          </a:p>
        </p:txBody>
      </p:sp>
      <p:sp>
        <p:nvSpPr>
          <p:cNvPr id="4" name="Slide Number Placeholder 3"/>
          <p:cNvSpPr>
            <a:spLocks noGrp="1"/>
          </p:cNvSpPr>
          <p:nvPr>
            <p:ph type="sldNum" sz="quarter" idx="10"/>
          </p:nvPr>
        </p:nvSpPr>
        <p:spPr/>
        <p:txBody>
          <a:bodyPr/>
          <a:lstStyle/>
          <a:p>
            <a:fld id="{21FEC518-73FD-4E79-9D13-17DF88DFE6E4}" type="slidenum">
              <a:rPr lang="en-US" smtClean="0"/>
              <a:t>3</a:t>
            </a:fld>
            <a:endParaRPr lang="en-US"/>
          </a:p>
        </p:txBody>
      </p:sp>
    </p:spTree>
    <p:extLst>
      <p:ext uri="{BB962C8B-B14F-4D97-AF65-F5344CB8AC3E}">
        <p14:creationId xmlns:p14="http://schemas.microsoft.com/office/powerpoint/2010/main" val="19016431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API gives access</a:t>
            </a:r>
            <a:r>
              <a:rPr lang="en-US" baseline="0" dirty="0" smtClean="0"/>
              <a:t> to the Eclipse data and functions.  </a:t>
            </a:r>
          </a:p>
          <a:p>
            <a:r>
              <a:rPr lang="en-US" baseline="0" dirty="0" smtClean="0"/>
              <a:t>In this example, the script accesses the active </a:t>
            </a:r>
            <a:r>
              <a:rPr lang="en-US" baseline="0" dirty="0" err="1" smtClean="0"/>
              <a:t>PlanSetup</a:t>
            </a:r>
            <a:r>
              <a:rPr lang="en-US" baseline="0" dirty="0" smtClean="0"/>
              <a:t> and Patient through methods on the API.</a:t>
            </a:r>
            <a:endParaRPr lang="en-US" dirty="0"/>
          </a:p>
        </p:txBody>
      </p:sp>
      <p:sp>
        <p:nvSpPr>
          <p:cNvPr id="4" name="Slide Number Placeholder 3"/>
          <p:cNvSpPr>
            <a:spLocks noGrp="1"/>
          </p:cNvSpPr>
          <p:nvPr>
            <p:ph type="sldNum" sz="quarter" idx="10"/>
          </p:nvPr>
        </p:nvSpPr>
        <p:spPr/>
        <p:txBody>
          <a:bodyPr/>
          <a:lstStyle/>
          <a:p>
            <a:fld id="{21FEC518-73FD-4E79-9D13-17DF88DFE6E4}" type="slidenum">
              <a:rPr lang="en-US" smtClean="0"/>
              <a:t>4</a:t>
            </a:fld>
            <a:endParaRPr lang="en-US"/>
          </a:p>
        </p:txBody>
      </p:sp>
    </p:spTree>
    <p:extLst>
      <p:ext uri="{BB962C8B-B14F-4D97-AF65-F5344CB8AC3E}">
        <p14:creationId xmlns:p14="http://schemas.microsoft.com/office/powerpoint/2010/main" val="5456631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These are the script</a:t>
            </a:r>
            <a:r>
              <a:rPr lang="en-US" baseline="0" dirty="0" smtClean="0"/>
              <a:t> </a:t>
            </a:r>
            <a:r>
              <a:rPr lang="en-US" dirty="0" smtClean="0"/>
              <a:t>types referred to in the Eclipse Scripting</a:t>
            </a:r>
            <a:r>
              <a:rPr lang="en-US" baseline="0" dirty="0" smtClean="0"/>
              <a:t> API r</a:t>
            </a:r>
            <a:r>
              <a:rPr lang="en-US" dirty="0" smtClean="0"/>
              <a:t>eference guide,</a:t>
            </a:r>
            <a:r>
              <a:rPr lang="en-US" baseline="0" dirty="0" smtClean="0"/>
              <a:t> and those you see on the Eclipse Script Wizard when you run that.</a:t>
            </a:r>
            <a:endParaRPr lang="en-US" dirty="0"/>
          </a:p>
        </p:txBody>
      </p:sp>
      <p:sp>
        <p:nvSpPr>
          <p:cNvPr id="4" name="Slide Number Placeholder 3"/>
          <p:cNvSpPr>
            <a:spLocks noGrp="1"/>
          </p:cNvSpPr>
          <p:nvPr>
            <p:ph type="sldNum" sz="quarter" idx="10"/>
          </p:nvPr>
        </p:nvSpPr>
        <p:spPr/>
        <p:txBody>
          <a:bodyPr/>
          <a:lstStyle/>
          <a:p>
            <a:fld id="{21FEC518-73FD-4E79-9D13-17DF88DFE6E4}" type="slidenum">
              <a:rPr lang="en-US" smtClean="0"/>
              <a:t>5</a:t>
            </a:fld>
            <a:endParaRPr lang="en-US"/>
          </a:p>
        </p:txBody>
      </p:sp>
    </p:spTree>
    <p:extLst>
      <p:ext uri="{BB962C8B-B14F-4D97-AF65-F5344CB8AC3E}">
        <p14:creationId xmlns:p14="http://schemas.microsoft.com/office/powerpoint/2010/main" val="1934257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1FEC518-73FD-4E79-9D13-17DF88DFE6E4}" type="slidenum">
              <a:rPr lang="en-US" smtClean="0"/>
              <a:t>6</a:t>
            </a:fld>
            <a:endParaRPr lang="en-US"/>
          </a:p>
        </p:txBody>
      </p:sp>
    </p:spTree>
    <p:extLst>
      <p:ext uri="{BB962C8B-B14F-4D97-AF65-F5344CB8AC3E}">
        <p14:creationId xmlns:p14="http://schemas.microsoft.com/office/powerpoint/2010/main" val="4306501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Q:</a:t>
            </a:r>
            <a:r>
              <a:rPr lang="en-US" baseline="0" dirty="0" smtClean="0"/>
              <a:t> how to run it? </a:t>
            </a:r>
          </a:p>
          <a:p>
            <a:pPr marL="171450" indent="-171450">
              <a:buFont typeface="Arial" panose="020B0604020202020204" pitchFamily="34" charset="0"/>
              <a:buChar char="•"/>
            </a:pPr>
            <a:r>
              <a:rPr lang="en-US" baseline="0" dirty="0" smtClean="0"/>
              <a:t>double click </a:t>
            </a:r>
          </a:p>
          <a:p>
            <a:pPr marL="171450" indent="-171450">
              <a:buFont typeface="Arial" panose="020B0604020202020204" pitchFamily="34" charset="0"/>
              <a:buChar char="•"/>
            </a:pPr>
            <a:r>
              <a:rPr lang="en-US" baseline="0" dirty="0" smtClean="0"/>
              <a:t>CMD prompt / console application</a:t>
            </a:r>
          </a:p>
          <a:p>
            <a:endParaRPr lang="en-US" baseline="0" dirty="0" smtClean="0"/>
          </a:p>
          <a:p>
            <a:r>
              <a:rPr lang="en-US" baseline="0" dirty="0" smtClean="0"/>
              <a:t>Example of standalone executable.</a:t>
            </a:r>
          </a:p>
          <a:p>
            <a:r>
              <a:rPr lang="en-US" baseline="0" dirty="0" smtClean="0"/>
              <a:t>Mention the data mining example (</a:t>
            </a:r>
            <a:r>
              <a:rPr lang="en-US" baseline="0" dirty="0" err="1" smtClean="0"/>
              <a:t>Example_Patients</a:t>
            </a:r>
            <a:r>
              <a:rPr lang="en-US" baseline="0" dirty="0" smtClean="0"/>
              <a:t>).</a:t>
            </a:r>
            <a:endParaRPr lang="en-US" dirty="0"/>
          </a:p>
        </p:txBody>
      </p:sp>
      <p:sp>
        <p:nvSpPr>
          <p:cNvPr id="4" name="Slide Number Placeholder 3"/>
          <p:cNvSpPr>
            <a:spLocks noGrp="1"/>
          </p:cNvSpPr>
          <p:nvPr>
            <p:ph type="sldNum" sz="quarter" idx="10"/>
          </p:nvPr>
        </p:nvSpPr>
        <p:spPr/>
        <p:txBody>
          <a:bodyPr/>
          <a:lstStyle/>
          <a:p>
            <a:fld id="{21FEC518-73FD-4E79-9D13-17DF88DFE6E4}" type="slidenum">
              <a:rPr lang="en-US" smtClean="0"/>
              <a:t>7</a:t>
            </a:fld>
            <a:endParaRPr lang="en-US"/>
          </a:p>
        </p:txBody>
      </p:sp>
    </p:spTree>
    <p:extLst>
      <p:ext uri="{BB962C8B-B14F-4D97-AF65-F5344CB8AC3E}">
        <p14:creationId xmlns:p14="http://schemas.microsoft.com/office/powerpoint/2010/main" val="30750204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In programming, when functionality is added to an application when the application is running it is usually</a:t>
            </a:r>
            <a:r>
              <a:rPr lang="en-US" sz="1200" baseline="0" dirty="0" smtClean="0"/>
              <a:t> called a </a:t>
            </a:r>
            <a:r>
              <a:rPr lang="en-US" sz="1200" dirty="0" smtClean="0"/>
              <a:t>“Plugin”.  You have all the power of the C# language.</a:t>
            </a:r>
          </a:p>
          <a:p>
            <a:endParaRPr lang="en-US" dirty="0" smtClean="0"/>
          </a:p>
          <a:p>
            <a:r>
              <a:rPr lang="en-US" dirty="0" smtClean="0"/>
              <a:t>Single File Plugin</a:t>
            </a:r>
            <a:r>
              <a:rPr lang="en-US" baseline="0" dirty="0" smtClean="0"/>
              <a:t> does not need a development environment like Visual Studio to create.  Can be created with notepad or any text editor.</a:t>
            </a:r>
          </a:p>
          <a:p>
            <a:endParaRPr lang="en-US" dirty="0"/>
          </a:p>
        </p:txBody>
      </p:sp>
      <p:sp>
        <p:nvSpPr>
          <p:cNvPr id="4" name="Slide Number Placeholder 3"/>
          <p:cNvSpPr>
            <a:spLocks noGrp="1"/>
          </p:cNvSpPr>
          <p:nvPr>
            <p:ph type="sldNum" sz="quarter" idx="10"/>
          </p:nvPr>
        </p:nvSpPr>
        <p:spPr/>
        <p:txBody>
          <a:bodyPr/>
          <a:lstStyle/>
          <a:p>
            <a:fld id="{21FEC518-73FD-4E79-9D13-17DF88DFE6E4}" type="slidenum">
              <a:rPr lang="en-US" smtClean="0"/>
              <a:t>8</a:t>
            </a:fld>
            <a:endParaRPr lang="en-US"/>
          </a:p>
        </p:txBody>
      </p:sp>
    </p:spTree>
    <p:extLst>
      <p:ext uri="{BB962C8B-B14F-4D97-AF65-F5344CB8AC3E}">
        <p14:creationId xmlns:p14="http://schemas.microsoft.com/office/powerpoint/2010/main" val="5456631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Binary plug-in needed</a:t>
            </a:r>
            <a:r>
              <a:rPr lang="en-US" sz="1200" baseline="0" dirty="0" smtClean="0"/>
              <a:t> when sophisticated GUIs are needed to run while Eclipse is running, or when multiple code files are needed, generally for more complex scripts.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t>A DLL is just a zip file.  Zip files combine several files into a single file.  A DLL combines compiled code </a:t>
            </a:r>
            <a:r>
              <a:rPr lang="en-US" sz="1200" baseline="0" dirty="0" err="1" smtClean="0"/>
              <a:t>code</a:t>
            </a:r>
            <a:r>
              <a:rPr lang="en-US" sz="1200" baseline="0" dirty="0" smtClean="0"/>
              <a:t> files into a single file, so it delivers a package of code that can do whatever it is programmed to do.</a:t>
            </a:r>
          </a:p>
        </p:txBody>
      </p:sp>
      <p:sp>
        <p:nvSpPr>
          <p:cNvPr id="4" name="Slide Number Placeholder 3"/>
          <p:cNvSpPr>
            <a:spLocks noGrp="1"/>
          </p:cNvSpPr>
          <p:nvPr>
            <p:ph type="sldNum" sz="quarter" idx="10"/>
          </p:nvPr>
        </p:nvSpPr>
        <p:spPr/>
        <p:txBody>
          <a:bodyPr/>
          <a:lstStyle/>
          <a:p>
            <a:fld id="{21FEC518-73FD-4E79-9D13-17DF88DFE6E4}" type="slidenum">
              <a:rPr lang="en-US" smtClean="0"/>
              <a:t>9</a:t>
            </a:fld>
            <a:endParaRPr lang="en-US"/>
          </a:p>
        </p:txBody>
      </p:sp>
    </p:spTree>
    <p:extLst>
      <p:ext uri="{BB962C8B-B14F-4D97-AF65-F5344CB8AC3E}">
        <p14:creationId xmlns:p14="http://schemas.microsoft.com/office/powerpoint/2010/main" val="5456631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1FEC518-73FD-4E79-9D13-17DF88DFE6E4}" type="slidenum">
              <a:rPr lang="en-US" smtClean="0"/>
              <a:t>10</a:t>
            </a:fld>
            <a:endParaRPr lang="en-US"/>
          </a:p>
        </p:txBody>
      </p:sp>
    </p:spTree>
    <p:extLst>
      <p:ext uri="{BB962C8B-B14F-4D97-AF65-F5344CB8AC3E}">
        <p14:creationId xmlns:p14="http://schemas.microsoft.com/office/powerpoint/2010/main" val="4306501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1FEC518-73FD-4E79-9D13-17DF88DFE6E4}" type="slidenum">
              <a:rPr lang="en-US" smtClean="0"/>
              <a:t>11</a:t>
            </a:fld>
            <a:endParaRPr lang="en-US"/>
          </a:p>
        </p:txBody>
      </p:sp>
    </p:spTree>
    <p:extLst>
      <p:ext uri="{BB962C8B-B14F-4D97-AF65-F5344CB8AC3E}">
        <p14:creationId xmlns:p14="http://schemas.microsoft.com/office/powerpoint/2010/main" val="21128348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1FEC518-73FD-4E79-9D13-17DF88DFE6E4}" type="slidenum">
              <a:rPr lang="en-US" smtClean="0"/>
              <a:t>12</a:t>
            </a:fld>
            <a:endParaRPr lang="en-US"/>
          </a:p>
        </p:txBody>
      </p:sp>
    </p:spTree>
    <p:extLst>
      <p:ext uri="{BB962C8B-B14F-4D97-AF65-F5344CB8AC3E}">
        <p14:creationId xmlns:p14="http://schemas.microsoft.com/office/powerpoint/2010/main" val="4306501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1FEC518-73FD-4E79-9D13-17DF88DFE6E4}" type="slidenum">
              <a:rPr lang="en-US" smtClean="0"/>
              <a:t>13</a:t>
            </a:fld>
            <a:endParaRPr lang="en-US"/>
          </a:p>
        </p:txBody>
      </p:sp>
    </p:spTree>
    <p:extLst>
      <p:ext uri="{BB962C8B-B14F-4D97-AF65-F5344CB8AC3E}">
        <p14:creationId xmlns:p14="http://schemas.microsoft.com/office/powerpoint/2010/main" val="4306501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C24E308-9FC7-41F8-BDBA-40D389B50F44}" type="slidenum">
              <a:rPr lang="en-US" smtClean="0"/>
              <a:pPr/>
              <a:t>14</a:t>
            </a:fld>
            <a:endParaRPr lang="en-US"/>
          </a:p>
        </p:txBody>
      </p:sp>
    </p:spTree>
    <p:extLst>
      <p:ext uri="{BB962C8B-B14F-4D97-AF65-F5344CB8AC3E}">
        <p14:creationId xmlns:p14="http://schemas.microsoft.com/office/powerpoint/2010/main" val="5972278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a:t>
            </a:r>
            <a:r>
              <a:rPr lang="en-US" baseline="0" dirty="0" smtClean="0"/>
              <a:t> you choose to install the ESAPI examples,  you get these two.</a:t>
            </a:r>
            <a:endParaRPr lang="en-US" dirty="0"/>
          </a:p>
        </p:txBody>
      </p:sp>
      <p:sp>
        <p:nvSpPr>
          <p:cNvPr id="4" name="Slide Number Placeholder 3"/>
          <p:cNvSpPr>
            <a:spLocks noGrp="1"/>
          </p:cNvSpPr>
          <p:nvPr>
            <p:ph type="sldNum" sz="quarter" idx="10"/>
          </p:nvPr>
        </p:nvSpPr>
        <p:spPr/>
        <p:txBody>
          <a:bodyPr/>
          <a:lstStyle/>
          <a:p>
            <a:fld id="{5C24E308-9FC7-41F8-BDBA-40D389B50F44}" type="slidenum">
              <a:rPr lang="en-US" smtClean="0"/>
              <a:pPr/>
              <a:t>16</a:t>
            </a:fld>
            <a:endParaRPr lang="en-US"/>
          </a:p>
        </p:txBody>
      </p:sp>
    </p:spTree>
    <p:extLst>
      <p:ext uri="{BB962C8B-B14F-4D97-AF65-F5344CB8AC3E}">
        <p14:creationId xmlns:p14="http://schemas.microsoft.com/office/powerpoint/2010/main" val="36410576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is an</a:t>
            </a:r>
            <a:r>
              <a:rPr lang="en-US" baseline="0" dirty="0" smtClean="0"/>
              <a:t> </a:t>
            </a:r>
            <a:r>
              <a:rPr lang="en-US" dirty="0" smtClean="0"/>
              <a:t>Installed Example.  The black window is called</a:t>
            </a:r>
            <a:r>
              <a:rPr lang="en-US" baseline="0" dirty="0" smtClean="0"/>
              <a:t> the “Command Prompt”, also called a “Console Window”.</a:t>
            </a:r>
            <a:endParaRPr lang="en-US" dirty="0"/>
          </a:p>
        </p:txBody>
      </p:sp>
      <p:sp>
        <p:nvSpPr>
          <p:cNvPr id="4" name="Slide Number Placeholder 3"/>
          <p:cNvSpPr>
            <a:spLocks noGrp="1"/>
          </p:cNvSpPr>
          <p:nvPr>
            <p:ph type="sldNum" sz="quarter" idx="10"/>
          </p:nvPr>
        </p:nvSpPr>
        <p:spPr/>
        <p:txBody>
          <a:bodyPr/>
          <a:lstStyle/>
          <a:p>
            <a:fld id="{21FEC518-73FD-4E79-9D13-17DF88DFE6E4}" type="slidenum">
              <a:rPr lang="en-US" smtClean="0"/>
              <a:t>17</a:t>
            </a:fld>
            <a:endParaRPr lang="en-US"/>
          </a:p>
        </p:txBody>
      </p:sp>
    </p:spTree>
    <p:extLst>
      <p:ext uri="{BB962C8B-B14F-4D97-AF65-F5344CB8AC3E}">
        <p14:creationId xmlns:p14="http://schemas.microsoft.com/office/powerpoint/2010/main" val="3445499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p:txBody>
      </p:sp>
      <p:sp>
        <p:nvSpPr>
          <p:cNvPr id="4" name="Slide Number Placeholder 3"/>
          <p:cNvSpPr>
            <a:spLocks noGrp="1"/>
          </p:cNvSpPr>
          <p:nvPr>
            <p:ph type="sldNum" sz="quarter" idx="10"/>
          </p:nvPr>
        </p:nvSpPr>
        <p:spPr/>
        <p:txBody>
          <a:bodyPr/>
          <a:lstStyle/>
          <a:p>
            <a:fld id="{21FEC518-73FD-4E79-9D13-17DF88DFE6E4}" type="slidenum">
              <a:rPr lang="en-US" smtClean="0"/>
              <a:t>18</a:t>
            </a:fld>
            <a:endParaRPr lang="en-US"/>
          </a:p>
        </p:txBody>
      </p:sp>
    </p:spTree>
    <p:extLst>
      <p:ext uri="{BB962C8B-B14F-4D97-AF65-F5344CB8AC3E}">
        <p14:creationId xmlns:p14="http://schemas.microsoft.com/office/powerpoint/2010/main" val="4306501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Version 11 and</a:t>
            </a:r>
            <a:r>
              <a:rPr lang="en-US" baseline="0" dirty="0" smtClean="0"/>
              <a:t> Version 13 of the clinical Eclipse Scripting API are very similar.  The following slides highlight the differences.</a:t>
            </a:r>
            <a:endParaRPr lang="en-US" dirty="0"/>
          </a:p>
        </p:txBody>
      </p:sp>
      <p:sp>
        <p:nvSpPr>
          <p:cNvPr id="4" name="Slide Number Placeholder 3"/>
          <p:cNvSpPr>
            <a:spLocks noGrp="1"/>
          </p:cNvSpPr>
          <p:nvPr>
            <p:ph type="sldNum" sz="quarter" idx="10"/>
          </p:nvPr>
        </p:nvSpPr>
        <p:spPr/>
        <p:txBody>
          <a:bodyPr/>
          <a:lstStyle/>
          <a:p>
            <a:fld id="{21FEC518-73FD-4E79-9D13-17DF88DFE6E4}" type="slidenum">
              <a:rPr lang="en-US" smtClean="0"/>
              <a:t>20</a:t>
            </a:fld>
            <a:endParaRPr lang="en-US"/>
          </a:p>
        </p:txBody>
      </p:sp>
    </p:spTree>
    <p:extLst>
      <p:ext uri="{BB962C8B-B14F-4D97-AF65-F5344CB8AC3E}">
        <p14:creationId xmlns:p14="http://schemas.microsoft.com/office/powerpoint/2010/main" val="32031393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Now show</a:t>
            </a:r>
            <a:r>
              <a:rPr lang="en-US" baseline="0" dirty="0" smtClean="0"/>
              <a:t> the Eclipse Scripting API for Research users online help, show the </a:t>
            </a:r>
            <a:r>
              <a:rPr lang="en-US" baseline="0" dirty="0" err="1" smtClean="0"/>
              <a:t>Beam.SetOptimalFluence</a:t>
            </a:r>
            <a:r>
              <a:rPr lang="en-US" baseline="0" dirty="0" smtClean="0"/>
              <a:t>.</a:t>
            </a:r>
            <a:endParaRPr lang="en-US" dirty="0"/>
          </a:p>
        </p:txBody>
      </p:sp>
      <p:sp>
        <p:nvSpPr>
          <p:cNvPr id="4" name="Slide Number Placeholder 3"/>
          <p:cNvSpPr>
            <a:spLocks noGrp="1"/>
          </p:cNvSpPr>
          <p:nvPr>
            <p:ph type="sldNum" sz="quarter" idx="10"/>
          </p:nvPr>
        </p:nvSpPr>
        <p:spPr/>
        <p:txBody>
          <a:bodyPr/>
          <a:lstStyle/>
          <a:p>
            <a:fld id="{21FEC518-73FD-4E79-9D13-17DF88DFE6E4}" type="slidenum">
              <a:rPr lang="en-US" smtClean="0"/>
              <a:t>25</a:t>
            </a:fld>
            <a:endParaRPr lang="en-US"/>
          </a:p>
        </p:txBody>
      </p:sp>
    </p:spTree>
    <p:extLst>
      <p:ext uri="{BB962C8B-B14F-4D97-AF65-F5344CB8AC3E}">
        <p14:creationId xmlns:p14="http://schemas.microsoft.com/office/powerpoint/2010/main" val="42744968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1FEC518-73FD-4E79-9D13-17DF88DFE6E4}" type="slidenum">
              <a:rPr lang="en-US" smtClean="0"/>
              <a:t>26</a:t>
            </a:fld>
            <a:endParaRPr lang="en-US"/>
          </a:p>
        </p:txBody>
      </p:sp>
    </p:spTree>
    <p:extLst>
      <p:ext uri="{BB962C8B-B14F-4D97-AF65-F5344CB8AC3E}">
        <p14:creationId xmlns:p14="http://schemas.microsoft.com/office/powerpoint/2010/main" val="42744968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Once this flag is on, the title bar shows “Non-clinical Research Database”.</a:t>
            </a:r>
            <a:endParaRPr lang="en-US" dirty="0"/>
          </a:p>
        </p:txBody>
      </p:sp>
      <p:sp>
        <p:nvSpPr>
          <p:cNvPr id="4" name="Slide Number Placeholder 3"/>
          <p:cNvSpPr>
            <a:spLocks noGrp="1"/>
          </p:cNvSpPr>
          <p:nvPr>
            <p:ph type="sldNum" sz="quarter" idx="10"/>
          </p:nvPr>
        </p:nvSpPr>
        <p:spPr/>
        <p:txBody>
          <a:bodyPr/>
          <a:lstStyle/>
          <a:p>
            <a:fld id="{21FEC518-73FD-4E79-9D13-17DF88DFE6E4}" type="slidenum">
              <a:rPr lang="en-US" smtClean="0"/>
              <a:t>27</a:t>
            </a:fld>
            <a:endParaRPr lang="en-US"/>
          </a:p>
        </p:txBody>
      </p:sp>
    </p:spTree>
    <p:extLst>
      <p:ext uri="{BB962C8B-B14F-4D97-AF65-F5344CB8AC3E}">
        <p14:creationId xmlns:p14="http://schemas.microsoft.com/office/powerpoint/2010/main" val="42744968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1FEC518-73FD-4E79-9D13-17DF88DFE6E4}" type="slidenum">
              <a:rPr lang="en-US" smtClean="0"/>
              <a:t>28</a:t>
            </a:fld>
            <a:endParaRPr lang="en-US"/>
          </a:p>
        </p:txBody>
      </p:sp>
    </p:spTree>
    <p:extLst>
      <p:ext uri="{BB962C8B-B14F-4D97-AF65-F5344CB8AC3E}">
        <p14:creationId xmlns:p14="http://schemas.microsoft.com/office/powerpoint/2010/main" val="42744968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1FEC518-73FD-4E79-9D13-17DF88DFE6E4}" type="slidenum">
              <a:rPr lang="en-US" smtClean="0"/>
              <a:t>29</a:t>
            </a:fld>
            <a:endParaRPr lang="en-US"/>
          </a:p>
        </p:txBody>
      </p:sp>
    </p:spTree>
    <p:extLst>
      <p:ext uri="{BB962C8B-B14F-4D97-AF65-F5344CB8AC3E}">
        <p14:creationId xmlns:p14="http://schemas.microsoft.com/office/powerpoint/2010/main" val="42744968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After this slide, demo</a:t>
            </a:r>
            <a:r>
              <a:rPr lang="en-US" baseline="0" dirty="0" smtClean="0"/>
              <a:t> script “</a:t>
            </a:r>
            <a:r>
              <a:rPr lang="en-US" baseline="0" dirty="0" err="1" smtClean="0"/>
              <a:t>ExpandStructures.cs</a:t>
            </a:r>
            <a:r>
              <a:rPr lang="en-US" baseline="0" dirty="0" smtClean="0"/>
              <a:t>” with patient “Brain Case, demo”.</a:t>
            </a:r>
            <a:endParaRPr lang="en-US" dirty="0"/>
          </a:p>
        </p:txBody>
      </p:sp>
      <p:sp>
        <p:nvSpPr>
          <p:cNvPr id="4" name="Slide Number Placeholder 3"/>
          <p:cNvSpPr>
            <a:spLocks noGrp="1"/>
          </p:cNvSpPr>
          <p:nvPr>
            <p:ph type="sldNum" sz="quarter" idx="10"/>
          </p:nvPr>
        </p:nvSpPr>
        <p:spPr/>
        <p:txBody>
          <a:bodyPr/>
          <a:lstStyle/>
          <a:p>
            <a:fld id="{5C24E308-9FC7-41F8-BDBA-40D389B50F44}" type="slidenum">
              <a:rPr lang="en-US" smtClean="0"/>
              <a:pPr/>
              <a:t>30</a:t>
            </a:fld>
            <a:endParaRPr lang="en-US"/>
          </a:p>
        </p:txBody>
      </p:sp>
    </p:spTree>
    <p:extLst>
      <p:ext uri="{BB962C8B-B14F-4D97-AF65-F5344CB8AC3E}">
        <p14:creationId xmlns:p14="http://schemas.microsoft.com/office/powerpoint/2010/main" val="29179696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additional demo</a:t>
            </a:r>
            <a:r>
              <a:rPr lang="en-US" baseline="0" dirty="0" smtClean="0"/>
              <a:t>s if you are interested.</a:t>
            </a:r>
            <a:endParaRPr lang="en-US" dirty="0"/>
          </a:p>
        </p:txBody>
      </p:sp>
      <p:sp>
        <p:nvSpPr>
          <p:cNvPr id="4" name="Slide Number Placeholder 3"/>
          <p:cNvSpPr>
            <a:spLocks noGrp="1"/>
          </p:cNvSpPr>
          <p:nvPr>
            <p:ph type="sldNum" sz="quarter" idx="10"/>
          </p:nvPr>
        </p:nvSpPr>
        <p:spPr/>
        <p:txBody>
          <a:bodyPr/>
          <a:lstStyle/>
          <a:p>
            <a:fld id="{21FEC518-73FD-4E79-9D13-17DF88DFE6E4}" type="slidenum">
              <a:rPr lang="en-US" smtClean="0"/>
              <a:t>31</a:t>
            </a:fld>
            <a:endParaRPr lang="en-US"/>
          </a:p>
        </p:txBody>
      </p:sp>
    </p:spTree>
    <p:extLst>
      <p:ext uri="{BB962C8B-B14F-4D97-AF65-F5344CB8AC3E}">
        <p14:creationId xmlns:p14="http://schemas.microsoft.com/office/powerpoint/2010/main" val="34293633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additional demo</a:t>
            </a:r>
            <a:r>
              <a:rPr lang="en-US" baseline="0" dirty="0" smtClean="0"/>
              <a:t>s if you are interested.</a:t>
            </a:r>
            <a:endParaRPr lang="en-US" dirty="0" smtClean="0"/>
          </a:p>
          <a:p>
            <a:endParaRPr lang="en-US" dirty="0"/>
          </a:p>
        </p:txBody>
      </p:sp>
      <p:sp>
        <p:nvSpPr>
          <p:cNvPr id="4" name="Slide Number Placeholder 3"/>
          <p:cNvSpPr>
            <a:spLocks noGrp="1"/>
          </p:cNvSpPr>
          <p:nvPr>
            <p:ph type="sldNum" sz="quarter" idx="10"/>
          </p:nvPr>
        </p:nvSpPr>
        <p:spPr/>
        <p:txBody>
          <a:bodyPr/>
          <a:lstStyle/>
          <a:p>
            <a:fld id="{21FEC518-73FD-4E79-9D13-17DF88DFE6E4}" type="slidenum">
              <a:rPr lang="en-US" smtClean="0"/>
              <a:t>32</a:t>
            </a:fld>
            <a:endParaRPr lang="en-US"/>
          </a:p>
        </p:txBody>
      </p:sp>
    </p:spTree>
    <p:extLst>
      <p:ext uri="{BB962C8B-B14F-4D97-AF65-F5344CB8AC3E}">
        <p14:creationId xmlns:p14="http://schemas.microsoft.com/office/powerpoint/2010/main" val="13981317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C24E308-9FC7-41F8-BDBA-40D389B50F44}" type="slidenum">
              <a:rPr lang="en-US" smtClean="0"/>
              <a:pPr/>
              <a:t>33</a:t>
            </a:fld>
            <a:endParaRPr lang="en-US"/>
          </a:p>
        </p:txBody>
      </p:sp>
    </p:spTree>
    <p:extLst>
      <p:ext uri="{BB962C8B-B14F-4D97-AF65-F5344CB8AC3E}">
        <p14:creationId xmlns:p14="http://schemas.microsoft.com/office/powerpoint/2010/main" val="5972278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1FEC518-73FD-4E79-9D13-17DF88DFE6E4}" type="slidenum">
              <a:rPr lang="en-US" smtClean="0"/>
              <a:t>34</a:t>
            </a:fld>
            <a:endParaRPr lang="en-US"/>
          </a:p>
        </p:txBody>
      </p:sp>
    </p:spTree>
    <p:extLst>
      <p:ext uri="{BB962C8B-B14F-4D97-AF65-F5344CB8AC3E}">
        <p14:creationId xmlns:p14="http://schemas.microsoft.com/office/powerpoint/2010/main" val="42744968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C24E308-9FC7-41F8-BDBA-40D389B50F44}" type="slidenum">
              <a:rPr lang="en-US" smtClean="0"/>
              <a:pPr/>
              <a:t>35</a:t>
            </a:fld>
            <a:endParaRPr lang="en-US"/>
          </a:p>
        </p:txBody>
      </p:sp>
    </p:spTree>
    <p:extLst>
      <p:ext uri="{BB962C8B-B14F-4D97-AF65-F5344CB8AC3E}">
        <p14:creationId xmlns:p14="http://schemas.microsoft.com/office/powerpoint/2010/main" val="5972278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1FEC518-73FD-4E79-9D13-17DF88DFE6E4}" type="slidenum">
              <a:rPr lang="en-US" smtClean="0"/>
              <a:t>36</a:t>
            </a:fld>
            <a:endParaRPr lang="en-US"/>
          </a:p>
        </p:txBody>
      </p:sp>
    </p:spTree>
    <p:extLst>
      <p:ext uri="{BB962C8B-B14F-4D97-AF65-F5344CB8AC3E}">
        <p14:creationId xmlns:p14="http://schemas.microsoft.com/office/powerpoint/2010/main" val="42744968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TBD: v13 links not yet available.</a:t>
            </a:r>
          </a:p>
          <a:p>
            <a:r>
              <a:rPr lang="en-US" dirty="0" smtClean="0"/>
              <a:t>EAAPI: Search </a:t>
            </a:r>
            <a:r>
              <a:rPr lang="en-US" dirty="0" err="1" smtClean="0"/>
              <a:t>MyVarian</a:t>
            </a:r>
            <a:r>
              <a:rPr lang="en-US" dirty="0" smtClean="0"/>
              <a:t> for the reference guide.</a:t>
            </a:r>
          </a:p>
          <a:p>
            <a:endParaRPr lang="en-US" dirty="0" smtClean="0"/>
          </a:p>
          <a:p>
            <a:r>
              <a:rPr lang="en-US" dirty="0" smtClean="0"/>
              <a:t>DICOM DB Daemon: </a:t>
            </a:r>
            <a:r>
              <a:rPr lang="en-US" sz="1200" u="sng" kern="1200" dirty="0" smtClean="0">
                <a:solidFill>
                  <a:schemeClr val="tx1"/>
                </a:solidFill>
                <a:effectLst/>
                <a:latin typeface="+mn-lt"/>
                <a:ea typeface="+mn-ea"/>
                <a:cs typeface="+mn-cs"/>
                <a:hlinkClick r:id="rId3"/>
              </a:rPr>
              <a:t>http://www.varian.com/media/oncology/services_and_support/pdf/dicom/SystemServer11.pdf</a:t>
            </a:r>
            <a:endParaRPr lang="en-US" sz="1200" u="sng" kern="1200" dirty="0" smtClean="0">
              <a:solidFill>
                <a:schemeClr val="tx1"/>
              </a:solidFill>
              <a:effectLst/>
              <a:latin typeface="+mn-lt"/>
              <a:ea typeface="+mn-ea"/>
              <a:cs typeface="+mn-cs"/>
            </a:endParaRPr>
          </a:p>
          <a:p>
            <a:endParaRPr lang="en-US" sz="1200" u="none" kern="1200" dirty="0" smtClean="0">
              <a:solidFill>
                <a:schemeClr val="tx1"/>
              </a:solidFill>
              <a:effectLst/>
              <a:latin typeface="+mn-lt"/>
              <a:ea typeface="+mn-ea"/>
              <a:cs typeface="+mn-cs"/>
            </a:endParaRPr>
          </a:p>
          <a:p>
            <a:r>
              <a:rPr lang="en-US" sz="1200" u="none" kern="1200" dirty="0" smtClean="0">
                <a:solidFill>
                  <a:schemeClr val="tx1"/>
                </a:solidFill>
                <a:effectLst/>
                <a:latin typeface="+mn-lt"/>
                <a:ea typeface="+mn-ea"/>
                <a:cs typeface="+mn-cs"/>
              </a:rPr>
              <a:t>Dynamic Documents</a:t>
            </a:r>
            <a:r>
              <a:rPr lang="en-US" sz="1200" u="none" kern="1200" baseline="0" dirty="0" smtClean="0">
                <a:solidFill>
                  <a:schemeClr val="tx1"/>
                </a:solidFill>
                <a:effectLst/>
                <a:latin typeface="+mn-lt"/>
                <a:ea typeface="+mn-ea"/>
                <a:cs typeface="+mn-cs"/>
              </a:rPr>
              <a:t> Web Service: </a:t>
            </a:r>
          </a:p>
          <a:p>
            <a:pPr fontAlgn="t"/>
            <a:r>
              <a:rPr lang="en-US" dirty="0" smtClean="0">
                <a:effectLst/>
              </a:rPr>
              <a:t>User guide for the new service: </a:t>
            </a:r>
            <a:br>
              <a:rPr lang="en-US" dirty="0" smtClean="0">
                <a:effectLst/>
              </a:rPr>
            </a:br>
            <a:r>
              <a:rPr lang="en-US" dirty="0" smtClean="0">
                <a:effectLst/>
                <a:hlinkClick r:id="rId4"/>
              </a:rPr>
              <a:t>https://myvarian.com/system/files/100061927-Rev%2001-Varian%20Document%20Service%20User%20Guide%20-%20Version%201.0.pdf?download=1</a:t>
            </a:r>
            <a:r>
              <a:rPr lang="en-US" dirty="0" smtClean="0">
                <a:effectLst/>
              </a:rPr>
              <a:t> </a:t>
            </a:r>
            <a:br>
              <a:rPr lang="en-US" dirty="0" smtClean="0">
                <a:effectLst/>
              </a:rPr>
            </a:br>
            <a:r>
              <a:rPr lang="en-US" dirty="0" smtClean="0">
                <a:effectLst/>
              </a:rPr>
              <a:t/>
            </a:r>
            <a:br>
              <a:rPr lang="en-US" dirty="0" smtClean="0">
                <a:effectLst/>
              </a:rPr>
            </a:br>
            <a:r>
              <a:rPr lang="en-US" dirty="0" smtClean="0">
                <a:effectLst/>
              </a:rPr>
              <a:t>Installation and configuration guide for the service. </a:t>
            </a:r>
            <a:br>
              <a:rPr lang="en-US" dirty="0" smtClean="0">
                <a:effectLst/>
              </a:rPr>
            </a:br>
            <a:r>
              <a:rPr lang="en-US" dirty="0" smtClean="0">
                <a:effectLst/>
                <a:hlinkClick r:id="rId5"/>
              </a:rPr>
              <a:t>https://myvarian.com/system/files/100061926-01-Rev%2001-Varian%20ARIA%20Document%20Service%20Installation%20Instructions%20and%20Configuration%20Guide%20Ver%2011.pdf?download=1</a:t>
            </a:r>
            <a:r>
              <a:rPr lang="en-US" dirty="0" smtClean="0">
                <a:effectLst/>
              </a:rPr>
              <a:t/>
            </a:r>
            <a:br>
              <a:rPr lang="en-US" dirty="0" smtClean="0">
                <a:effectLst/>
              </a:rPr>
            </a:br>
            <a:endParaRPr lang="en-US" dirty="0" smtClean="0">
              <a:effectLst/>
            </a:endParaRPr>
          </a:p>
        </p:txBody>
      </p:sp>
      <p:sp>
        <p:nvSpPr>
          <p:cNvPr id="4" name="Slide Number Placeholder 3"/>
          <p:cNvSpPr>
            <a:spLocks noGrp="1"/>
          </p:cNvSpPr>
          <p:nvPr>
            <p:ph type="sldNum" sz="quarter" idx="10"/>
          </p:nvPr>
        </p:nvSpPr>
        <p:spPr/>
        <p:txBody>
          <a:bodyPr/>
          <a:lstStyle/>
          <a:p>
            <a:fld id="{21FEC518-73FD-4E79-9D13-17DF88DFE6E4}" type="slidenum">
              <a:rPr lang="en-US" smtClean="0"/>
              <a:t>39</a:t>
            </a:fld>
            <a:endParaRPr lang="en-US"/>
          </a:p>
        </p:txBody>
      </p:sp>
    </p:spTree>
    <p:extLst>
      <p:ext uri="{BB962C8B-B14F-4D97-AF65-F5344CB8AC3E}">
        <p14:creationId xmlns:p14="http://schemas.microsoft.com/office/powerpoint/2010/main" val="32987693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C24E308-9FC7-41F8-BDBA-40D389B50F44}" type="slidenum">
              <a:rPr lang="en-US" smtClean="0"/>
              <a:pPr/>
              <a:t>40</a:t>
            </a:fld>
            <a:endParaRPr lang="en-US"/>
          </a:p>
        </p:txBody>
      </p:sp>
    </p:spTree>
    <p:extLst>
      <p:ext uri="{BB962C8B-B14F-4D97-AF65-F5344CB8AC3E}">
        <p14:creationId xmlns:p14="http://schemas.microsoft.com/office/powerpoint/2010/main" val="5972278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C24E308-9FC7-41F8-BDBA-40D389B50F44}" type="slidenum">
              <a:rPr lang="en-US" smtClean="0"/>
              <a:pPr/>
              <a:t>41</a:t>
            </a:fld>
            <a:endParaRPr lang="en-US"/>
          </a:p>
        </p:txBody>
      </p:sp>
    </p:spTree>
    <p:extLst>
      <p:ext uri="{BB962C8B-B14F-4D97-AF65-F5344CB8AC3E}">
        <p14:creationId xmlns:p14="http://schemas.microsoft.com/office/powerpoint/2010/main" val="5972278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1FEC518-73FD-4E79-9D13-17DF88DFE6E4}" type="slidenum">
              <a:rPr lang="en-US" smtClean="0"/>
              <a:t>42</a:t>
            </a:fld>
            <a:endParaRPr lang="en-US"/>
          </a:p>
        </p:txBody>
      </p:sp>
    </p:spTree>
    <p:extLst>
      <p:ext uri="{BB962C8B-B14F-4D97-AF65-F5344CB8AC3E}">
        <p14:creationId xmlns:p14="http://schemas.microsoft.com/office/powerpoint/2010/main" val="4306501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Solid Dots">
    <p:spTree>
      <p:nvGrpSpPr>
        <p:cNvPr id="1" name=""/>
        <p:cNvGrpSpPr/>
        <p:nvPr/>
      </p:nvGrpSpPr>
      <p:grpSpPr>
        <a:xfrm>
          <a:off x="0" y="0"/>
          <a:ext cx="0" cy="0"/>
          <a:chOff x="0" y="0"/>
          <a:chExt cx="0" cy="0"/>
        </a:xfrm>
      </p:grpSpPr>
      <p:pic>
        <p:nvPicPr>
          <p:cNvPr id="9" name="Picture 8" descr="template_title_slide_HighEnergy_022912sm.jpg"/>
          <p:cNvPicPr>
            <a:picLocks noChangeAspect="1"/>
          </p:cNvPicPr>
          <p:nvPr userDrawn="1"/>
        </p:nvPicPr>
        <p:blipFill>
          <a:blip r:embed="rId2"/>
          <a:stretch>
            <a:fillRect/>
          </a:stretch>
        </p:blipFill>
        <p:spPr>
          <a:xfrm>
            <a:off x="0" y="0"/>
            <a:ext cx="9144000" cy="6858000"/>
          </a:xfrm>
          <a:prstGeom prst="rect">
            <a:avLst/>
          </a:prstGeom>
        </p:spPr>
      </p:pic>
      <p:sp>
        <p:nvSpPr>
          <p:cNvPr id="5" name="TextBox 4"/>
          <p:cNvSpPr txBox="1"/>
          <p:nvPr userDrawn="1"/>
        </p:nvSpPr>
        <p:spPr>
          <a:xfrm>
            <a:off x="182035" y="5878675"/>
            <a:ext cx="846667" cy="461665"/>
          </a:xfrm>
          <a:prstGeom prst="rect">
            <a:avLst/>
          </a:prstGeom>
          <a:noFill/>
        </p:spPr>
        <p:txBody>
          <a:bodyPr wrap="square" rtlCol="0">
            <a:spAutoFit/>
          </a:bodyPr>
          <a:lstStyle/>
          <a:p>
            <a:pPr defTabSz="816374"/>
            <a:r>
              <a:rPr lang="en-US" sz="800" dirty="0">
                <a:solidFill>
                  <a:srgbClr val="EB6E1E"/>
                </a:solidFill>
                <a:cs typeface="Arial"/>
              </a:rPr>
              <a:t>VARIAN</a:t>
            </a:r>
          </a:p>
          <a:p>
            <a:pPr defTabSz="816374"/>
            <a:r>
              <a:rPr lang="en-US" sz="800" dirty="0">
                <a:solidFill>
                  <a:srgbClr val="EB6E1E"/>
                </a:solidFill>
                <a:cs typeface="Arial"/>
              </a:rPr>
              <a:t>ONCOLOGY</a:t>
            </a:r>
          </a:p>
          <a:p>
            <a:pPr defTabSz="816374"/>
            <a:r>
              <a:rPr lang="en-US" sz="800" dirty="0">
                <a:solidFill>
                  <a:srgbClr val="EB6E1E"/>
                </a:solidFill>
                <a:cs typeface="Arial"/>
              </a:rPr>
              <a:t>SYSTEMS</a:t>
            </a:r>
          </a:p>
        </p:txBody>
      </p:sp>
      <p:sp>
        <p:nvSpPr>
          <p:cNvPr id="13" name="Title 12"/>
          <p:cNvSpPr>
            <a:spLocks noGrp="1"/>
          </p:cNvSpPr>
          <p:nvPr>
            <p:ph type="title"/>
          </p:nvPr>
        </p:nvSpPr>
        <p:spPr>
          <a:xfrm>
            <a:off x="927403" y="1411939"/>
            <a:ext cx="6049146" cy="1143000"/>
          </a:xfrm>
        </p:spPr>
        <p:txBody>
          <a:bodyPr/>
          <a:lstStyle>
            <a:lvl1pPr algn="l" defTabSz="457200" rtl="0" fontAlgn="base">
              <a:spcBef>
                <a:spcPct val="0"/>
              </a:spcBef>
              <a:spcAft>
                <a:spcPct val="0"/>
              </a:spcAft>
              <a:defRPr lang="en-US" sz="3500" kern="1200" cap="all" dirty="0" smtClean="0">
                <a:solidFill>
                  <a:srgbClr val="FFFFFF"/>
                </a:solidFill>
                <a:latin typeface="Arial" charset="0"/>
                <a:ea typeface="ＭＳ Ｐゴシック" charset="-128"/>
                <a:cs typeface="ＭＳ Ｐゴシック" charset="-128"/>
              </a:defRPr>
            </a:lvl1pPr>
          </a:lstStyle>
          <a:p>
            <a:r>
              <a:rPr lang="en-US" smtClean="0"/>
              <a:t>Click to edit Master title style</a:t>
            </a:r>
            <a:endParaRPr lang="en-US" dirty="0"/>
          </a:p>
        </p:txBody>
      </p:sp>
      <p:sp>
        <p:nvSpPr>
          <p:cNvPr id="33" name="Text Placeholder 32"/>
          <p:cNvSpPr>
            <a:spLocks noGrp="1"/>
          </p:cNvSpPr>
          <p:nvPr>
            <p:ph type="body" sz="quarter" idx="13" hasCustomPrompt="1"/>
          </p:nvPr>
        </p:nvSpPr>
        <p:spPr>
          <a:xfrm>
            <a:off x="922244" y="2554288"/>
            <a:ext cx="6054820" cy="522287"/>
          </a:xfrm>
        </p:spPr>
        <p:txBody>
          <a:bodyPr/>
          <a:lstStyle>
            <a:lvl1pPr>
              <a:buNone/>
              <a:defRPr sz="1400">
                <a:solidFill>
                  <a:schemeClr val="bg1"/>
                </a:solidFill>
              </a:defRPr>
            </a:lvl1pPr>
            <a:lvl2pPr>
              <a:buNone/>
              <a:defRPr/>
            </a:lvl2pPr>
            <a:lvl3pPr>
              <a:buNone/>
              <a:defRPr/>
            </a:lvl3pPr>
            <a:lvl4pPr>
              <a:buNone/>
              <a:defRPr/>
            </a:lvl4pPr>
            <a:lvl5pPr>
              <a:buNone/>
              <a:defRPr/>
            </a:lvl5pPr>
          </a:lstStyle>
          <a:p>
            <a:pPr lvl="0"/>
            <a:r>
              <a:rPr lang="en-US" dirty="0" smtClean="0"/>
              <a:t>Optional Presentation Subhead Goes Here</a:t>
            </a:r>
            <a:endParaRPr lang="en-US" dirty="0"/>
          </a:p>
        </p:txBody>
      </p:sp>
      <p:sp>
        <p:nvSpPr>
          <p:cNvPr id="35" name="Content Placeholder 34"/>
          <p:cNvSpPr>
            <a:spLocks noGrp="1"/>
          </p:cNvSpPr>
          <p:nvPr>
            <p:ph sz="quarter" idx="14" hasCustomPrompt="1"/>
          </p:nvPr>
        </p:nvSpPr>
        <p:spPr>
          <a:xfrm>
            <a:off x="1141413" y="5878134"/>
            <a:ext cx="1677987" cy="199388"/>
          </a:xfrm>
        </p:spPr>
        <p:txBody>
          <a:bodyPr/>
          <a:lstStyle>
            <a:lvl1pPr marL="342900" marR="0" indent="-342900" algn="l" defTabSz="457200" rtl="0" eaLnBrk="0" fontAlgn="base" latinLnBrk="0" hangingPunct="0">
              <a:lnSpc>
                <a:spcPct val="100000"/>
              </a:lnSpc>
              <a:spcBef>
                <a:spcPct val="20000"/>
              </a:spcBef>
              <a:spcAft>
                <a:spcPct val="0"/>
              </a:spcAft>
              <a:buClrTx/>
              <a:buSzPct val="75000"/>
              <a:buFont typeface="Arial" charset="0"/>
              <a:buNone/>
              <a:tabLst/>
              <a:defRPr sz="800"/>
            </a:lvl1pPr>
            <a:lvl2pPr>
              <a:buNone/>
              <a:defRPr/>
            </a:lvl2pPr>
            <a:lvl3pPr>
              <a:buNone/>
              <a:defRPr/>
            </a:lvl3pPr>
            <a:lvl4pPr>
              <a:buNone/>
              <a:defRPr/>
            </a:lvl4pPr>
            <a:lvl5pPr>
              <a:buNone/>
              <a:defRPr/>
            </a:lvl5pPr>
          </a:lstStyle>
          <a:p>
            <a:pPr lvl="0"/>
            <a:r>
              <a:rPr lang="en-US" dirty="0" smtClean="0"/>
              <a:t>SPEAKER NAME GOES HERE</a:t>
            </a:r>
          </a:p>
        </p:txBody>
      </p:sp>
      <p:sp>
        <p:nvSpPr>
          <p:cNvPr id="36" name="Content Placeholder 34"/>
          <p:cNvSpPr>
            <a:spLocks noGrp="1"/>
          </p:cNvSpPr>
          <p:nvPr>
            <p:ph sz="quarter" idx="15" hasCustomPrompt="1"/>
          </p:nvPr>
        </p:nvSpPr>
        <p:spPr>
          <a:xfrm>
            <a:off x="1141413" y="6087699"/>
            <a:ext cx="1677987" cy="193919"/>
          </a:xfrm>
        </p:spPr>
        <p:txBody>
          <a:bodyPr/>
          <a:lstStyle>
            <a:lvl1pPr marL="342900" marR="0" indent="-342900" algn="l" defTabSz="457200" rtl="0" eaLnBrk="0" fontAlgn="base" latinLnBrk="0" hangingPunct="0">
              <a:lnSpc>
                <a:spcPct val="100000"/>
              </a:lnSpc>
              <a:spcBef>
                <a:spcPct val="20000"/>
              </a:spcBef>
              <a:spcAft>
                <a:spcPct val="0"/>
              </a:spcAft>
              <a:buClrTx/>
              <a:buSzPct val="75000"/>
              <a:buFont typeface="Arial" charset="0"/>
              <a:buNone/>
              <a:tabLst/>
              <a:defRPr sz="800">
                <a:solidFill>
                  <a:srgbClr val="819298"/>
                </a:solidFill>
              </a:defRPr>
            </a:lvl1pPr>
            <a:lvl2pPr>
              <a:buNone/>
              <a:defRPr/>
            </a:lvl2pPr>
            <a:lvl3pPr>
              <a:buNone/>
              <a:defRPr/>
            </a:lvl3pPr>
            <a:lvl4pPr>
              <a:buNone/>
              <a:defRPr/>
            </a:lvl4pPr>
            <a:lvl5pPr>
              <a:buNone/>
              <a:defRPr/>
            </a:lvl5pPr>
          </a:lstStyle>
          <a:p>
            <a:pPr lvl="0"/>
            <a:r>
              <a:rPr lang="en-US" dirty="0" smtClean="0"/>
              <a:t>SPEAKER TITLE GOES HERE</a:t>
            </a:r>
          </a:p>
        </p:txBody>
      </p:sp>
      <p:sp>
        <p:nvSpPr>
          <p:cNvPr id="38" name="Text Placeholder 37"/>
          <p:cNvSpPr>
            <a:spLocks noGrp="1"/>
          </p:cNvSpPr>
          <p:nvPr>
            <p:ph type="body" sz="quarter" idx="16" hasCustomPrompt="1"/>
          </p:nvPr>
        </p:nvSpPr>
        <p:spPr>
          <a:xfrm>
            <a:off x="3092072" y="5880343"/>
            <a:ext cx="1943100" cy="227012"/>
          </a:xfrm>
        </p:spPr>
        <p:txBody>
          <a:bodyPr/>
          <a:lstStyle>
            <a:lvl1pPr>
              <a:buNone/>
              <a:defRPr sz="800">
                <a:solidFill>
                  <a:srgbClr val="819298"/>
                </a:solidFill>
              </a:defRPr>
            </a:lvl1pPr>
            <a:lvl2pPr>
              <a:buNone/>
              <a:defRPr/>
            </a:lvl2pPr>
            <a:lvl3pPr>
              <a:buNone/>
              <a:defRPr/>
            </a:lvl3pPr>
            <a:lvl4pPr>
              <a:buNone/>
              <a:defRPr/>
            </a:lvl4pPr>
            <a:lvl5pPr>
              <a:buNone/>
              <a:defRPr/>
            </a:lvl5pPr>
          </a:lstStyle>
          <a:p>
            <a:pPr lvl="0"/>
            <a:r>
              <a:rPr lang="en-US" dirty="0" smtClean="0"/>
              <a:t>JANUARY 27, 2012</a:t>
            </a:r>
            <a:endParaRPr lang="en-US" dirty="0"/>
          </a:p>
        </p:txBody>
      </p:sp>
    </p:spTree>
    <p:extLst>
      <p:ext uri="{BB962C8B-B14F-4D97-AF65-F5344CB8AC3E}">
        <p14:creationId xmlns:p14="http://schemas.microsoft.com/office/powerpoint/2010/main" val="64371296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Faded Dots">
    <p:spTree>
      <p:nvGrpSpPr>
        <p:cNvPr id="1" name=""/>
        <p:cNvGrpSpPr/>
        <p:nvPr/>
      </p:nvGrpSpPr>
      <p:grpSpPr>
        <a:xfrm>
          <a:off x="0" y="0"/>
          <a:ext cx="0" cy="0"/>
          <a:chOff x="0" y="0"/>
          <a:chExt cx="0" cy="0"/>
        </a:xfrm>
      </p:grpSpPr>
      <p:pic>
        <p:nvPicPr>
          <p:cNvPr id="10" name="Picture 9" descr="template_title_slide_HighEnergy_Fade_022912sm.jpg"/>
          <p:cNvPicPr>
            <a:picLocks noChangeAspect="1"/>
          </p:cNvPicPr>
          <p:nvPr userDrawn="1"/>
        </p:nvPicPr>
        <p:blipFill>
          <a:blip r:embed="rId2"/>
          <a:stretch>
            <a:fillRect/>
          </a:stretch>
        </p:blipFill>
        <p:spPr>
          <a:xfrm>
            <a:off x="0" y="0"/>
            <a:ext cx="9144000" cy="6858000"/>
          </a:xfrm>
          <a:prstGeom prst="rect">
            <a:avLst/>
          </a:prstGeom>
        </p:spPr>
      </p:pic>
      <p:sp>
        <p:nvSpPr>
          <p:cNvPr id="5" name="TextBox 4"/>
          <p:cNvSpPr txBox="1"/>
          <p:nvPr userDrawn="1"/>
        </p:nvSpPr>
        <p:spPr>
          <a:xfrm>
            <a:off x="182035" y="5878675"/>
            <a:ext cx="846667" cy="461665"/>
          </a:xfrm>
          <a:prstGeom prst="rect">
            <a:avLst/>
          </a:prstGeom>
          <a:noFill/>
        </p:spPr>
        <p:txBody>
          <a:bodyPr wrap="square" rtlCol="0">
            <a:spAutoFit/>
          </a:bodyPr>
          <a:lstStyle/>
          <a:p>
            <a:pPr defTabSz="816374"/>
            <a:r>
              <a:rPr lang="en-US" sz="800" dirty="0">
                <a:solidFill>
                  <a:srgbClr val="569BBE"/>
                </a:solidFill>
                <a:cs typeface="Arial"/>
              </a:rPr>
              <a:t>VARIAN</a:t>
            </a:r>
          </a:p>
          <a:p>
            <a:pPr defTabSz="816374"/>
            <a:r>
              <a:rPr lang="en-US" sz="800" dirty="0">
                <a:solidFill>
                  <a:srgbClr val="569BBE"/>
                </a:solidFill>
                <a:cs typeface="Arial"/>
              </a:rPr>
              <a:t>ONCOLOGY</a:t>
            </a:r>
          </a:p>
          <a:p>
            <a:pPr defTabSz="816374"/>
            <a:r>
              <a:rPr lang="en-US" sz="800" dirty="0">
                <a:solidFill>
                  <a:srgbClr val="569BBE"/>
                </a:solidFill>
                <a:cs typeface="Arial"/>
              </a:rPr>
              <a:t>SYSTEMS</a:t>
            </a:r>
          </a:p>
        </p:txBody>
      </p:sp>
      <p:sp>
        <p:nvSpPr>
          <p:cNvPr id="13" name="Title 12"/>
          <p:cNvSpPr>
            <a:spLocks noGrp="1"/>
          </p:cNvSpPr>
          <p:nvPr>
            <p:ph type="title"/>
          </p:nvPr>
        </p:nvSpPr>
        <p:spPr>
          <a:xfrm>
            <a:off x="927403" y="1411939"/>
            <a:ext cx="6049146" cy="1143000"/>
          </a:xfrm>
        </p:spPr>
        <p:txBody>
          <a:bodyPr/>
          <a:lstStyle>
            <a:lvl1pPr algn="l" defTabSz="457200" rtl="0" fontAlgn="base">
              <a:spcBef>
                <a:spcPct val="0"/>
              </a:spcBef>
              <a:spcAft>
                <a:spcPct val="0"/>
              </a:spcAft>
              <a:defRPr lang="en-US" sz="3500" kern="1200" cap="all" dirty="0" smtClean="0">
                <a:solidFill>
                  <a:srgbClr val="FFFFFF"/>
                </a:solidFill>
                <a:latin typeface="Arial" charset="0"/>
                <a:ea typeface="ＭＳ Ｐゴシック" charset="-128"/>
                <a:cs typeface="ＭＳ Ｐゴシック" charset="-128"/>
              </a:defRPr>
            </a:lvl1pPr>
          </a:lstStyle>
          <a:p>
            <a:r>
              <a:rPr lang="en-US" smtClean="0"/>
              <a:t>Click to edit Master title style</a:t>
            </a:r>
            <a:endParaRPr lang="en-US" dirty="0"/>
          </a:p>
        </p:txBody>
      </p:sp>
      <p:sp>
        <p:nvSpPr>
          <p:cNvPr id="33" name="Text Placeholder 32"/>
          <p:cNvSpPr>
            <a:spLocks noGrp="1"/>
          </p:cNvSpPr>
          <p:nvPr>
            <p:ph type="body" sz="quarter" idx="13" hasCustomPrompt="1"/>
          </p:nvPr>
        </p:nvSpPr>
        <p:spPr>
          <a:xfrm>
            <a:off x="922244" y="2554288"/>
            <a:ext cx="6054820" cy="522287"/>
          </a:xfrm>
        </p:spPr>
        <p:txBody>
          <a:bodyPr/>
          <a:lstStyle>
            <a:lvl1pPr>
              <a:buNone/>
              <a:defRPr sz="1400">
                <a:solidFill>
                  <a:schemeClr val="bg1"/>
                </a:solidFill>
              </a:defRPr>
            </a:lvl1pPr>
            <a:lvl2pPr>
              <a:buNone/>
              <a:defRPr/>
            </a:lvl2pPr>
            <a:lvl3pPr>
              <a:buNone/>
              <a:defRPr/>
            </a:lvl3pPr>
            <a:lvl4pPr>
              <a:buNone/>
              <a:defRPr/>
            </a:lvl4pPr>
            <a:lvl5pPr>
              <a:buNone/>
              <a:defRPr/>
            </a:lvl5pPr>
          </a:lstStyle>
          <a:p>
            <a:pPr lvl="0"/>
            <a:r>
              <a:rPr lang="en-US" dirty="0" smtClean="0"/>
              <a:t>Optional Presentation Subhead Goes Here</a:t>
            </a:r>
            <a:endParaRPr lang="en-US" dirty="0"/>
          </a:p>
        </p:txBody>
      </p:sp>
      <p:sp>
        <p:nvSpPr>
          <p:cNvPr id="35" name="Content Placeholder 34"/>
          <p:cNvSpPr>
            <a:spLocks noGrp="1"/>
          </p:cNvSpPr>
          <p:nvPr>
            <p:ph sz="quarter" idx="14" hasCustomPrompt="1"/>
          </p:nvPr>
        </p:nvSpPr>
        <p:spPr>
          <a:xfrm>
            <a:off x="1141413" y="5878134"/>
            <a:ext cx="1677987" cy="199388"/>
          </a:xfrm>
        </p:spPr>
        <p:txBody>
          <a:bodyPr/>
          <a:lstStyle>
            <a:lvl1pPr marL="342900" marR="0" indent="-342900" algn="l" defTabSz="457200" rtl="0" eaLnBrk="0" fontAlgn="base" latinLnBrk="0" hangingPunct="0">
              <a:lnSpc>
                <a:spcPct val="100000"/>
              </a:lnSpc>
              <a:spcBef>
                <a:spcPct val="20000"/>
              </a:spcBef>
              <a:spcAft>
                <a:spcPct val="0"/>
              </a:spcAft>
              <a:buClrTx/>
              <a:buSzPct val="75000"/>
              <a:buFont typeface="Arial" charset="0"/>
              <a:buNone/>
              <a:tabLst/>
              <a:defRPr sz="800"/>
            </a:lvl1pPr>
            <a:lvl2pPr>
              <a:buNone/>
              <a:defRPr/>
            </a:lvl2pPr>
            <a:lvl3pPr>
              <a:buNone/>
              <a:defRPr/>
            </a:lvl3pPr>
            <a:lvl4pPr>
              <a:buNone/>
              <a:defRPr/>
            </a:lvl4pPr>
            <a:lvl5pPr>
              <a:buNone/>
              <a:defRPr/>
            </a:lvl5pPr>
          </a:lstStyle>
          <a:p>
            <a:pPr lvl="0"/>
            <a:r>
              <a:rPr lang="en-US" dirty="0" smtClean="0"/>
              <a:t>SPEAKER NAME GOES HERE</a:t>
            </a:r>
          </a:p>
        </p:txBody>
      </p:sp>
      <p:sp>
        <p:nvSpPr>
          <p:cNvPr id="36" name="Content Placeholder 34"/>
          <p:cNvSpPr>
            <a:spLocks noGrp="1"/>
          </p:cNvSpPr>
          <p:nvPr>
            <p:ph sz="quarter" idx="15" hasCustomPrompt="1"/>
          </p:nvPr>
        </p:nvSpPr>
        <p:spPr>
          <a:xfrm>
            <a:off x="1141413" y="6087699"/>
            <a:ext cx="1677987" cy="193919"/>
          </a:xfrm>
        </p:spPr>
        <p:txBody>
          <a:bodyPr/>
          <a:lstStyle>
            <a:lvl1pPr marL="342900" marR="0" indent="-342900" algn="l" defTabSz="457200" rtl="0" eaLnBrk="0" fontAlgn="base" latinLnBrk="0" hangingPunct="0">
              <a:lnSpc>
                <a:spcPct val="100000"/>
              </a:lnSpc>
              <a:spcBef>
                <a:spcPct val="20000"/>
              </a:spcBef>
              <a:spcAft>
                <a:spcPct val="0"/>
              </a:spcAft>
              <a:buClrTx/>
              <a:buSzPct val="75000"/>
              <a:buFont typeface="Arial" charset="0"/>
              <a:buNone/>
              <a:tabLst/>
              <a:defRPr sz="800">
                <a:solidFill>
                  <a:srgbClr val="819298"/>
                </a:solidFill>
              </a:defRPr>
            </a:lvl1pPr>
            <a:lvl2pPr>
              <a:buNone/>
              <a:defRPr/>
            </a:lvl2pPr>
            <a:lvl3pPr>
              <a:buNone/>
              <a:defRPr/>
            </a:lvl3pPr>
            <a:lvl4pPr>
              <a:buNone/>
              <a:defRPr/>
            </a:lvl4pPr>
            <a:lvl5pPr>
              <a:buNone/>
              <a:defRPr/>
            </a:lvl5pPr>
          </a:lstStyle>
          <a:p>
            <a:pPr lvl="0"/>
            <a:r>
              <a:rPr lang="en-US" dirty="0" smtClean="0"/>
              <a:t>SPEAKER TITLE GOES HERE</a:t>
            </a:r>
          </a:p>
        </p:txBody>
      </p:sp>
      <p:sp>
        <p:nvSpPr>
          <p:cNvPr id="38" name="Text Placeholder 37"/>
          <p:cNvSpPr>
            <a:spLocks noGrp="1"/>
          </p:cNvSpPr>
          <p:nvPr>
            <p:ph type="body" sz="quarter" idx="16" hasCustomPrompt="1"/>
          </p:nvPr>
        </p:nvSpPr>
        <p:spPr>
          <a:xfrm>
            <a:off x="3092072" y="5880343"/>
            <a:ext cx="1943100" cy="227012"/>
          </a:xfrm>
        </p:spPr>
        <p:txBody>
          <a:bodyPr/>
          <a:lstStyle>
            <a:lvl1pPr>
              <a:buNone/>
              <a:defRPr sz="800">
                <a:solidFill>
                  <a:srgbClr val="819298"/>
                </a:solidFill>
              </a:defRPr>
            </a:lvl1pPr>
            <a:lvl2pPr>
              <a:buNone/>
              <a:defRPr/>
            </a:lvl2pPr>
            <a:lvl3pPr>
              <a:buNone/>
              <a:defRPr/>
            </a:lvl3pPr>
            <a:lvl4pPr>
              <a:buNone/>
              <a:defRPr/>
            </a:lvl4pPr>
            <a:lvl5pPr>
              <a:buNone/>
              <a:defRPr/>
            </a:lvl5pPr>
          </a:lstStyle>
          <a:p>
            <a:pPr lvl="0"/>
            <a:r>
              <a:rPr lang="en-US" dirty="0" smtClean="0"/>
              <a:t>JANUARY 27, 2012</a:t>
            </a:r>
            <a:endParaRPr lang="en-US" dirty="0"/>
          </a:p>
        </p:txBody>
      </p:sp>
    </p:spTree>
    <p:extLst>
      <p:ext uri="{BB962C8B-B14F-4D97-AF65-F5344CB8AC3E}">
        <p14:creationId xmlns:p14="http://schemas.microsoft.com/office/powerpoint/2010/main" val="4240917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stion Slide - Opt 1">
    <p:spTree>
      <p:nvGrpSpPr>
        <p:cNvPr id="1" name=""/>
        <p:cNvGrpSpPr/>
        <p:nvPr/>
      </p:nvGrpSpPr>
      <p:grpSpPr>
        <a:xfrm>
          <a:off x="0" y="0"/>
          <a:ext cx="0" cy="0"/>
          <a:chOff x="0" y="0"/>
          <a:chExt cx="0" cy="0"/>
        </a:xfrm>
      </p:grpSpPr>
      <p:pic>
        <p:nvPicPr>
          <p:cNvPr id="6" name="Picture 5" descr="chapter_blue_sm.jpg"/>
          <p:cNvPicPr>
            <a:picLocks noChangeAspect="1"/>
          </p:cNvPicPr>
          <p:nvPr userDrawn="1"/>
        </p:nvPicPr>
        <p:blipFill>
          <a:blip r:embed="rId2"/>
          <a:stretch>
            <a:fillRect/>
          </a:stretch>
        </p:blipFill>
        <p:spPr>
          <a:xfrm>
            <a:off x="0" y="0"/>
            <a:ext cx="9144000" cy="6858000"/>
          </a:xfrm>
          <a:prstGeom prst="rect">
            <a:avLst/>
          </a:prstGeom>
        </p:spPr>
      </p:pic>
      <p:sp>
        <p:nvSpPr>
          <p:cNvPr id="10" name="Title 12"/>
          <p:cNvSpPr>
            <a:spLocks noGrp="1"/>
          </p:cNvSpPr>
          <p:nvPr>
            <p:ph type="title" hasCustomPrompt="1"/>
          </p:nvPr>
        </p:nvSpPr>
        <p:spPr>
          <a:xfrm>
            <a:off x="900190" y="1424222"/>
            <a:ext cx="6049146" cy="544286"/>
          </a:xfrm>
        </p:spPr>
        <p:txBody>
          <a:bodyPr/>
          <a:lstStyle>
            <a:lvl1pPr algn="l" defTabSz="457200" rtl="0" fontAlgn="base">
              <a:spcBef>
                <a:spcPct val="0"/>
              </a:spcBef>
              <a:spcAft>
                <a:spcPct val="0"/>
              </a:spcAft>
              <a:defRPr lang="en-US" sz="3600" kern="1200" cap="none" dirty="0" smtClean="0">
                <a:solidFill>
                  <a:srgbClr val="FFFFFF"/>
                </a:solidFill>
                <a:latin typeface="Arial" charset="0"/>
                <a:ea typeface="ＭＳ Ｐゴシック" charset="-128"/>
                <a:cs typeface="ＭＳ Ｐゴシック" charset="-128"/>
              </a:defRPr>
            </a:lvl1pPr>
          </a:lstStyle>
          <a:p>
            <a:pPr>
              <a:defRPr/>
            </a:pPr>
            <a:r>
              <a:rPr lang="en-US" sz="3200" dirty="0" smtClean="0">
                <a:solidFill>
                  <a:schemeClr val="bg1"/>
                </a:solidFill>
              </a:rPr>
              <a:t>Transition Slide</a:t>
            </a:r>
          </a:p>
        </p:txBody>
      </p:sp>
      <p:sp>
        <p:nvSpPr>
          <p:cNvPr id="11" name="Text Placeholder 8"/>
          <p:cNvSpPr>
            <a:spLocks noGrp="1"/>
          </p:cNvSpPr>
          <p:nvPr>
            <p:ph type="body" sz="quarter" idx="10" hasCustomPrompt="1"/>
          </p:nvPr>
        </p:nvSpPr>
        <p:spPr>
          <a:xfrm>
            <a:off x="897846" y="1886856"/>
            <a:ext cx="6059941" cy="571505"/>
          </a:xfrm>
        </p:spPr>
        <p:txBody>
          <a:bodyPr/>
          <a:lstStyle>
            <a:lvl1pPr algn="l" defTabSz="457200" rtl="0" fontAlgn="base">
              <a:spcBef>
                <a:spcPct val="0"/>
              </a:spcBef>
              <a:spcAft>
                <a:spcPct val="0"/>
              </a:spcAft>
              <a:buNone/>
              <a:defRPr lang="en-US" sz="3200" kern="1200" dirty="0" smtClean="0">
                <a:solidFill>
                  <a:schemeClr val="bg2">
                    <a:lumMod val="60000"/>
                    <a:lumOff val="40000"/>
                  </a:schemeClr>
                </a:solidFill>
                <a:latin typeface="Arial" charset="0"/>
                <a:ea typeface="ＭＳ Ｐゴシック" charset="-128"/>
                <a:cs typeface="ＭＳ Ｐゴシック" charset="-128"/>
              </a:defRPr>
            </a:lvl1pPr>
          </a:lstStyle>
          <a:p>
            <a:pPr lvl="0"/>
            <a:r>
              <a:rPr lang="en-US" dirty="0" smtClean="0"/>
              <a:t>Option 1</a:t>
            </a:r>
            <a:endParaRPr lang="en-US" dirty="0"/>
          </a:p>
        </p:txBody>
      </p:sp>
    </p:spTree>
    <p:extLst>
      <p:ext uri="{BB962C8B-B14F-4D97-AF65-F5344CB8AC3E}">
        <p14:creationId xmlns:p14="http://schemas.microsoft.com/office/powerpoint/2010/main" val="2378837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ansistion Slide - Opt 2">
    <p:spTree>
      <p:nvGrpSpPr>
        <p:cNvPr id="1" name=""/>
        <p:cNvGrpSpPr/>
        <p:nvPr/>
      </p:nvGrpSpPr>
      <p:grpSpPr>
        <a:xfrm>
          <a:off x="0" y="0"/>
          <a:ext cx="0" cy="0"/>
          <a:chOff x="0" y="0"/>
          <a:chExt cx="0" cy="0"/>
        </a:xfrm>
      </p:grpSpPr>
      <p:pic>
        <p:nvPicPr>
          <p:cNvPr id="6" name="Picture 5" descr="chapter_green_sm.jpg"/>
          <p:cNvPicPr>
            <a:picLocks noChangeAspect="1"/>
          </p:cNvPicPr>
          <p:nvPr userDrawn="1"/>
        </p:nvPicPr>
        <p:blipFill>
          <a:blip r:embed="rId2"/>
          <a:stretch>
            <a:fillRect/>
          </a:stretch>
        </p:blipFill>
        <p:spPr>
          <a:xfrm>
            <a:off x="0" y="0"/>
            <a:ext cx="9144001" cy="6858000"/>
          </a:xfrm>
          <a:prstGeom prst="rect">
            <a:avLst/>
          </a:prstGeom>
        </p:spPr>
      </p:pic>
      <p:sp>
        <p:nvSpPr>
          <p:cNvPr id="7" name="Title 12"/>
          <p:cNvSpPr>
            <a:spLocks noGrp="1"/>
          </p:cNvSpPr>
          <p:nvPr>
            <p:ph type="title" hasCustomPrompt="1"/>
          </p:nvPr>
        </p:nvSpPr>
        <p:spPr>
          <a:xfrm>
            <a:off x="900190" y="1424222"/>
            <a:ext cx="6049146" cy="544286"/>
          </a:xfrm>
        </p:spPr>
        <p:txBody>
          <a:bodyPr/>
          <a:lstStyle>
            <a:lvl1pPr algn="l" defTabSz="457200" rtl="0" fontAlgn="base">
              <a:spcBef>
                <a:spcPct val="0"/>
              </a:spcBef>
              <a:spcAft>
                <a:spcPct val="0"/>
              </a:spcAft>
              <a:defRPr lang="en-US" sz="3600" kern="1200" cap="none" dirty="0" smtClean="0">
                <a:solidFill>
                  <a:srgbClr val="FFFFFF"/>
                </a:solidFill>
                <a:latin typeface="Arial" charset="0"/>
                <a:ea typeface="ＭＳ Ｐゴシック" charset="-128"/>
                <a:cs typeface="ＭＳ Ｐゴシック" charset="-128"/>
              </a:defRPr>
            </a:lvl1pPr>
          </a:lstStyle>
          <a:p>
            <a:pPr>
              <a:defRPr/>
            </a:pPr>
            <a:r>
              <a:rPr lang="en-US" sz="3200" dirty="0" smtClean="0">
                <a:solidFill>
                  <a:schemeClr val="bg1"/>
                </a:solidFill>
              </a:rPr>
              <a:t>Transition Slide</a:t>
            </a:r>
          </a:p>
        </p:txBody>
      </p:sp>
      <p:sp>
        <p:nvSpPr>
          <p:cNvPr id="8" name="Text Placeholder 8"/>
          <p:cNvSpPr>
            <a:spLocks noGrp="1"/>
          </p:cNvSpPr>
          <p:nvPr>
            <p:ph type="body" sz="quarter" idx="10" hasCustomPrompt="1"/>
          </p:nvPr>
        </p:nvSpPr>
        <p:spPr>
          <a:xfrm>
            <a:off x="897846" y="1886856"/>
            <a:ext cx="6059941" cy="571505"/>
          </a:xfrm>
        </p:spPr>
        <p:txBody>
          <a:bodyPr/>
          <a:lstStyle>
            <a:lvl1pPr algn="l" defTabSz="457200" rtl="0" fontAlgn="base">
              <a:spcBef>
                <a:spcPct val="0"/>
              </a:spcBef>
              <a:spcAft>
                <a:spcPct val="0"/>
              </a:spcAft>
              <a:buNone/>
              <a:defRPr lang="en-US" sz="3200" kern="1200" dirty="0" smtClean="0">
                <a:solidFill>
                  <a:schemeClr val="accent5">
                    <a:lumMod val="40000"/>
                    <a:lumOff val="60000"/>
                  </a:schemeClr>
                </a:solidFill>
                <a:latin typeface="Arial" charset="0"/>
                <a:ea typeface="ＭＳ Ｐゴシック" charset="-128"/>
                <a:cs typeface="ＭＳ Ｐゴシック" charset="-128"/>
              </a:defRPr>
            </a:lvl1pPr>
          </a:lstStyle>
          <a:p>
            <a:pPr lvl="0"/>
            <a:r>
              <a:rPr lang="en-US" dirty="0" smtClean="0"/>
              <a:t>Option 2</a:t>
            </a:r>
            <a:endParaRPr lang="en-US" dirty="0"/>
          </a:p>
        </p:txBody>
      </p:sp>
    </p:spTree>
    <p:extLst>
      <p:ext uri="{BB962C8B-B14F-4D97-AF65-F5344CB8AC3E}">
        <p14:creationId xmlns:p14="http://schemas.microsoft.com/office/powerpoint/2010/main" val="4140847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ransistion Slide - Opt 3">
    <p:spTree>
      <p:nvGrpSpPr>
        <p:cNvPr id="1" name=""/>
        <p:cNvGrpSpPr/>
        <p:nvPr/>
      </p:nvGrpSpPr>
      <p:grpSpPr>
        <a:xfrm>
          <a:off x="0" y="0"/>
          <a:ext cx="0" cy="0"/>
          <a:chOff x="0" y="0"/>
          <a:chExt cx="0" cy="0"/>
        </a:xfrm>
      </p:grpSpPr>
      <p:pic>
        <p:nvPicPr>
          <p:cNvPr id="7" name="Picture 6" descr="chapter_gray_sm.jpg"/>
          <p:cNvPicPr>
            <a:picLocks noChangeAspect="1"/>
          </p:cNvPicPr>
          <p:nvPr userDrawn="1"/>
        </p:nvPicPr>
        <p:blipFill>
          <a:blip r:embed="rId2"/>
          <a:stretch>
            <a:fillRect/>
          </a:stretch>
        </p:blipFill>
        <p:spPr>
          <a:xfrm>
            <a:off x="0" y="-1"/>
            <a:ext cx="9144000" cy="6858000"/>
          </a:xfrm>
          <a:prstGeom prst="rect">
            <a:avLst/>
          </a:prstGeom>
        </p:spPr>
      </p:pic>
      <p:sp>
        <p:nvSpPr>
          <p:cNvPr id="4" name="Title 12"/>
          <p:cNvSpPr>
            <a:spLocks noGrp="1"/>
          </p:cNvSpPr>
          <p:nvPr>
            <p:ph type="title" hasCustomPrompt="1"/>
          </p:nvPr>
        </p:nvSpPr>
        <p:spPr>
          <a:xfrm>
            <a:off x="900190" y="1424222"/>
            <a:ext cx="6049146" cy="544286"/>
          </a:xfrm>
        </p:spPr>
        <p:txBody>
          <a:bodyPr/>
          <a:lstStyle>
            <a:lvl1pPr algn="l" defTabSz="457200" rtl="0" fontAlgn="base">
              <a:spcBef>
                <a:spcPct val="0"/>
              </a:spcBef>
              <a:spcAft>
                <a:spcPct val="0"/>
              </a:spcAft>
              <a:defRPr lang="en-US" sz="3600" kern="1200" cap="none" dirty="0" smtClean="0">
                <a:solidFill>
                  <a:srgbClr val="FFFFFF"/>
                </a:solidFill>
                <a:latin typeface="Arial" charset="0"/>
                <a:ea typeface="ＭＳ Ｐゴシック" charset="-128"/>
                <a:cs typeface="ＭＳ Ｐゴシック" charset="-128"/>
              </a:defRPr>
            </a:lvl1pPr>
          </a:lstStyle>
          <a:p>
            <a:pPr>
              <a:defRPr/>
            </a:pPr>
            <a:r>
              <a:rPr lang="en-US" sz="3200" dirty="0" smtClean="0">
                <a:solidFill>
                  <a:schemeClr val="bg1"/>
                </a:solidFill>
              </a:rPr>
              <a:t>Transition Slide</a:t>
            </a:r>
          </a:p>
        </p:txBody>
      </p:sp>
      <p:sp>
        <p:nvSpPr>
          <p:cNvPr id="5" name="Text Placeholder 8"/>
          <p:cNvSpPr>
            <a:spLocks noGrp="1"/>
          </p:cNvSpPr>
          <p:nvPr>
            <p:ph type="body" sz="quarter" idx="10" hasCustomPrompt="1"/>
          </p:nvPr>
        </p:nvSpPr>
        <p:spPr>
          <a:xfrm>
            <a:off x="897846" y="1886856"/>
            <a:ext cx="6059941" cy="571505"/>
          </a:xfrm>
        </p:spPr>
        <p:txBody>
          <a:bodyPr/>
          <a:lstStyle>
            <a:lvl1pPr algn="l" defTabSz="457200" rtl="0" fontAlgn="base">
              <a:spcBef>
                <a:spcPct val="0"/>
              </a:spcBef>
              <a:spcAft>
                <a:spcPct val="0"/>
              </a:spcAft>
              <a:buNone/>
              <a:defRPr lang="en-US" sz="3200" kern="1200" dirty="0" smtClean="0">
                <a:solidFill>
                  <a:schemeClr val="tx1">
                    <a:lumMod val="40000"/>
                    <a:lumOff val="60000"/>
                  </a:schemeClr>
                </a:solidFill>
                <a:latin typeface="Arial" charset="0"/>
                <a:ea typeface="ＭＳ Ｐゴシック" charset="-128"/>
                <a:cs typeface="ＭＳ Ｐゴシック" charset="-128"/>
              </a:defRPr>
            </a:lvl1pPr>
          </a:lstStyle>
          <a:p>
            <a:pPr lvl="0"/>
            <a:r>
              <a:rPr lang="en-US" dirty="0" smtClean="0"/>
              <a:t>Option 3</a:t>
            </a:r>
            <a:endParaRPr lang="en-US" dirty="0"/>
          </a:p>
        </p:txBody>
      </p:sp>
    </p:spTree>
    <p:extLst>
      <p:ext uri="{BB962C8B-B14F-4D97-AF65-F5344CB8AC3E}">
        <p14:creationId xmlns:p14="http://schemas.microsoft.com/office/powerpoint/2010/main" val="1781236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ransistion Slide - Opt 4">
    <p:spTree>
      <p:nvGrpSpPr>
        <p:cNvPr id="1" name=""/>
        <p:cNvGrpSpPr/>
        <p:nvPr/>
      </p:nvGrpSpPr>
      <p:grpSpPr>
        <a:xfrm>
          <a:off x="0" y="0"/>
          <a:ext cx="0" cy="0"/>
          <a:chOff x="0" y="0"/>
          <a:chExt cx="0" cy="0"/>
        </a:xfrm>
      </p:grpSpPr>
      <p:pic>
        <p:nvPicPr>
          <p:cNvPr id="9" name="Picture 8" descr="chapter_purple_orange_sm.jpg"/>
          <p:cNvPicPr>
            <a:picLocks noChangeAspect="1"/>
          </p:cNvPicPr>
          <p:nvPr userDrawn="1"/>
        </p:nvPicPr>
        <p:blipFill>
          <a:blip r:embed="rId2"/>
          <a:stretch>
            <a:fillRect/>
          </a:stretch>
        </p:blipFill>
        <p:spPr>
          <a:xfrm>
            <a:off x="-1" y="0"/>
            <a:ext cx="9144000" cy="6858000"/>
          </a:xfrm>
          <a:prstGeom prst="rect">
            <a:avLst/>
          </a:prstGeom>
        </p:spPr>
      </p:pic>
      <p:sp>
        <p:nvSpPr>
          <p:cNvPr id="4" name="Title 12"/>
          <p:cNvSpPr>
            <a:spLocks noGrp="1"/>
          </p:cNvSpPr>
          <p:nvPr>
            <p:ph type="title" hasCustomPrompt="1"/>
          </p:nvPr>
        </p:nvSpPr>
        <p:spPr>
          <a:xfrm>
            <a:off x="900190" y="1424222"/>
            <a:ext cx="6049146" cy="544286"/>
          </a:xfrm>
        </p:spPr>
        <p:txBody>
          <a:bodyPr/>
          <a:lstStyle>
            <a:lvl1pPr algn="l" defTabSz="457200" rtl="0" fontAlgn="base">
              <a:spcBef>
                <a:spcPct val="0"/>
              </a:spcBef>
              <a:spcAft>
                <a:spcPct val="0"/>
              </a:spcAft>
              <a:defRPr lang="en-US" sz="3600" kern="1200" cap="none" dirty="0" smtClean="0">
                <a:solidFill>
                  <a:srgbClr val="FFFFFF"/>
                </a:solidFill>
                <a:latin typeface="Arial" charset="0"/>
                <a:ea typeface="ＭＳ Ｐゴシック" charset="-128"/>
                <a:cs typeface="ＭＳ Ｐゴシック" charset="-128"/>
              </a:defRPr>
            </a:lvl1pPr>
          </a:lstStyle>
          <a:p>
            <a:pPr>
              <a:defRPr/>
            </a:pPr>
            <a:r>
              <a:rPr lang="en-US" sz="3200" dirty="0" smtClean="0">
                <a:solidFill>
                  <a:schemeClr val="bg1"/>
                </a:solidFill>
              </a:rPr>
              <a:t>Transition Slide</a:t>
            </a:r>
          </a:p>
        </p:txBody>
      </p:sp>
      <p:sp>
        <p:nvSpPr>
          <p:cNvPr id="5" name="Text Placeholder 8"/>
          <p:cNvSpPr>
            <a:spLocks noGrp="1"/>
          </p:cNvSpPr>
          <p:nvPr>
            <p:ph type="body" sz="quarter" idx="10" hasCustomPrompt="1"/>
          </p:nvPr>
        </p:nvSpPr>
        <p:spPr>
          <a:xfrm>
            <a:off x="897846" y="1886856"/>
            <a:ext cx="6059941" cy="571505"/>
          </a:xfrm>
        </p:spPr>
        <p:txBody>
          <a:bodyPr/>
          <a:lstStyle>
            <a:lvl1pPr algn="l" defTabSz="457200" rtl="0" fontAlgn="base">
              <a:spcBef>
                <a:spcPct val="0"/>
              </a:spcBef>
              <a:spcAft>
                <a:spcPct val="0"/>
              </a:spcAft>
              <a:buNone/>
              <a:defRPr lang="en-US" sz="3200" kern="1200" dirty="0" smtClean="0">
                <a:solidFill>
                  <a:srgbClr val="F57D28"/>
                </a:solidFill>
                <a:latin typeface="Arial" charset="0"/>
                <a:ea typeface="ＭＳ Ｐゴシック" charset="-128"/>
                <a:cs typeface="ＭＳ Ｐゴシック" charset="-128"/>
              </a:defRPr>
            </a:lvl1pPr>
          </a:lstStyle>
          <a:p>
            <a:pPr lvl="0"/>
            <a:r>
              <a:rPr lang="en-US" dirty="0" smtClean="0"/>
              <a:t>Option 4</a:t>
            </a:r>
            <a:endParaRPr lang="en-US" dirty="0"/>
          </a:p>
        </p:txBody>
      </p:sp>
    </p:spTree>
    <p:extLst>
      <p:ext uri="{BB962C8B-B14F-4D97-AF65-F5344CB8AC3E}">
        <p14:creationId xmlns:p14="http://schemas.microsoft.com/office/powerpoint/2010/main" val="35477433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ransistion Slide - Opt 5">
    <p:spTree>
      <p:nvGrpSpPr>
        <p:cNvPr id="1" name=""/>
        <p:cNvGrpSpPr/>
        <p:nvPr/>
      </p:nvGrpSpPr>
      <p:grpSpPr>
        <a:xfrm>
          <a:off x="0" y="0"/>
          <a:ext cx="0" cy="0"/>
          <a:chOff x="0" y="0"/>
          <a:chExt cx="0" cy="0"/>
        </a:xfrm>
      </p:grpSpPr>
      <p:pic>
        <p:nvPicPr>
          <p:cNvPr id="7" name="Picture 6" descr="chapter_purple_blue_sm.jpg"/>
          <p:cNvPicPr>
            <a:picLocks noChangeAspect="1"/>
          </p:cNvPicPr>
          <p:nvPr userDrawn="1"/>
        </p:nvPicPr>
        <p:blipFill>
          <a:blip r:embed="rId2"/>
          <a:stretch>
            <a:fillRect/>
          </a:stretch>
        </p:blipFill>
        <p:spPr>
          <a:xfrm>
            <a:off x="-2" y="0"/>
            <a:ext cx="9144001" cy="6858000"/>
          </a:xfrm>
          <a:prstGeom prst="rect">
            <a:avLst/>
          </a:prstGeom>
        </p:spPr>
      </p:pic>
      <p:sp>
        <p:nvSpPr>
          <p:cNvPr id="4" name="Title 12"/>
          <p:cNvSpPr>
            <a:spLocks noGrp="1"/>
          </p:cNvSpPr>
          <p:nvPr>
            <p:ph type="title" hasCustomPrompt="1"/>
          </p:nvPr>
        </p:nvSpPr>
        <p:spPr>
          <a:xfrm>
            <a:off x="900190" y="1424222"/>
            <a:ext cx="6049146" cy="544286"/>
          </a:xfrm>
        </p:spPr>
        <p:txBody>
          <a:bodyPr/>
          <a:lstStyle>
            <a:lvl1pPr algn="l" defTabSz="457200" rtl="0" fontAlgn="base">
              <a:spcBef>
                <a:spcPct val="0"/>
              </a:spcBef>
              <a:spcAft>
                <a:spcPct val="0"/>
              </a:spcAft>
              <a:defRPr lang="en-US" sz="3600" kern="1200" cap="none" dirty="0" smtClean="0">
                <a:solidFill>
                  <a:srgbClr val="FFFFFF"/>
                </a:solidFill>
                <a:latin typeface="Arial" charset="0"/>
                <a:ea typeface="ＭＳ Ｐゴシック" charset="-128"/>
                <a:cs typeface="ＭＳ Ｐゴシック" charset="-128"/>
              </a:defRPr>
            </a:lvl1pPr>
          </a:lstStyle>
          <a:p>
            <a:pPr>
              <a:defRPr/>
            </a:pPr>
            <a:r>
              <a:rPr lang="en-US" sz="3200" dirty="0" smtClean="0">
                <a:solidFill>
                  <a:schemeClr val="bg1"/>
                </a:solidFill>
              </a:rPr>
              <a:t>Transition Slide</a:t>
            </a:r>
          </a:p>
        </p:txBody>
      </p:sp>
      <p:sp>
        <p:nvSpPr>
          <p:cNvPr id="5" name="Text Placeholder 8"/>
          <p:cNvSpPr>
            <a:spLocks noGrp="1"/>
          </p:cNvSpPr>
          <p:nvPr>
            <p:ph type="body" sz="quarter" idx="10" hasCustomPrompt="1"/>
          </p:nvPr>
        </p:nvSpPr>
        <p:spPr>
          <a:xfrm>
            <a:off x="897846" y="1886856"/>
            <a:ext cx="6059941" cy="571505"/>
          </a:xfrm>
        </p:spPr>
        <p:txBody>
          <a:bodyPr/>
          <a:lstStyle>
            <a:lvl1pPr algn="l" defTabSz="457200" rtl="0" fontAlgn="base">
              <a:spcBef>
                <a:spcPct val="0"/>
              </a:spcBef>
              <a:spcAft>
                <a:spcPct val="0"/>
              </a:spcAft>
              <a:buNone/>
              <a:defRPr lang="en-US" sz="3200" kern="1200" dirty="0" smtClean="0">
                <a:solidFill>
                  <a:schemeClr val="bg2">
                    <a:lumMod val="60000"/>
                    <a:lumOff val="40000"/>
                  </a:schemeClr>
                </a:solidFill>
                <a:latin typeface="Arial" charset="0"/>
                <a:ea typeface="ＭＳ Ｐゴシック" charset="-128"/>
                <a:cs typeface="ＭＳ Ｐゴシック" charset="-128"/>
              </a:defRPr>
            </a:lvl1pPr>
          </a:lstStyle>
          <a:p>
            <a:pPr lvl="0"/>
            <a:r>
              <a:rPr lang="en-US" dirty="0" smtClean="0"/>
              <a:t>Option 5</a:t>
            </a:r>
            <a:endParaRPr lang="en-US" dirty="0"/>
          </a:p>
        </p:txBody>
      </p:sp>
    </p:spTree>
    <p:extLst>
      <p:ext uri="{BB962C8B-B14F-4D97-AF65-F5344CB8AC3E}">
        <p14:creationId xmlns:p14="http://schemas.microsoft.com/office/powerpoint/2010/main" val="3210058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ansistion Slide - Opt 6">
    <p:spTree>
      <p:nvGrpSpPr>
        <p:cNvPr id="1" name=""/>
        <p:cNvGrpSpPr/>
        <p:nvPr/>
      </p:nvGrpSpPr>
      <p:grpSpPr>
        <a:xfrm>
          <a:off x="0" y="0"/>
          <a:ext cx="0" cy="0"/>
          <a:chOff x="0" y="0"/>
          <a:chExt cx="0" cy="0"/>
        </a:xfrm>
      </p:grpSpPr>
      <p:pic>
        <p:nvPicPr>
          <p:cNvPr id="7" name="Picture 6" descr="chapter_purple_pink_sm.jpg"/>
          <p:cNvPicPr>
            <a:picLocks noChangeAspect="1"/>
          </p:cNvPicPr>
          <p:nvPr userDrawn="1"/>
        </p:nvPicPr>
        <p:blipFill>
          <a:blip r:embed="rId2"/>
          <a:stretch>
            <a:fillRect/>
          </a:stretch>
        </p:blipFill>
        <p:spPr>
          <a:xfrm>
            <a:off x="0" y="0"/>
            <a:ext cx="9144000" cy="6858000"/>
          </a:xfrm>
          <a:prstGeom prst="rect">
            <a:avLst/>
          </a:prstGeom>
        </p:spPr>
      </p:pic>
      <p:sp>
        <p:nvSpPr>
          <p:cNvPr id="4" name="Title 12"/>
          <p:cNvSpPr>
            <a:spLocks noGrp="1"/>
          </p:cNvSpPr>
          <p:nvPr>
            <p:ph type="title" hasCustomPrompt="1"/>
          </p:nvPr>
        </p:nvSpPr>
        <p:spPr>
          <a:xfrm>
            <a:off x="900190" y="1424222"/>
            <a:ext cx="6049146" cy="544286"/>
          </a:xfrm>
        </p:spPr>
        <p:txBody>
          <a:bodyPr/>
          <a:lstStyle>
            <a:lvl1pPr algn="l" defTabSz="457200" rtl="0" fontAlgn="base">
              <a:spcBef>
                <a:spcPct val="0"/>
              </a:spcBef>
              <a:spcAft>
                <a:spcPct val="0"/>
              </a:spcAft>
              <a:defRPr lang="en-US" sz="3600" kern="1200" cap="none" dirty="0" smtClean="0">
                <a:solidFill>
                  <a:srgbClr val="FFFFFF"/>
                </a:solidFill>
                <a:latin typeface="Arial" charset="0"/>
                <a:ea typeface="ＭＳ Ｐゴシック" charset="-128"/>
                <a:cs typeface="ＭＳ Ｐゴシック" charset="-128"/>
              </a:defRPr>
            </a:lvl1pPr>
          </a:lstStyle>
          <a:p>
            <a:pPr>
              <a:defRPr/>
            </a:pPr>
            <a:r>
              <a:rPr lang="en-US" sz="3200" dirty="0" smtClean="0">
                <a:solidFill>
                  <a:schemeClr val="bg1"/>
                </a:solidFill>
              </a:rPr>
              <a:t>Transition Slide</a:t>
            </a:r>
          </a:p>
        </p:txBody>
      </p:sp>
      <p:sp>
        <p:nvSpPr>
          <p:cNvPr id="5" name="Text Placeholder 8"/>
          <p:cNvSpPr>
            <a:spLocks noGrp="1"/>
          </p:cNvSpPr>
          <p:nvPr>
            <p:ph type="body" sz="quarter" idx="10" hasCustomPrompt="1"/>
          </p:nvPr>
        </p:nvSpPr>
        <p:spPr>
          <a:xfrm>
            <a:off x="897846" y="1886856"/>
            <a:ext cx="6059941" cy="571505"/>
          </a:xfrm>
        </p:spPr>
        <p:txBody>
          <a:bodyPr/>
          <a:lstStyle>
            <a:lvl1pPr algn="l" defTabSz="457200" rtl="0" fontAlgn="base">
              <a:spcBef>
                <a:spcPct val="0"/>
              </a:spcBef>
              <a:spcAft>
                <a:spcPct val="0"/>
              </a:spcAft>
              <a:buNone/>
              <a:defRPr lang="en-US" sz="3200" kern="1200" dirty="0" smtClean="0">
                <a:solidFill>
                  <a:srgbClr val="C28EB9"/>
                </a:solidFill>
                <a:latin typeface="Arial" charset="0"/>
                <a:ea typeface="ＭＳ Ｐゴシック" charset="-128"/>
                <a:cs typeface="ＭＳ Ｐゴシック" charset="-128"/>
              </a:defRPr>
            </a:lvl1pPr>
          </a:lstStyle>
          <a:p>
            <a:pPr lvl="0"/>
            <a:r>
              <a:rPr lang="en-US" dirty="0" smtClean="0"/>
              <a:t>Option 6</a:t>
            </a:r>
            <a:endParaRPr lang="en-US" dirty="0"/>
          </a:p>
        </p:txBody>
      </p:sp>
    </p:spTree>
    <p:extLst>
      <p:ext uri="{BB962C8B-B14F-4D97-AF65-F5344CB8AC3E}">
        <p14:creationId xmlns:p14="http://schemas.microsoft.com/office/powerpoint/2010/main" val="8459616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381000" y="1397000"/>
            <a:ext cx="8382000" cy="4445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283401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a:lstStyle/>
          <a:p>
            <a:r>
              <a:rPr lang="en-US" smtClean="0"/>
              <a:t>Click to edit Master title style</a:t>
            </a:r>
            <a:endParaRPr lang="en-US" dirty="0"/>
          </a:p>
        </p:txBody>
      </p:sp>
    </p:spTree>
    <p:extLst>
      <p:ext uri="{BB962C8B-B14F-4D97-AF65-F5344CB8AC3E}">
        <p14:creationId xmlns:p14="http://schemas.microsoft.com/office/powerpoint/2010/main" val="578657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layout with footer">
    <p:spTree>
      <p:nvGrpSpPr>
        <p:cNvPr id="1" name=""/>
        <p:cNvGrpSpPr/>
        <p:nvPr/>
      </p:nvGrpSpPr>
      <p:grpSpPr>
        <a:xfrm>
          <a:off x="0" y="0"/>
          <a:ext cx="0" cy="0"/>
          <a:chOff x="0" y="0"/>
          <a:chExt cx="0" cy="0"/>
        </a:xfrm>
      </p:grpSpPr>
      <p:sp>
        <p:nvSpPr>
          <p:cNvPr id="3" name="Rectangle 2"/>
          <p:cNvSpPr/>
          <p:nvPr userDrawn="1"/>
        </p:nvSpPr>
        <p:spPr>
          <a:xfrm>
            <a:off x="0" y="0"/>
            <a:ext cx="9144000" cy="580571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816374"/>
            <a:endParaRPr lang="en-US" sz="1600">
              <a:solidFill>
                <a:srgbClr val="FFFFFF"/>
              </a:solidFill>
            </a:endParaRPr>
          </a:p>
        </p:txBody>
      </p:sp>
    </p:spTree>
    <p:extLst>
      <p:ext uri="{BB962C8B-B14F-4D97-AF65-F5344CB8AC3E}">
        <p14:creationId xmlns:p14="http://schemas.microsoft.com/office/powerpoint/2010/main" val="5104310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089401"/>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66733" y="1600201"/>
            <a:ext cx="4038600" cy="40894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6194711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half" idx="2"/>
          </p:nvPr>
        </p:nvSpPr>
        <p:spPr>
          <a:xfrm>
            <a:off x="4766733" y="1600201"/>
            <a:ext cx="4038600" cy="40894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p:txBody>
      </p:sp>
      <p:sp>
        <p:nvSpPr>
          <p:cNvPr id="6" name="Content Placeholder 5"/>
          <p:cNvSpPr>
            <a:spLocks noGrp="1"/>
          </p:cNvSpPr>
          <p:nvPr>
            <p:ph sz="quarter" idx="10" hasCustomPrompt="1"/>
          </p:nvPr>
        </p:nvSpPr>
        <p:spPr>
          <a:xfrm>
            <a:off x="444500" y="2286000"/>
            <a:ext cx="3484562" cy="288037"/>
          </a:xfrm>
        </p:spPr>
        <p:txBody>
          <a:bodyPr/>
          <a:lstStyle>
            <a:lvl1pPr>
              <a:buNone/>
              <a:defRPr sz="1200" cap="all">
                <a:solidFill>
                  <a:schemeClr val="accent2"/>
                </a:solidFill>
              </a:defRPr>
            </a:lvl1pPr>
            <a:lvl2pPr>
              <a:buNone/>
              <a:defRPr/>
            </a:lvl2pPr>
            <a:lvl3pPr>
              <a:buNone/>
              <a:defRPr/>
            </a:lvl3pPr>
            <a:lvl4pPr>
              <a:buNone/>
              <a:defRPr/>
            </a:lvl4pPr>
            <a:lvl5pPr>
              <a:buNone/>
              <a:defRPr/>
            </a:lvl5pPr>
          </a:lstStyle>
          <a:p>
            <a:pPr lvl="0"/>
            <a:r>
              <a:rPr lang="en-US" dirty="0" smtClean="0"/>
              <a:t>THIS IS THE FIRST SUBHEAD</a:t>
            </a:r>
            <a:endParaRPr lang="en-US" dirty="0"/>
          </a:p>
        </p:txBody>
      </p:sp>
      <p:sp>
        <p:nvSpPr>
          <p:cNvPr id="8" name="Text Placeholder 7"/>
          <p:cNvSpPr>
            <a:spLocks noGrp="1"/>
          </p:cNvSpPr>
          <p:nvPr>
            <p:ph type="body" sz="quarter" idx="11" hasCustomPrompt="1"/>
          </p:nvPr>
        </p:nvSpPr>
        <p:spPr>
          <a:xfrm>
            <a:off x="444500" y="2578101"/>
            <a:ext cx="3640138" cy="1299722"/>
          </a:xfrm>
        </p:spPr>
        <p:txBody>
          <a:bodyPr/>
          <a:lstStyle>
            <a:lvl1pPr marL="0" indent="0">
              <a:spcAft>
                <a:spcPts val="0"/>
              </a:spcAft>
              <a:buNone/>
              <a:defRPr sz="1400"/>
            </a:lvl1pPr>
            <a:lvl2pPr>
              <a:buNone/>
              <a:defRPr/>
            </a:lvl2pPr>
            <a:lvl3pPr>
              <a:buNone/>
              <a:defRPr/>
            </a:lvl3pPr>
            <a:lvl4pPr>
              <a:buNone/>
              <a:defRPr/>
            </a:lvl4pPr>
            <a:lvl5pPr>
              <a:buNone/>
              <a:defRPr/>
            </a:lvl5pPr>
          </a:lstStyle>
          <a:p>
            <a:pPr lvl="0"/>
            <a:r>
              <a:rPr lang="en-US" dirty="0" smtClean="0"/>
              <a:t>This is the copy that is written underneath the subhead that is related to the chart to the right. This is the copy that is written underneath the subhead that is related to the chart to the right.</a:t>
            </a:r>
            <a:endParaRPr lang="en-US" dirty="0"/>
          </a:p>
        </p:txBody>
      </p:sp>
      <p:sp>
        <p:nvSpPr>
          <p:cNvPr id="9" name="Content Placeholder 5"/>
          <p:cNvSpPr>
            <a:spLocks noGrp="1"/>
          </p:cNvSpPr>
          <p:nvPr>
            <p:ph sz="quarter" idx="12" hasCustomPrompt="1"/>
          </p:nvPr>
        </p:nvSpPr>
        <p:spPr>
          <a:xfrm>
            <a:off x="444500" y="4062390"/>
            <a:ext cx="3484562" cy="288037"/>
          </a:xfrm>
        </p:spPr>
        <p:txBody>
          <a:bodyPr/>
          <a:lstStyle>
            <a:lvl1pPr>
              <a:buNone/>
              <a:defRPr sz="1200" cap="all">
                <a:solidFill>
                  <a:schemeClr val="accent2"/>
                </a:solidFill>
              </a:defRPr>
            </a:lvl1pPr>
            <a:lvl2pPr>
              <a:buNone/>
              <a:defRPr/>
            </a:lvl2pPr>
            <a:lvl3pPr>
              <a:buNone/>
              <a:defRPr/>
            </a:lvl3pPr>
            <a:lvl4pPr>
              <a:buNone/>
              <a:defRPr/>
            </a:lvl4pPr>
            <a:lvl5pPr>
              <a:buNone/>
              <a:defRPr/>
            </a:lvl5pPr>
          </a:lstStyle>
          <a:p>
            <a:pPr lvl="0"/>
            <a:r>
              <a:rPr lang="en-US" dirty="0" smtClean="0"/>
              <a:t>THIS IS THE SECOND SUBHEAD</a:t>
            </a:r>
            <a:endParaRPr lang="en-US" dirty="0"/>
          </a:p>
        </p:txBody>
      </p:sp>
      <p:sp>
        <p:nvSpPr>
          <p:cNvPr id="10" name="Text Placeholder 7"/>
          <p:cNvSpPr>
            <a:spLocks noGrp="1"/>
          </p:cNvSpPr>
          <p:nvPr>
            <p:ph type="body" sz="quarter" idx="13" hasCustomPrompt="1"/>
          </p:nvPr>
        </p:nvSpPr>
        <p:spPr>
          <a:xfrm>
            <a:off x="444500" y="4354491"/>
            <a:ext cx="3640138" cy="1299722"/>
          </a:xfrm>
        </p:spPr>
        <p:txBody>
          <a:bodyPr/>
          <a:lstStyle>
            <a:lvl1pPr marL="0" indent="0">
              <a:spcAft>
                <a:spcPts val="0"/>
              </a:spcAft>
              <a:buNone/>
              <a:defRPr sz="1400"/>
            </a:lvl1pPr>
            <a:lvl2pPr>
              <a:buNone/>
              <a:defRPr/>
            </a:lvl2pPr>
            <a:lvl3pPr>
              <a:buNone/>
              <a:defRPr/>
            </a:lvl3pPr>
            <a:lvl4pPr>
              <a:buNone/>
              <a:defRPr/>
            </a:lvl4pPr>
            <a:lvl5pPr>
              <a:buNone/>
              <a:defRPr/>
            </a:lvl5pPr>
          </a:lstStyle>
          <a:p>
            <a:pPr lvl="0"/>
            <a:r>
              <a:rPr lang="en-US" dirty="0" smtClean="0"/>
              <a:t>This is the copy that is written underneath the subhead that is related to the chart to the right.</a:t>
            </a:r>
            <a:endParaRPr lang="en-US" dirty="0"/>
          </a:p>
        </p:txBody>
      </p:sp>
    </p:spTree>
    <p:extLst>
      <p:ext uri="{BB962C8B-B14F-4D97-AF65-F5344CB8AC3E}">
        <p14:creationId xmlns:p14="http://schemas.microsoft.com/office/powerpoint/2010/main" val="6885101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cxnSp>
        <p:nvCxnSpPr>
          <p:cNvPr id="5" name="Straight Connector 4"/>
          <p:cNvCxnSpPr/>
          <p:nvPr userDrawn="1"/>
        </p:nvCxnSpPr>
        <p:spPr>
          <a:xfrm>
            <a:off x="524932" y="4343242"/>
            <a:ext cx="3886201" cy="1588"/>
          </a:xfrm>
          <a:prstGeom prst="line">
            <a:avLst/>
          </a:prstGeom>
          <a:ln w="6350" cap="rnd" cmpd="sng" algn="ctr">
            <a:solidFill>
              <a:srgbClr val="9EABB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 name="Straight Connector 5"/>
          <p:cNvCxnSpPr/>
          <p:nvPr userDrawn="1"/>
        </p:nvCxnSpPr>
        <p:spPr>
          <a:xfrm>
            <a:off x="4741331" y="4343241"/>
            <a:ext cx="3886201" cy="1588"/>
          </a:xfrm>
          <a:prstGeom prst="line">
            <a:avLst/>
          </a:prstGeom>
          <a:ln w="6350" cap="rnd" cmpd="sng" algn="ctr">
            <a:solidFill>
              <a:srgbClr val="9EABB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0" name="Content Placeholder 9"/>
          <p:cNvSpPr>
            <a:spLocks noGrp="1"/>
          </p:cNvSpPr>
          <p:nvPr>
            <p:ph sz="quarter" idx="10"/>
          </p:nvPr>
        </p:nvSpPr>
        <p:spPr>
          <a:xfrm>
            <a:off x="517525" y="1497013"/>
            <a:ext cx="3905250" cy="2713037"/>
          </a:xfrm>
        </p:spPr>
        <p:txBody>
          <a:bodyPr/>
          <a:lstStyle>
            <a:lvl1pPr>
              <a:buNone/>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11" name="Content Placeholder 9"/>
          <p:cNvSpPr>
            <a:spLocks noGrp="1"/>
          </p:cNvSpPr>
          <p:nvPr>
            <p:ph sz="quarter" idx="11"/>
          </p:nvPr>
        </p:nvSpPr>
        <p:spPr>
          <a:xfrm>
            <a:off x="4743211" y="1497013"/>
            <a:ext cx="3905250" cy="2713037"/>
          </a:xfrm>
        </p:spPr>
        <p:txBody>
          <a:bodyPr/>
          <a:lstStyle>
            <a:lvl1pPr>
              <a:buNone/>
              <a:defRPr/>
            </a:lvl1pPr>
            <a:lvl2pPr>
              <a:buNone/>
              <a:defRPr/>
            </a:lvl2pPr>
            <a:lvl3pPr>
              <a:buNone/>
              <a:defRPr/>
            </a:lvl3pPr>
            <a:lvl4pPr>
              <a:buNone/>
              <a:defRPr/>
            </a:lvl4pPr>
            <a:lvl5pPr>
              <a:buNone/>
              <a:defRPr/>
            </a:lvl5pPr>
          </a:lstStyle>
          <a:p>
            <a:pPr lvl="0"/>
            <a:r>
              <a:rPr lang="en-US" smtClean="0"/>
              <a:t>Click to edit Master text styles</a:t>
            </a:r>
          </a:p>
        </p:txBody>
      </p:sp>
      <p:sp>
        <p:nvSpPr>
          <p:cNvPr id="13" name="Text Placeholder 12"/>
          <p:cNvSpPr>
            <a:spLocks noGrp="1"/>
          </p:cNvSpPr>
          <p:nvPr>
            <p:ph type="body" sz="quarter" idx="12" hasCustomPrompt="1"/>
          </p:nvPr>
        </p:nvSpPr>
        <p:spPr>
          <a:xfrm>
            <a:off x="517525" y="4475163"/>
            <a:ext cx="3905250" cy="234161"/>
          </a:xfrm>
        </p:spPr>
        <p:txBody>
          <a:bodyPr/>
          <a:lstStyle>
            <a:lvl1pPr marL="0" indent="0">
              <a:buNone/>
              <a:defRPr sz="1200" cap="all">
                <a:solidFill>
                  <a:srgbClr val="EB6E1E"/>
                </a:solidFill>
              </a:defRPr>
            </a:lvl1pPr>
            <a:lvl2pPr>
              <a:buNone/>
              <a:defRPr/>
            </a:lvl2pPr>
            <a:lvl3pPr>
              <a:buNone/>
              <a:defRPr/>
            </a:lvl3pPr>
            <a:lvl4pPr>
              <a:buNone/>
              <a:defRPr/>
            </a:lvl4pPr>
            <a:lvl5pPr>
              <a:buNone/>
              <a:defRPr/>
            </a:lvl5pPr>
          </a:lstStyle>
          <a:p>
            <a:pPr lvl="0"/>
            <a:r>
              <a:rPr lang="en-US" dirty="0" smtClean="0"/>
              <a:t>THIS IS THE SUBHEAD ON THE LEFT</a:t>
            </a:r>
            <a:endParaRPr lang="en-US" dirty="0"/>
          </a:p>
        </p:txBody>
      </p:sp>
      <p:sp>
        <p:nvSpPr>
          <p:cNvPr id="15" name="Text Placeholder 14"/>
          <p:cNvSpPr>
            <a:spLocks noGrp="1"/>
          </p:cNvSpPr>
          <p:nvPr>
            <p:ph type="body" sz="quarter" idx="13" hasCustomPrompt="1"/>
          </p:nvPr>
        </p:nvSpPr>
        <p:spPr>
          <a:xfrm>
            <a:off x="517525" y="4739560"/>
            <a:ext cx="3911600" cy="1131015"/>
          </a:xfrm>
        </p:spPr>
        <p:txBody>
          <a:bodyPr/>
          <a:lstStyle>
            <a:lvl1pPr marL="0" indent="0">
              <a:buNone/>
              <a:defRPr sz="1400"/>
            </a:lvl1pPr>
            <a:lvl2pPr>
              <a:buNone/>
              <a:defRPr/>
            </a:lvl2pPr>
            <a:lvl3pPr>
              <a:buNone/>
              <a:defRPr/>
            </a:lvl3pPr>
            <a:lvl4pPr>
              <a:buNone/>
              <a:defRPr/>
            </a:lvl4pPr>
            <a:lvl5pPr>
              <a:buNone/>
              <a:defRPr/>
            </a:lvl5pPr>
          </a:lstStyle>
          <a:p>
            <a:pPr lvl="0"/>
            <a:r>
              <a:rPr lang="en-US" dirty="0" smtClean="0"/>
              <a:t>This is the copy that is written underneath the subhead that is related to the chart above.</a:t>
            </a:r>
            <a:endParaRPr lang="en-US" dirty="0"/>
          </a:p>
        </p:txBody>
      </p:sp>
      <p:sp>
        <p:nvSpPr>
          <p:cNvPr id="16" name="Text Placeholder 12"/>
          <p:cNvSpPr>
            <a:spLocks noGrp="1"/>
          </p:cNvSpPr>
          <p:nvPr>
            <p:ph type="body" sz="quarter" idx="14" hasCustomPrompt="1"/>
          </p:nvPr>
        </p:nvSpPr>
        <p:spPr>
          <a:xfrm>
            <a:off x="4739723" y="4475163"/>
            <a:ext cx="3905250" cy="234161"/>
          </a:xfrm>
        </p:spPr>
        <p:txBody>
          <a:bodyPr/>
          <a:lstStyle>
            <a:lvl1pPr marL="0" indent="0">
              <a:buNone/>
              <a:defRPr sz="1200" cap="all">
                <a:solidFill>
                  <a:srgbClr val="EB6E1E"/>
                </a:solidFill>
              </a:defRPr>
            </a:lvl1pPr>
            <a:lvl2pPr>
              <a:buNone/>
              <a:defRPr/>
            </a:lvl2pPr>
            <a:lvl3pPr>
              <a:buNone/>
              <a:defRPr/>
            </a:lvl3pPr>
            <a:lvl4pPr>
              <a:buNone/>
              <a:defRPr/>
            </a:lvl4pPr>
            <a:lvl5pPr>
              <a:buNone/>
              <a:defRPr/>
            </a:lvl5pPr>
          </a:lstStyle>
          <a:p>
            <a:pPr lvl="0"/>
            <a:r>
              <a:rPr lang="en-US" dirty="0" smtClean="0"/>
              <a:t>THIS IS THE SUBHEAD ON THE Right</a:t>
            </a:r>
            <a:endParaRPr lang="en-US" dirty="0"/>
          </a:p>
        </p:txBody>
      </p:sp>
      <p:sp>
        <p:nvSpPr>
          <p:cNvPr id="17" name="Text Placeholder 14"/>
          <p:cNvSpPr>
            <a:spLocks noGrp="1"/>
          </p:cNvSpPr>
          <p:nvPr>
            <p:ph type="body" sz="quarter" idx="15" hasCustomPrompt="1"/>
          </p:nvPr>
        </p:nvSpPr>
        <p:spPr>
          <a:xfrm>
            <a:off x="4739723" y="4739560"/>
            <a:ext cx="3911600" cy="1131015"/>
          </a:xfrm>
        </p:spPr>
        <p:txBody>
          <a:bodyPr/>
          <a:lstStyle>
            <a:lvl1pPr marL="0" indent="0">
              <a:buNone/>
              <a:defRPr sz="1400"/>
            </a:lvl1pPr>
            <a:lvl2pPr>
              <a:buNone/>
              <a:defRPr/>
            </a:lvl2pPr>
            <a:lvl3pPr>
              <a:buNone/>
              <a:defRPr/>
            </a:lvl3pPr>
            <a:lvl4pPr>
              <a:buNone/>
              <a:defRPr/>
            </a:lvl4pPr>
            <a:lvl5pPr>
              <a:buNone/>
              <a:defRPr/>
            </a:lvl5pPr>
          </a:lstStyle>
          <a:p>
            <a:pPr lvl="0"/>
            <a:r>
              <a:rPr lang="en-US" dirty="0" smtClean="0"/>
              <a:t>This is the copy that is written underneath the subhead that is related to the chart above.</a:t>
            </a:r>
            <a:endParaRPr lang="en-US" dirty="0"/>
          </a:p>
        </p:txBody>
      </p:sp>
    </p:spTree>
    <p:extLst>
      <p:ext uri="{BB962C8B-B14F-4D97-AF65-F5344CB8AC3E}">
        <p14:creationId xmlns:p14="http://schemas.microsoft.com/office/powerpoint/2010/main" val="38497420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Product Info Slide">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a:lstStyle/>
          <a:p>
            <a:r>
              <a:rPr lang="en-US" smtClean="0"/>
              <a:t>Click to edit Master title style</a:t>
            </a:r>
            <a:endParaRPr lang="en-US" dirty="0"/>
          </a:p>
        </p:txBody>
      </p:sp>
      <p:sp>
        <p:nvSpPr>
          <p:cNvPr id="4" name="Picture Placeholder 3"/>
          <p:cNvSpPr>
            <a:spLocks noGrp="1"/>
          </p:cNvSpPr>
          <p:nvPr>
            <p:ph type="pic" sz="quarter" idx="10"/>
          </p:nvPr>
        </p:nvSpPr>
        <p:spPr>
          <a:xfrm>
            <a:off x="5003800" y="1133867"/>
            <a:ext cx="3878263" cy="4868472"/>
          </a:xfrm>
        </p:spPr>
        <p:txBody>
          <a:bodyPr/>
          <a:lstStyle/>
          <a:p>
            <a:r>
              <a:rPr lang="en-US" smtClean="0"/>
              <a:t>Click icon to add picture</a:t>
            </a:r>
            <a:endParaRPr lang="en-US"/>
          </a:p>
        </p:txBody>
      </p:sp>
      <p:sp>
        <p:nvSpPr>
          <p:cNvPr id="5" name="Content Placeholder 5"/>
          <p:cNvSpPr>
            <a:spLocks noGrp="1"/>
          </p:cNvSpPr>
          <p:nvPr>
            <p:ph sz="quarter" idx="11" hasCustomPrompt="1"/>
          </p:nvPr>
        </p:nvSpPr>
        <p:spPr>
          <a:xfrm>
            <a:off x="444500" y="2286000"/>
            <a:ext cx="3484562" cy="288037"/>
          </a:xfrm>
        </p:spPr>
        <p:txBody>
          <a:bodyPr/>
          <a:lstStyle>
            <a:lvl1pPr>
              <a:buNone/>
              <a:defRPr sz="1200" cap="all">
                <a:solidFill>
                  <a:schemeClr val="accent2"/>
                </a:solidFill>
              </a:defRPr>
            </a:lvl1pPr>
            <a:lvl2pPr>
              <a:buNone/>
              <a:defRPr/>
            </a:lvl2pPr>
            <a:lvl3pPr>
              <a:buNone/>
              <a:defRPr/>
            </a:lvl3pPr>
            <a:lvl4pPr>
              <a:buNone/>
              <a:defRPr/>
            </a:lvl4pPr>
            <a:lvl5pPr>
              <a:buNone/>
              <a:defRPr/>
            </a:lvl5pPr>
          </a:lstStyle>
          <a:p>
            <a:pPr lvl="0"/>
            <a:r>
              <a:rPr lang="en-US" dirty="0" smtClean="0"/>
              <a:t>Product</a:t>
            </a:r>
            <a:endParaRPr lang="en-US" dirty="0"/>
          </a:p>
        </p:txBody>
      </p:sp>
      <p:sp>
        <p:nvSpPr>
          <p:cNvPr id="6" name="Text Placeholder 7"/>
          <p:cNvSpPr>
            <a:spLocks noGrp="1"/>
          </p:cNvSpPr>
          <p:nvPr>
            <p:ph type="body" sz="quarter" idx="12" hasCustomPrompt="1"/>
          </p:nvPr>
        </p:nvSpPr>
        <p:spPr>
          <a:xfrm>
            <a:off x="444500" y="2578100"/>
            <a:ext cx="3640138" cy="3045875"/>
          </a:xfrm>
        </p:spPr>
        <p:txBody>
          <a:bodyPr/>
          <a:lstStyle>
            <a:lvl1pPr marL="0" indent="0">
              <a:spcAft>
                <a:spcPts val="0"/>
              </a:spcAft>
              <a:buNone/>
              <a:defRPr sz="1400"/>
            </a:lvl1pPr>
            <a:lvl2pPr>
              <a:buNone/>
              <a:defRPr/>
            </a:lvl2pPr>
            <a:lvl3pPr>
              <a:buNone/>
              <a:defRPr/>
            </a:lvl3pPr>
            <a:lvl4pPr>
              <a:buNone/>
              <a:defRPr/>
            </a:lvl4pPr>
            <a:lvl5pPr>
              <a:buNone/>
              <a:defRPr/>
            </a:lvl5pPr>
          </a:lstStyle>
          <a:p>
            <a:pPr lvl="0"/>
            <a:r>
              <a:rPr lang="en-US" dirty="0" smtClean="0"/>
              <a:t>This is the copy that talks about the product that you see to the right of this copy block and it goes into great and interesting detail about it. This is the copy that talks about the product that you see to the right of this copy block and it goes into great and interesting detail about it. </a:t>
            </a:r>
          </a:p>
          <a:p>
            <a:pPr lvl="0"/>
            <a:endParaRPr lang="en-US" dirty="0" smtClean="0"/>
          </a:p>
          <a:p>
            <a:pPr lvl="0"/>
            <a:r>
              <a:rPr lang="en-US" dirty="0" smtClean="0"/>
              <a:t>This is the copy that talks about the product that you see to the right of this copy block and it goes into great and interesting detail about it. </a:t>
            </a:r>
          </a:p>
        </p:txBody>
      </p:sp>
    </p:spTree>
    <p:extLst>
      <p:ext uri="{BB962C8B-B14F-4D97-AF65-F5344CB8AC3E}">
        <p14:creationId xmlns:p14="http://schemas.microsoft.com/office/powerpoint/2010/main" val="12898651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Product Info Slide">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a:lstStyle/>
          <a:p>
            <a:r>
              <a:rPr lang="en-US" smtClean="0"/>
              <a:t>Click to edit Master title style</a:t>
            </a:r>
            <a:endParaRPr lang="en-US" dirty="0"/>
          </a:p>
        </p:txBody>
      </p:sp>
      <p:sp>
        <p:nvSpPr>
          <p:cNvPr id="5" name="Content Placeholder 5"/>
          <p:cNvSpPr>
            <a:spLocks noGrp="1"/>
          </p:cNvSpPr>
          <p:nvPr>
            <p:ph sz="quarter" idx="11" hasCustomPrompt="1"/>
          </p:nvPr>
        </p:nvSpPr>
        <p:spPr>
          <a:xfrm>
            <a:off x="4127500" y="2349500"/>
            <a:ext cx="3484562" cy="288037"/>
          </a:xfrm>
        </p:spPr>
        <p:txBody>
          <a:bodyPr/>
          <a:lstStyle>
            <a:lvl1pPr>
              <a:buNone/>
              <a:defRPr sz="1200" cap="all">
                <a:solidFill>
                  <a:schemeClr val="accent2"/>
                </a:solidFill>
              </a:defRPr>
            </a:lvl1pPr>
            <a:lvl2pPr>
              <a:buNone/>
              <a:defRPr/>
            </a:lvl2pPr>
            <a:lvl3pPr>
              <a:buNone/>
              <a:defRPr/>
            </a:lvl3pPr>
            <a:lvl4pPr>
              <a:buNone/>
              <a:defRPr/>
            </a:lvl4pPr>
            <a:lvl5pPr>
              <a:buNone/>
              <a:defRPr/>
            </a:lvl5pPr>
          </a:lstStyle>
          <a:p>
            <a:pPr lvl="0"/>
            <a:r>
              <a:rPr lang="en-US" dirty="0" smtClean="0"/>
              <a:t>Product</a:t>
            </a:r>
            <a:endParaRPr lang="en-US" dirty="0"/>
          </a:p>
        </p:txBody>
      </p:sp>
      <p:sp>
        <p:nvSpPr>
          <p:cNvPr id="6" name="Text Placeholder 7"/>
          <p:cNvSpPr>
            <a:spLocks noGrp="1"/>
          </p:cNvSpPr>
          <p:nvPr>
            <p:ph type="body" sz="quarter" idx="12" hasCustomPrompt="1"/>
          </p:nvPr>
        </p:nvSpPr>
        <p:spPr>
          <a:xfrm>
            <a:off x="4127499" y="2642674"/>
            <a:ext cx="4385555" cy="854934"/>
          </a:xfrm>
        </p:spPr>
        <p:txBody>
          <a:bodyPr/>
          <a:lstStyle>
            <a:lvl1pPr marL="0" indent="0">
              <a:spcAft>
                <a:spcPts val="0"/>
              </a:spcAft>
              <a:buNone/>
              <a:defRPr sz="1400"/>
            </a:lvl1pPr>
            <a:lvl2pPr>
              <a:buNone/>
              <a:defRPr/>
            </a:lvl2pPr>
            <a:lvl3pPr>
              <a:buNone/>
              <a:defRPr/>
            </a:lvl3pPr>
            <a:lvl4pPr>
              <a:buNone/>
              <a:defRPr/>
            </a:lvl4pPr>
            <a:lvl5pPr>
              <a:buNone/>
              <a:defRPr/>
            </a:lvl5pPr>
          </a:lstStyle>
          <a:p>
            <a:pPr lvl="0"/>
            <a:r>
              <a:rPr lang="en-US" dirty="0" smtClean="0"/>
              <a:t>This is the copy that talks about the product that you see to the left of this copy block and it goes into great and interesting detail about it.</a:t>
            </a:r>
          </a:p>
        </p:txBody>
      </p:sp>
      <p:sp>
        <p:nvSpPr>
          <p:cNvPr id="7" name="Text Placeholder 7"/>
          <p:cNvSpPr>
            <a:spLocks noGrp="1"/>
          </p:cNvSpPr>
          <p:nvPr>
            <p:ph type="body" sz="quarter" idx="13" hasCustomPrompt="1"/>
          </p:nvPr>
        </p:nvSpPr>
        <p:spPr>
          <a:xfrm>
            <a:off x="4127499" y="3535905"/>
            <a:ext cx="4385555" cy="1070171"/>
          </a:xfrm>
        </p:spPr>
        <p:txBody>
          <a:bodyPr/>
          <a:lstStyle>
            <a:lvl1pPr marL="182563" indent="-182563">
              <a:spcAft>
                <a:spcPts val="0"/>
              </a:spcAft>
              <a:buClr>
                <a:schemeClr val="accent4"/>
              </a:buClr>
              <a:buSzPct val="100000"/>
              <a:buFont typeface="Arial Bold"/>
              <a:buChar char="&gt;"/>
              <a:defRPr sz="1400"/>
            </a:lvl1pPr>
            <a:lvl2pPr>
              <a:buNone/>
              <a:defRPr/>
            </a:lvl2pPr>
            <a:lvl3pPr>
              <a:buNone/>
              <a:defRPr/>
            </a:lvl3pPr>
            <a:lvl4pPr>
              <a:buNone/>
              <a:defRPr/>
            </a:lvl4pPr>
            <a:lvl5pPr>
              <a:buNone/>
              <a:defRPr/>
            </a:lvl5pPr>
          </a:lstStyle>
          <a:p>
            <a:pPr lvl="0"/>
            <a:r>
              <a:rPr lang="en-US" dirty="0" smtClean="0"/>
              <a:t>This is bullet point about the product on the left</a:t>
            </a:r>
          </a:p>
          <a:p>
            <a:pPr lvl="0"/>
            <a:r>
              <a:rPr lang="en-US" dirty="0" smtClean="0"/>
              <a:t>This is bullet point about the product on the left</a:t>
            </a:r>
          </a:p>
          <a:p>
            <a:pPr lvl="0"/>
            <a:r>
              <a:rPr lang="en-US" dirty="0" smtClean="0"/>
              <a:t>This is bullet point about the product on the left</a:t>
            </a:r>
          </a:p>
        </p:txBody>
      </p:sp>
      <p:sp>
        <p:nvSpPr>
          <p:cNvPr id="9" name="Content Placeholder 8"/>
          <p:cNvSpPr>
            <a:spLocks noGrp="1"/>
          </p:cNvSpPr>
          <p:nvPr>
            <p:ph sz="quarter" idx="14"/>
          </p:nvPr>
        </p:nvSpPr>
        <p:spPr>
          <a:xfrm>
            <a:off x="517525" y="2087563"/>
            <a:ext cx="3571875" cy="3783012"/>
          </a:xfrm>
        </p:spPr>
        <p:txBody>
          <a:bodyPr/>
          <a:lstStyle/>
          <a:p>
            <a:pPr lvl="0"/>
            <a:r>
              <a:rPr lang="en-US" smtClean="0"/>
              <a:t>Click to edit Master text styles</a:t>
            </a:r>
          </a:p>
        </p:txBody>
      </p:sp>
    </p:spTree>
    <p:extLst>
      <p:ext uri="{BB962C8B-B14F-4D97-AF65-F5344CB8AC3E}">
        <p14:creationId xmlns:p14="http://schemas.microsoft.com/office/powerpoint/2010/main" val="9221778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wo Image">
    <p:spTree>
      <p:nvGrpSpPr>
        <p:cNvPr id="1" name=""/>
        <p:cNvGrpSpPr/>
        <p:nvPr/>
      </p:nvGrpSpPr>
      <p:grpSpPr>
        <a:xfrm>
          <a:off x="0" y="0"/>
          <a:ext cx="0" cy="0"/>
          <a:chOff x="0" y="0"/>
          <a:chExt cx="0" cy="0"/>
        </a:xfrm>
      </p:grpSpPr>
      <p:sp>
        <p:nvSpPr>
          <p:cNvPr id="10" name="Rectangle 9"/>
          <p:cNvSpPr/>
          <p:nvPr userDrawn="1"/>
        </p:nvSpPr>
        <p:spPr>
          <a:xfrm>
            <a:off x="0" y="0"/>
            <a:ext cx="9144000" cy="580571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816374"/>
            <a:endParaRPr lang="en-US" sz="1600">
              <a:solidFill>
                <a:srgbClr val="FFFFFF"/>
              </a:solidFill>
            </a:endParaRPr>
          </a:p>
        </p:txBody>
      </p:sp>
      <p:sp>
        <p:nvSpPr>
          <p:cNvPr id="5" name="Content Placeholder 4"/>
          <p:cNvSpPr>
            <a:spLocks noGrp="1"/>
          </p:cNvSpPr>
          <p:nvPr>
            <p:ph sz="quarter" idx="10"/>
          </p:nvPr>
        </p:nvSpPr>
        <p:spPr>
          <a:xfrm>
            <a:off x="190500" y="1143000"/>
            <a:ext cx="4318000" cy="4699000"/>
          </a:xfrm>
        </p:spPr>
        <p:txBody>
          <a:bodyPr/>
          <a:lstStyle/>
          <a:p>
            <a:pPr lvl="0"/>
            <a:r>
              <a:rPr lang="en-US" smtClean="0"/>
              <a:t>Click to edit Master text styles</a:t>
            </a:r>
          </a:p>
        </p:txBody>
      </p:sp>
      <p:sp>
        <p:nvSpPr>
          <p:cNvPr id="6" name="Content Placeholder 4"/>
          <p:cNvSpPr>
            <a:spLocks noGrp="1"/>
          </p:cNvSpPr>
          <p:nvPr>
            <p:ph sz="quarter" idx="11"/>
          </p:nvPr>
        </p:nvSpPr>
        <p:spPr>
          <a:xfrm>
            <a:off x="4572000" y="1143000"/>
            <a:ext cx="4318000" cy="4699000"/>
          </a:xfrm>
        </p:spPr>
        <p:txBody>
          <a:bodyPr/>
          <a:lstStyle/>
          <a:p>
            <a:pPr lvl="0"/>
            <a:r>
              <a:rPr lang="en-US" smtClean="0"/>
              <a:t>Click to edit Master text styles</a:t>
            </a:r>
          </a:p>
        </p:txBody>
      </p:sp>
      <p:sp>
        <p:nvSpPr>
          <p:cNvPr id="9" name="Text Placeholder 7"/>
          <p:cNvSpPr>
            <a:spLocks noGrp="1"/>
          </p:cNvSpPr>
          <p:nvPr>
            <p:ph type="body" sz="quarter" idx="12" hasCustomPrompt="1"/>
          </p:nvPr>
        </p:nvSpPr>
        <p:spPr>
          <a:xfrm>
            <a:off x="190500" y="317500"/>
            <a:ext cx="4335462" cy="711200"/>
          </a:xfrm>
        </p:spPr>
        <p:txBody>
          <a:bodyPr/>
          <a:lstStyle>
            <a:lvl1pPr>
              <a:buNone/>
              <a:defRPr sz="1050" cap="all">
                <a:solidFill>
                  <a:srgbClr val="EB6E1E"/>
                </a:solidFill>
              </a:defRPr>
            </a:lvl1pPr>
            <a:lvl2pPr>
              <a:buNone/>
              <a:defRPr/>
            </a:lvl2pPr>
            <a:lvl3pPr>
              <a:buNone/>
              <a:defRPr/>
            </a:lvl3pPr>
            <a:lvl4pPr>
              <a:buNone/>
              <a:defRPr/>
            </a:lvl4pPr>
            <a:lvl5pPr>
              <a:buNone/>
              <a:defRPr/>
            </a:lvl5pPr>
          </a:lstStyle>
          <a:p>
            <a:pPr lvl="0"/>
            <a:r>
              <a:rPr lang="en-US" dirty="0" smtClean="0"/>
              <a:t>HEADLINE</a:t>
            </a:r>
          </a:p>
          <a:p>
            <a:pPr lvl="0"/>
            <a:r>
              <a:rPr lang="en-US" dirty="0" smtClean="0"/>
              <a:t>GOES HERE</a:t>
            </a:r>
            <a:endParaRPr lang="en-US" dirty="0"/>
          </a:p>
        </p:txBody>
      </p:sp>
    </p:spTree>
    <p:extLst>
      <p:ext uri="{BB962C8B-B14F-4D97-AF65-F5344CB8AC3E}">
        <p14:creationId xmlns:p14="http://schemas.microsoft.com/office/powerpoint/2010/main" val="13223908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Two Image">
    <p:spTree>
      <p:nvGrpSpPr>
        <p:cNvPr id="1" name=""/>
        <p:cNvGrpSpPr/>
        <p:nvPr/>
      </p:nvGrpSpPr>
      <p:grpSpPr>
        <a:xfrm>
          <a:off x="0" y="0"/>
          <a:ext cx="0" cy="0"/>
          <a:chOff x="0" y="0"/>
          <a:chExt cx="0" cy="0"/>
        </a:xfrm>
      </p:grpSpPr>
      <p:sp>
        <p:nvSpPr>
          <p:cNvPr id="10" name="Rectangle 9"/>
          <p:cNvSpPr/>
          <p:nvPr userDrawn="1"/>
        </p:nvSpPr>
        <p:spPr>
          <a:xfrm>
            <a:off x="0" y="0"/>
            <a:ext cx="9144000" cy="580571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816374"/>
            <a:endParaRPr lang="en-US" sz="1600">
              <a:solidFill>
                <a:srgbClr val="FFFFFF"/>
              </a:solidFill>
            </a:endParaRPr>
          </a:p>
        </p:txBody>
      </p:sp>
      <p:sp>
        <p:nvSpPr>
          <p:cNvPr id="5" name="Content Placeholder 4"/>
          <p:cNvSpPr>
            <a:spLocks noGrp="1"/>
          </p:cNvSpPr>
          <p:nvPr>
            <p:ph sz="quarter" idx="10"/>
          </p:nvPr>
        </p:nvSpPr>
        <p:spPr>
          <a:xfrm>
            <a:off x="1714500" y="317499"/>
            <a:ext cx="3556000" cy="5553075"/>
          </a:xfrm>
        </p:spPr>
        <p:txBody>
          <a:bodyPr/>
          <a:lstStyle/>
          <a:p>
            <a:pPr lvl="0"/>
            <a:r>
              <a:rPr lang="en-US" smtClean="0"/>
              <a:t>Click to edit Master text styles</a:t>
            </a:r>
          </a:p>
        </p:txBody>
      </p:sp>
      <p:sp>
        <p:nvSpPr>
          <p:cNvPr id="9" name="Text Placeholder 7"/>
          <p:cNvSpPr>
            <a:spLocks noGrp="1"/>
          </p:cNvSpPr>
          <p:nvPr>
            <p:ph type="body" sz="quarter" idx="12" hasCustomPrompt="1"/>
          </p:nvPr>
        </p:nvSpPr>
        <p:spPr>
          <a:xfrm>
            <a:off x="171966" y="317500"/>
            <a:ext cx="1470177" cy="711200"/>
          </a:xfrm>
        </p:spPr>
        <p:txBody>
          <a:bodyPr/>
          <a:lstStyle>
            <a:lvl1pPr>
              <a:buNone/>
              <a:defRPr sz="1050" cap="all">
                <a:solidFill>
                  <a:schemeClr val="accent2"/>
                </a:solidFill>
              </a:defRPr>
            </a:lvl1pPr>
            <a:lvl2pPr>
              <a:buNone/>
              <a:defRPr/>
            </a:lvl2pPr>
            <a:lvl3pPr>
              <a:buNone/>
              <a:defRPr/>
            </a:lvl3pPr>
            <a:lvl4pPr>
              <a:buNone/>
              <a:defRPr/>
            </a:lvl4pPr>
            <a:lvl5pPr>
              <a:buNone/>
              <a:defRPr/>
            </a:lvl5pPr>
          </a:lstStyle>
          <a:p>
            <a:pPr lvl="0"/>
            <a:r>
              <a:rPr lang="en-US" dirty="0" smtClean="0"/>
              <a:t>HEADLINE</a:t>
            </a:r>
          </a:p>
          <a:p>
            <a:pPr lvl="0"/>
            <a:r>
              <a:rPr lang="en-US" dirty="0" smtClean="0"/>
              <a:t>GOES HERE</a:t>
            </a:r>
            <a:endParaRPr lang="en-US" dirty="0"/>
          </a:p>
        </p:txBody>
      </p:sp>
      <p:sp>
        <p:nvSpPr>
          <p:cNvPr id="8" name="Content Placeholder 4"/>
          <p:cNvSpPr>
            <a:spLocks noGrp="1"/>
          </p:cNvSpPr>
          <p:nvPr>
            <p:ph sz="quarter" idx="13"/>
          </p:nvPr>
        </p:nvSpPr>
        <p:spPr>
          <a:xfrm>
            <a:off x="5373714" y="317499"/>
            <a:ext cx="3556000" cy="5553075"/>
          </a:xfrm>
        </p:spPr>
        <p:txBody>
          <a:bodyPr/>
          <a:lstStyle/>
          <a:p>
            <a:pPr lvl="0"/>
            <a:r>
              <a:rPr lang="en-US" smtClean="0"/>
              <a:t>Click to edit Master text styles</a:t>
            </a:r>
          </a:p>
        </p:txBody>
      </p:sp>
      <p:sp>
        <p:nvSpPr>
          <p:cNvPr id="11" name="Text Placeholder 10"/>
          <p:cNvSpPr>
            <a:spLocks noGrp="1"/>
          </p:cNvSpPr>
          <p:nvPr>
            <p:ph type="body" sz="quarter" idx="14" hasCustomPrompt="1"/>
          </p:nvPr>
        </p:nvSpPr>
        <p:spPr>
          <a:xfrm>
            <a:off x="190500" y="1905000"/>
            <a:ext cx="1397000" cy="2857500"/>
          </a:xfrm>
        </p:spPr>
        <p:txBody>
          <a:bodyPr/>
          <a:lstStyle>
            <a:lvl1pPr marL="0" indent="0">
              <a:buNone/>
              <a:defRPr sz="1100"/>
            </a:lvl1pPr>
            <a:lvl2pPr>
              <a:buNone/>
              <a:defRPr sz="1100"/>
            </a:lvl2pPr>
            <a:lvl3pPr>
              <a:buNone/>
              <a:defRPr sz="1100"/>
            </a:lvl3pPr>
            <a:lvl4pPr>
              <a:buNone/>
              <a:defRPr sz="1100"/>
            </a:lvl4pPr>
            <a:lvl5pPr>
              <a:buNone/>
              <a:defRPr sz="1100"/>
            </a:lvl5pPr>
          </a:lstStyle>
          <a:p>
            <a:pPr lvl="0"/>
            <a:r>
              <a:rPr lang="en-US" dirty="0" smtClean="0"/>
              <a:t>This is the copy that talks about the images that you see to the right of this copy block and it goes into great and interesting detail about it. </a:t>
            </a:r>
          </a:p>
          <a:p>
            <a:pPr lvl="0"/>
            <a:r>
              <a:rPr lang="en-US" dirty="0" smtClean="0"/>
              <a:t>This is the copy that talks about the images that you see to the right of this copy block and it goes into great and interesting detail about it. </a:t>
            </a:r>
            <a:endParaRPr lang="en-US" dirty="0"/>
          </a:p>
        </p:txBody>
      </p:sp>
    </p:spTree>
    <p:extLst>
      <p:ext uri="{BB962C8B-B14F-4D97-AF65-F5344CB8AC3E}">
        <p14:creationId xmlns:p14="http://schemas.microsoft.com/office/powerpoint/2010/main" val="32210778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our Image">
    <p:spTree>
      <p:nvGrpSpPr>
        <p:cNvPr id="1" name=""/>
        <p:cNvGrpSpPr/>
        <p:nvPr/>
      </p:nvGrpSpPr>
      <p:grpSpPr>
        <a:xfrm>
          <a:off x="0" y="0"/>
          <a:ext cx="0" cy="0"/>
          <a:chOff x="0" y="0"/>
          <a:chExt cx="0" cy="0"/>
        </a:xfrm>
      </p:grpSpPr>
      <p:sp>
        <p:nvSpPr>
          <p:cNvPr id="10" name="Rectangle 9"/>
          <p:cNvSpPr/>
          <p:nvPr userDrawn="1"/>
        </p:nvSpPr>
        <p:spPr>
          <a:xfrm>
            <a:off x="0" y="0"/>
            <a:ext cx="9144000" cy="580571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816374"/>
            <a:endParaRPr lang="en-US" sz="1600">
              <a:solidFill>
                <a:srgbClr val="FFFFFF"/>
              </a:solidFill>
            </a:endParaRPr>
          </a:p>
        </p:txBody>
      </p:sp>
      <p:sp>
        <p:nvSpPr>
          <p:cNvPr id="5" name="Content Placeholder 4"/>
          <p:cNvSpPr>
            <a:spLocks noGrp="1"/>
          </p:cNvSpPr>
          <p:nvPr>
            <p:ph sz="quarter" idx="10"/>
          </p:nvPr>
        </p:nvSpPr>
        <p:spPr>
          <a:xfrm>
            <a:off x="1714500" y="317500"/>
            <a:ext cx="3556000" cy="2667000"/>
          </a:xfrm>
        </p:spPr>
        <p:txBody>
          <a:bodyPr/>
          <a:lstStyle/>
          <a:p>
            <a:pPr lvl="0"/>
            <a:r>
              <a:rPr lang="en-US" smtClean="0"/>
              <a:t>Click to edit Master text styles</a:t>
            </a:r>
          </a:p>
        </p:txBody>
      </p:sp>
      <p:sp>
        <p:nvSpPr>
          <p:cNvPr id="9" name="Text Placeholder 7"/>
          <p:cNvSpPr>
            <a:spLocks noGrp="1"/>
          </p:cNvSpPr>
          <p:nvPr>
            <p:ph type="body" sz="quarter" idx="12" hasCustomPrompt="1"/>
          </p:nvPr>
        </p:nvSpPr>
        <p:spPr>
          <a:xfrm>
            <a:off x="171966" y="317500"/>
            <a:ext cx="1470177" cy="711200"/>
          </a:xfrm>
        </p:spPr>
        <p:txBody>
          <a:bodyPr/>
          <a:lstStyle>
            <a:lvl1pPr>
              <a:buNone/>
              <a:defRPr sz="1050" cap="all">
                <a:solidFill>
                  <a:srgbClr val="EB6E1E"/>
                </a:solidFill>
              </a:defRPr>
            </a:lvl1pPr>
            <a:lvl2pPr>
              <a:buNone/>
              <a:defRPr/>
            </a:lvl2pPr>
            <a:lvl3pPr>
              <a:buNone/>
              <a:defRPr/>
            </a:lvl3pPr>
            <a:lvl4pPr>
              <a:buNone/>
              <a:defRPr/>
            </a:lvl4pPr>
            <a:lvl5pPr>
              <a:buNone/>
              <a:defRPr/>
            </a:lvl5pPr>
          </a:lstStyle>
          <a:p>
            <a:pPr lvl="0"/>
            <a:r>
              <a:rPr lang="en-US" dirty="0" smtClean="0"/>
              <a:t>HEADLINE</a:t>
            </a:r>
          </a:p>
          <a:p>
            <a:pPr lvl="0"/>
            <a:r>
              <a:rPr lang="en-US" dirty="0" smtClean="0"/>
              <a:t>GOES HERE</a:t>
            </a:r>
            <a:endParaRPr lang="en-US" dirty="0"/>
          </a:p>
        </p:txBody>
      </p:sp>
      <p:sp>
        <p:nvSpPr>
          <p:cNvPr id="8" name="Content Placeholder 4"/>
          <p:cNvSpPr>
            <a:spLocks noGrp="1"/>
          </p:cNvSpPr>
          <p:nvPr>
            <p:ph sz="quarter" idx="13"/>
          </p:nvPr>
        </p:nvSpPr>
        <p:spPr>
          <a:xfrm>
            <a:off x="5373714" y="317500"/>
            <a:ext cx="3556000" cy="2667000"/>
          </a:xfrm>
        </p:spPr>
        <p:txBody>
          <a:bodyPr/>
          <a:lstStyle/>
          <a:p>
            <a:pPr lvl="0"/>
            <a:r>
              <a:rPr lang="en-US" smtClean="0"/>
              <a:t>Click to edit Master text styles</a:t>
            </a:r>
          </a:p>
        </p:txBody>
      </p:sp>
      <p:sp>
        <p:nvSpPr>
          <p:cNvPr id="11" name="Content Placeholder 4"/>
          <p:cNvSpPr>
            <a:spLocks noGrp="1"/>
          </p:cNvSpPr>
          <p:nvPr>
            <p:ph sz="quarter" idx="14"/>
          </p:nvPr>
        </p:nvSpPr>
        <p:spPr>
          <a:xfrm>
            <a:off x="1714500" y="3072538"/>
            <a:ext cx="3556000" cy="2667000"/>
          </a:xfrm>
        </p:spPr>
        <p:txBody>
          <a:bodyPr/>
          <a:lstStyle/>
          <a:p>
            <a:pPr lvl="0"/>
            <a:r>
              <a:rPr lang="en-US" smtClean="0"/>
              <a:t>Click to edit Master text styles</a:t>
            </a:r>
          </a:p>
        </p:txBody>
      </p:sp>
      <p:sp>
        <p:nvSpPr>
          <p:cNvPr id="12" name="Content Placeholder 4"/>
          <p:cNvSpPr>
            <a:spLocks noGrp="1"/>
          </p:cNvSpPr>
          <p:nvPr>
            <p:ph sz="quarter" idx="15"/>
          </p:nvPr>
        </p:nvSpPr>
        <p:spPr>
          <a:xfrm>
            <a:off x="5373714" y="3072538"/>
            <a:ext cx="3556000" cy="2667000"/>
          </a:xfrm>
        </p:spPr>
        <p:txBody>
          <a:bodyPr/>
          <a:lstStyle/>
          <a:p>
            <a:pPr lvl="0"/>
            <a:r>
              <a:rPr lang="en-US" smtClean="0"/>
              <a:t>Click to edit Master text styles</a:t>
            </a:r>
          </a:p>
        </p:txBody>
      </p:sp>
      <p:sp>
        <p:nvSpPr>
          <p:cNvPr id="15" name="Text Placeholder 14"/>
          <p:cNvSpPr>
            <a:spLocks noGrp="1"/>
          </p:cNvSpPr>
          <p:nvPr>
            <p:ph type="body" sz="quarter" idx="16" hasCustomPrompt="1"/>
          </p:nvPr>
        </p:nvSpPr>
        <p:spPr>
          <a:xfrm>
            <a:off x="190500" y="1905000"/>
            <a:ext cx="1397000" cy="2857500"/>
          </a:xfrm>
        </p:spPr>
        <p:txBody>
          <a:bodyPr/>
          <a:lstStyle>
            <a:lvl1pPr marL="0" indent="0">
              <a:buNone/>
              <a:defRPr sz="1100"/>
            </a:lvl1pPr>
            <a:lvl2pPr>
              <a:buNone/>
              <a:defRPr sz="1100"/>
            </a:lvl2pPr>
            <a:lvl3pPr>
              <a:buNone/>
              <a:defRPr sz="1100"/>
            </a:lvl3pPr>
            <a:lvl4pPr>
              <a:buNone/>
              <a:defRPr sz="1100"/>
            </a:lvl4pPr>
            <a:lvl5pPr>
              <a:buNone/>
              <a:defRPr sz="1100"/>
            </a:lvl5pPr>
          </a:lstStyle>
          <a:p>
            <a:pPr lvl="0"/>
            <a:r>
              <a:rPr lang="en-US" dirty="0" smtClean="0"/>
              <a:t>This is the copy that talks about the images that you see to the right of this copy block and it goes into great and interesting detail about it. </a:t>
            </a:r>
          </a:p>
          <a:p>
            <a:pPr lvl="0"/>
            <a:r>
              <a:rPr lang="en-US" dirty="0" smtClean="0"/>
              <a:t>This is the copy that talks about the images that you see to the right of this copy block and it goes into great and interesting detail about it. </a:t>
            </a:r>
            <a:endParaRPr lang="en-US" dirty="0"/>
          </a:p>
        </p:txBody>
      </p:sp>
    </p:spTree>
    <p:extLst>
      <p:ext uri="{BB962C8B-B14F-4D97-AF65-F5344CB8AC3E}">
        <p14:creationId xmlns:p14="http://schemas.microsoft.com/office/powerpoint/2010/main" val="17342894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Objec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quarter" idx="10"/>
          </p:nvPr>
        </p:nvSpPr>
        <p:spPr>
          <a:xfrm>
            <a:off x="222250" y="1151123"/>
            <a:ext cx="8699500" cy="4826000"/>
          </a:xfrm>
        </p:spPr>
        <p:txBody>
          <a:bodyPr/>
          <a:lstStyle>
            <a:lvl1pPr>
              <a:buNone/>
              <a:defRPr/>
            </a:lvl1pPr>
            <a:lvl2pPr>
              <a:buNone/>
              <a:defRPr/>
            </a:lvl2pPr>
            <a:lvl3pPr>
              <a:buNone/>
              <a:defRPr/>
            </a:lvl3pPr>
            <a:lvl4pPr>
              <a:buNone/>
              <a:defRPr/>
            </a:lvl4pPr>
            <a:lvl5pPr>
              <a:buNone/>
              <a:defRPr/>
            </a:lvl5pPr>
          </a:lstStyle>
          <a:p>
            <a:pPr lvl="0"/>
            <a:r>
              <a:rPr lang="en-US" smtClean="0"/>
              <a:t>Click to edit Master text styles</a:t>
            </a:r>
          </a:p>
        </p:txBody>
      </p:sp>
    </p:spTree>
    <p:extLst>
      <p:ext uri="{BB962C8B-B14F-4D97-AF65-F5344CB8AC3E}">
        <p14:creationId xmlns:p14="http://schemas.microsoft.com/office/powerpoint/2010/main" val="327457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816374"/>
            <a:endParaRPr lang="en-US" sz="1600">
              <a:solidFill>
                <a:srgbClr val="FFFFFF"/>
              </a:solidFill>
            </a:endParaRPr>
          </a:p>
        </p:txBody>
      </p:sp>
    </p:spTree>
    <p:extLst>
      <p:ext uri="{BB962C8B-B14F-4D97-AF65-F5344CB8AC3E}">
        <p14:creationId xmlns:p14="http://schemas.microsoft.com/office/powerpoint/2010/main" val="250454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7499791"/>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CH"/>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CH"/>
          </a:p>
        </p:txBody>
      </p:sp>
    </p:spTree>
    <p:extLst>
      <p:ext uri="{BB962C8B-B14F-4D97-AF65-F5344CB8AC3E}">
        <p14:creationId xmlns:p14="http://schemas.microsoft.com/office/powerpoint/2010/main" val="17309723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template_master_footer_HighEnergy_022912.jpg"/>
          <p:cNvPicPr>
            <a:picLocks noChangeAspect="1"/>
          </p:cNvPicPr>
          <p:nvPr/>
        </p:nvPicPr>
        <p:blipFill>
          <a:blip r:embed="rId25"/>
          <a:stretch>
            <a:fillRect/>
          </a:stretch>
        </p:blipFill>
        <p:spPr>
          <a:xfrm>
            <a:off x="3048" y="5981700"/>
            <a:ext cx="9137904" cy="877824"/>
          </a:xfrm>
          <a:prstGeom prst="rect">
            <a:avLst/>
          </a:prstGeom>
        </p:spPr>
      </p:pic>
      <p:sp>
        <p:nvSpPr>
          <p:cNvPr id="2" name="Title Placeholder 1"/>
          <p:cNvSpPr>
            <a:spLocks noGrp="1"/>
          </p:cNvSpPr>
          <p:nvPr>
            <p:ph type="title"/>
          </p:nvPr>
        </p:nvSpPr>
        <p:spPr bwMode="auto">
          <a:xfrm>
            <a:off x="406400" y="117475"/>
            <a:ext cx="835025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US" dirty="0"/>
          </a:p>
        </p:txBody>
      </p:sp>
      <p:sp>
        <p:nvSpPr>
          <p:cNvPr id="1028" name="Text Placeholder 2"/>
          <p:cNvSpPr>
            <a:spLocks noGrp="1"/>
          </p:cNvSpPr>
          <p:nvPr>
            <p:ph type="body" idx="1"/>
          </p:nvPr>
        </p:nvSpPr>
        <p:spPr bwMode="auto">
          <a:xfrm>
            <a:off x="403225" y="1439863"/>
            <a:ext cx="8353425" cy="4464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13" name="Straight Connector 12"/>
          <p:cNvCxnSpPr/>
          <p:nvPr/>
        </p:nvCxnSpPr>
        <p:spPr>
          <a:xfrm>
            <a:off x="227350" y="1122363"/>
            <a:ext cx="8686360" cy="1588"/>
          </a:xfrm>
          <a:prstGeom prst="line">
            <a:avLst/>
          </a:prstGeom>
          <a:ln w="6350" cap="rnd" cmpd="sng" algn="ctr">
            <a:solidFill>
              <a:srgbClr val="9EABB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93073" y="6145346"/>
            <a:ext cx="1927679" cy="337684"/>
          </a:xfrm>
          <a:prstGeom prst="rect">
            <a:avLst/>
          </a:prstGeom>
          <a:noFill/>
        </p:spPr>
        <p:txBody>
          <a:bodyPr lIns="0" tIns="0" rIns="0" bIns="0" anchor="ctr">
            <a:prstTxWarp prst="textNoShape">
              <a:avLst/>
            </a:prstTxWarp>
          </a:bodyPr>
          <a:lstStyle/>
          <a:p>
            <a:pPr algn="r" defTabSz="457200" fontAlgn="base">
              <a:spcBef>
                <a:spcPct val="0"/>
              </a:spcBef>
              <a:spcAft>
                <a:spcPct val="0"/>
              </a:spcAft>
              <a:defRPr/>
            </a:pPr>
            <a:fld id="{18996E93-C050-47F8-87B9-41C0E59F14D4}" type="slidenum">
              <a:rPr lang="en-US" sz="800" b="1">
                <a:solidFill>
                  <a:srgbClr val="FFFFFF"/>
                </a:solidFill>
                <a:ea typeface="Arial" pitchFamily="-123" charset="0"/>
                <a:cs typeface="Arial" pitchFamily="-123" charset="0"/>
              </a:rPr>
              <a:pPr algn="r" defTabSz="457200" fontAlgn="base">
                <a:spcBef>
                  <a:spcPct val="0"/>
                </a:spcBef>
                <a:spcAft>
                  <a:spcPct val="0"/>
                </a:spcAft>
                <a:defRPr/>
              </a:pPr>
              <a:t>‹#›</a:t>
            </a:fld>
            <a:r>
              <a:rPr lang="en-US" sz="800" b="1" dirty="0">
                <a:solidFill>
                  <a:srgbClr val="FFFFFF"/>
                </a:solidFill>
                <a:ea typeface="Arial" pitchFamily="-123" charset="0"/>
                <a:cs typeface="Arial" pitchFamily="-123" charset="0"/>
              </a:rPr>
              <a:t>   </a:t>
            </a:r>
            <a:r>
              <a:rPr lang="en-US" sz="800" dirty="0">
                <a:solidFill>
                  <a:srgbClr val="FFFFFF"/>
                </a:solidFill>
              </a:rPr>
              <a:t>|</a:t>
            </a:r>
            <a:r>
              <a:rPr lang="en-US" sz="800" b="1" dirty="0">
                <a:solidFill>
                  <a:srgbClr val="FFFFFF"/>
                </a:solidFill>
              </a:rPr>
              <a:t>   </a:t>
            </a:r>
            <a:r>
              <a:rPr lang="en-US" sz="800" cap="all" dirty="0">
                <a:solidFill>
                  <a:srgbClr val="FFFFFF"/>
                </a:solidFill>
              </a:rPr>
              <a:t>Varian Oncology Systems</a:t>
            </a:r>
            <a:endParaRPr lang="en-US" sz="800" b="1" dirty="0">
              <a:solidFill>
                <a:srgbClr val="FFFFFF"/>
              </a:solidFill>
            </a:endParaRPr>
          </a:p>
        </p:txBody>
      </p:sp>
    </p:spTree>
    <p:extLst>
      <p:ext uri="{BB962C8B-B14F-4D97-AF65-F5344CB8AC3E}">
        <p14:creationId xmlns:p14="http://schemas.microsoft.com/office/powerpoint/2010/main" val="10961989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3" r:id="rId22"/>
    <p:sldLayoutId id="2147483684" r:id="rId23"/>
  </p:sldLayoutIdLst>
  <p:timing>
    <p:tnLst>
      <p:par>
        <p:cTn id="1" dur="indefinite" restart="never" nodeType="tmRoot"/>
      </p:par>
    </p:tnLst>
  </p:timing>
  <p:hf sldNum="0" hdr="0" ftr="0" dt="0"/>
  <p:txStyles>
    <p:titleStyle>
      <a:lvl1pPr algn="l" defTabSz="457200" rtl="0" eaLnBrk="1" fontAlgn="base" hangingPunct="1">
        <a:spcBef>
          <a:spcPct val="0"/>
        </a:spcBef>
        <a:spcAft>
          <a:spcPct val="0"/>
        </a:spcAft>
        <a:defRPr sz="3500" kern="1200">
          <a:solidFill>
            <a:schemeClr val="accent2"/>
          </a:solidFill>
          <a:latin typeface="Arial"/>
          <a:ea typeface="ＭＳ Ｐゴシック" charset="-128"/>
          <a:cs typeface="Arial"/>
        </a:defRPr>
      </a:lvl1pPr>
      <a:lvl2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2pPr>
      <a:lvl3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3pPr>
      <a:lvl4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4pPr>
      <a:lvl5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5pPr>
      <a:lvl6pPr marL="4572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SzPct val="75000"/>
        <a:buFont typeface="Arial" charset="0"/>
        <a:buChar char="•"/>
        <a:defRPr sz="3200" kern="1200">
          <a:solidFill>
            <a:srgbClr val="374957"/>
          </a:solidFill>
          <a:latin typeface="Arial"/>
          <a:ea typeface="ＭＳ Ｐゴシック" charset="-128"/>
          <a:cs typeface="ＭＳ Ｐゴシック" charset="-128"/>
        </a:defRPr>
      </a:lvl1pPr>
      <a:lvl2pPr marL="742950" indent="-285750" algn="l" defTabSz="457200" rtl="0" eaLnBrk="1" fontAlgn="base" hangingPunct="1">
        <a:spcBef>
          <a:spcPct val="20000"/>
        </a:spcBef>
        <a:spcAft>
          <a:spcPct val="0"/>
        </a:spcAft>
        <a:buSzPct val="75000"/>
        <a:buFont typeface="Arial" charset="0"/>
        <a:buChar char="•"/>
        <a:defRPr sz="2800" kern="1200">
          <a:solidFill>
            <a:srgbClr val="374957"/>
          </a:solidFill>
          <a:latin typeface="Arial"/>
          <a:ea typeface="ＭＳ Ｐゴシック" charset="-128"/>
          <a:cs typeface="+mn-cs"/>
        </a:defRPr>
      </a:lvl2pPr>
      <a:lvl3pPr marL="1143000" indent="-228600" algn="l" defTabSz="457200" rtl="0" eaLnBrk="1" fontAlgn="base" hangingPunct="1">
        <a:spcBef>
          <a:spcPct val="20000"/>
        </a:spcBef>
        <a:spcAft>
          <a:spcPct val="0"/>
        </a:spcAft>
        <a:buSzPct val="75000"/>
        <a:buFont typeface="Arial" charset="0"/>
        <a:buChar char="•"/>
        <a:defRPr sz="2400" kern="1200">
          <a:solidFill>
            <a:srgbClr val="374957"/>
          </a:solidFill>
          <a:latin typeface="Arial"/>
          <a:ea typeface="ＭＳ Ｐゴシック" charset="-128"/>
          <a:cs typeface="+mn-cs"/>
        </a:defRPr>
      </a:lvl3pPr>
      <a:lvl4pPr marL="1600200" indent="-228600" algn="l" defTabSz="457200" rtl="0" eaLnBrk="1" fontAlgn="base" hangingPunct="1">
        <a:spcBef>
          <a:spcPct val="20000"/>
        </a:spcBef>
        <a:spcAft>
          <a:spcPct val="0"/>
        </a:spcAft>
        <a:buSzPct val="75000"/>
        <a:buFont typeface="Arial" charset="0"/>
        <a:buChar char="•"/>
        <a:defRPr sz="2000" kern="1200">
          <a:solidFill>
            <a:srgbClr val="374957"/>
          </a:solidFill>
          <a:latin typeface="Arial"/>
          <a:ea typeface="ＭＳ Ｐゴシック" charset="-128"/>
          <a:cs typeface="+mn-cs"/>
        </a:defRPr>
      </a:lvl4pPr>
      <a:lvl5pPr marL="2057400" indent="-228600" algn="l" defTabSz="457200" rtl="0" eaLnBrk="1" fontAlgn="base" hangingPunct="1">
        <a:spcBef>
          <a:spcPct val="20000"/>
        </a:spcBef>
        <a:spcAft>
          <a:spcPct val="0"/>
        </a:spcAft>
        <a:buSzPct val="75000"/>
        <a:buFont typeface="Arial" charset="0"/>
        <a:buChar char="•"/>
        <a:defRPr sz="2000" kern="1200">
          <a:solidFill>
            <a:srgbClr val="37495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3.xml"/><Relationship Id="rId1" Type="http://schemas.openxmlformats.org/officeDocument/2006/relationships/vmlDrawing" Target="../drawings/vmlDrawing1.vml"/><Relationship Id="rId6" Type="http://schemas.openxmlformats.org/officeDocument/2006/relationships/image" Target="../media/image10.emf"/><Relationship Id="rId5" Type="http://schemas.openxmlformats.org/officeDocument/2006/relationships/oleObject" Target="file:///C:\Users\wkeranen\Documents\translational%20research%20software\PdM\training\Drawing1\Drawing\~Page-1\Sheet.7" TargetMode="Externa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18.png"/><Relationship Id="rId2" Type="http://schemas.openxmlformats.org/officeDocument/2006/relationships/slideLayout" Target="../slideLayouts/slideLayout23.xml"/><Relationship Id="rId1" Type="http://schemas.openxmlformats.org/officeDocument/2006/relationships/vmlDrawing" Target="../drawings/vmlDrawing2.vml"/><Relationship Id="rId6" Type="http://schemas.openxmlformats.org/officeDocument/2006/relationships/image" Target="../media/image16.emf"/><Relationship Id="rId5" Type="http://schemas.openxmlformats.org/officeDocument/2006/relationships/oleObject" Target="file:///C:\Users\wkeranen\Documents\translational%20research%20software\PdM\training\Drawing1\Drawing\~Page-2\Sheet.7" TargetMode="Externa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notesSlide" Target="../notesSlides/notesSlide8.xml"/><Relationship Id="rId7" Type="http://schemas.openxmlformats.org/officeDocument/2006/relationships/image" Target="../media/image19.emf"/><Relationship Id="rId2" Type="http://schemas.openxmlformats.org/officeDocument/2006/relationships/slideLayout" Target="../slideLayouts/slideLayout23.xml"/><Relationship Id="rId1" Type="http://schemas.openxmlformats.org/officeDocument/2006/relationships/vmlDrawing" Target="../drawings/vmlDrawing3.vml"/><Relationship Id="rId6" Type="http://schemas.openxmlformats.org/officeDocument/2006/relationships/oleObject" Target="file:///C:\Users\wkeranen\Documents\translational%20research%20software\PdM\training\supporting\training.vsd\Drawing\~Page-3\Sheet.7" TargetMode="External"/><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3.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23.xml"/><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24.xml"/><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23.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6.png"/><Relationship Id="rId2" Type="http://schemas.openxmlformats.org/officeDocument/2006/relationships/notesSlide" Target="../notesSlides/notesSlide26.xml"/><Relationship Id="rId1" Type="http://schemas.openxmlformats.org/officeDocument/2006/relationships/slideLayout" Target="../slideLayouts/slideLayout23.xml"/><Relationship Id="rId6" Type="http://schemas.openxmlformats.org/officeDocument/2006/relationships/image" Target="../media/image45.png"/><Relationship Id="rId5" Type="http://schemas.openxmlformats.org/officeDocument/2006/relationships/image" Target="../media/image39.png"/><Relationship Id="rId4" Type="http://schemas.openxmlformats.org/officeDocument/2006/relationships/image" Target="../media/image4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8" Type="http://schemas.openxmlformats.org/officeDocument/2006/relationships/hyperlink" Target="ms-its:C:\VMSOS\docu\help\VMSIRS~1.CHM::/html/d3a2870c-db17-650b-d6e6-b70a285b8245.htm" TargetMode="External"/><Relationship Id="rId3" Type="http://schemas.openxmlformats.org/officeDocument/2006/relationships/hyperlink" Target="ms-its:C:\VMSOS\docu\help\VMSIRS~1.CHM::/html/94262e7d-d47a-f123-d1fc-95f0a1ea4c53.htm" TargetMode="External"/><Relationship Id="rId7" Type="http://schemas.openxmlformats.org/officeDocument/2006/relationships/hyperlink" Target="ms-its:C:\VMSOS\docu\help\VMSIRS~1.CHM::/html/9b6b39db-5427-5fe4-fae7-822664885027.htm" TargetMode="External"/><Relationship Id="rId2" Type="http://schemas.openxmlformats.org/officeDocument/2006/relationships/notesSlide" Target="../notesSlides/notesSlide28.xml"/><Relationship Id="rId1" Type="http://schemas.openxmlformats.org/officeDocument/2006/relationships/slideLayout" Target="../slideLayouts/slideLayout23.xml"/><Relationship Id="rId6" Type="http://schemas.openxmlformats.org/officeDocument/2006/relationships/hyperlink" Target="ms-its:C:\VMSOS\docu\help\VMSIRS~1.CHM::/html/4dec8ca1-9acc-10f0-a952-3736f4189086.htm" TargetMode="External"/><Relationship Id="rId5" Type="http://schemas.openxmlformats.org/officeDocument/2006/relationships/hyperlink" Target="ms-its:C:\VMSOS\docu\help\VMSIRS~1.CHM::/html/e83737cd-3b3b-5535-1bd5-c7fd19120cca.htm" TargetMode="External"/><Relationship Id="rId4" Type="http://schemas.openxmlformats.org/officeDocument/2006/relationships/hyperlink" Target="ms-its:C:\VMSOS\docu\help\VMSIRS~1.CHM::/html/42bb3f26-e4b1-19d2-7b75-1102d4542800.htm" TargetMode="External"/><Relationship Id="rId9" Type="http://schemas.openxmlformats.org/officeDocument/2006/relationships/hyperlink" Target="ms-its:C:\VMSOS\docu\help\VMSIRS~1.CHM::/html/2d0c85fb-f9de-af39-af2b-ddbb5af20f2e.htm"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3.xml"/></Relationships>
</file>

<file path=ppt/slides/_rels/slide40.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32.xml"/><Relationship Id="rId1" Type="http://schemas.openxmlformats.org/officeDocument/2006/relationships/slideLayout" Target="../slideLayouts/slideLayout2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3.xml"/></Relationships>
</file>

<file path=ppt/slides/_rels/slide42.xml.rels><?xml version="1.0" encoding="UTF-8" standalone="yes"?>
<Relationships xmlns="http://schemas.openxmlformats.org/package/2006/relationships"><Relationship Id="rId3" Type="http://schemas.openxmlformats.org/officeDocument/2006/relationships/hyperlink" Target="http://www.variandeveloper.com/" TargetMode="External"/><Relationship Id="rId2" Type="http://schemas.openxmlformats.org/officeDocument/2006/relationships/notesSlide" Target="../notesSlides/notesSlide34.xml"/><Relationship Id="rId1" Type="http://schemas.openxmlformats.org/officeDocument/2006/relationships/slideLayout" Target="../slideLayouts/slideLayout23.xml"/><Relationship Id="rId4" Type="http://schemas.openxmlformats.org/officeDocument/2006/relationships/hyperlink" Target="mailto:eclipsedeveloper@varian.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smtClean="0"/>
              <a:t>vARIAN</a:t>
            </a:r>
            <a:r>
              <a:rPr lang="en-US" dirty="0" smtClean="0"/>
              <a:t> </a:t>
            </a:r>
            <a:r>
              <a:rPr lang="en-US" dirty="0" err="1" smtClean="0"/>
              <a:t>apiS</a:t>
            </a:r>
            <a:r>
              <a:rPr lang="en-US" dirty="0" smtClean="0"/>
              <a:t> in V11 &amp; v13</a:t>
            </a:r>
            <a:endParaRPr lang="en-US" dirty="0"/>
          </a:p>
        </p:txBody>
      </p:sp>
      <p:sp>
        <p:nvSpPr>
          <p:cNvPr id="5" name="Text Placeholder 4"/>
          <p:cNvSpPr>
            <a:spLocks noGrp="1"/>
          </p:cNvSpPr>
          <p:nvPr>
            <p:ph type="body" sz="quarter" idx="13"/>
          </p:nvPr>
        </p:nvSpPr>
        <p:spPr/>
        <p:txBody>
          <a:bodyPr/>
          <a:lstStyle/>
          <a:p>
            <a:r>
              <a:rPr lang="en-US" dirty="0" smtClean="0"/>
              <a:t>Information  for Collaborators</a:t>
            </a:r>
            <a:endParaRPr lang="en-US" dirty="0"/>
          </a:p>
        </p:txBody>
      </p:sp>
      <p:sp>
        <p:nvSpPr>
          <p:cNvPr id="6" name="Content Placeholder 5"/>
          <p:cNvSpPr>
            <a:spLocks noGrp="1"/>
          </p:cNvSpPr>
          <p:nvPr>
            <p:ph sz="quarter" idx="14"/>
          </p:nvPr>
        </p:nvSpPr>
        <p:spPr/>
        <p:txBody>
          <a:bodyPr/>
          <a:lstStyle/>
          <a:p>
            <a:endParaRPr lang="en-US" dirty="0"/>
          </a:p>
        </p:txBody>
      </p:sp>
      <p:sp>
        <p:nvSpPr>
          <p:cNvPr id="7" name="Content Placeholder 6"/>
          <p:cNvSpPr>
            <a:spLocks noGrp="1"/>
          </p:cNvSpPr>
          <p:nvPr>
            <p:ph sz="quarter" idx="15"/>
          </p:nvPr>
        </p:nvSpPr>
        <p:spPr/>
        <p:txBody>
          <a:bodyPr/>
          <a:lstStyle/>
          <a:p>
            <a:endParaRPr lang="en-US" dirty="0"/>
          </a:p>
        </p:txBody>
      </p:sp>
      <p:sp>
        <p:nvSpPr>
          <p:cNvPr id="8" name="Text Placeholder 7"/>
          <p:cNvSpPr>
            <a:spLocks noGrp="1"/>
          </p:cNvSpPr>
          <p:nvPr>
            <p:ph type="body" sz="quarter" idx="16"/>
          </p:nvPr>
        </p:nvSpPr>
        <p:spPr/>
        <p:txBody>
          <a:bodyPr/>
          <a:lstStyle/>
          <a:p>
            <a:r>
              <a:rPr lang="en-US" dirty="0" smtClean="0"/>
              <a:t>1/17/2014</a:t>
            </a:r>
            <a:endParaRPr lang="en-US" dirty="0"/>
          </a:p>
        </p:txBody>
      </p:sp>
    </p:spTree>
    <p:extLst>
      <p:ext uri="{BB962C8B-B14F-4D97-AF65-F5344CB8AC3E}">
        <p14:creationId xmlns:p14="http://schemas.microsoft.com/office/powerpoint/2010/main" val="34052955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Goals of this session:</a:t>
            </a:r>
            <a:endParaRPr lang="en-US" dirty="0"/>
          </a:p>
        </p:txBody>
      </p:sp>
      <p:sp>
        <p:nvSpPr>
          <p:cNvPr id="3" name="Content Placeholder 2"/>
          <p:cNvSpPr>
            <a:spLocks noGrp="1"/>
          </p:cNvSpPr>
          <p:nvPr>
            <p:ph idx="1"/>
          </p:nvPr>
        </p:nvSpPr>
        <p:spPr/>
        <p:txBody>
          <a:bodyPr/>
          <a:lstStyle/>
          <a:p>
            <a:r>
              <a:rPr lang="en-US" dirty="0" smtClean="0"/>
              <a:t>Broad overview of what’s available in Varian’s APIs &amp; Scripting.</a:t>
            </a:r>
          </a:p>
          <a:p>
            <a:endParaRPr lang="en-US" dirty="0" smtClean="0"/>
          </a:p>
          <a:p>
            <a:r>
              <a:rPr lang="en-US" dirty="0" smtClean="0"/>
              <a:t>Scripting Demos</a:t>
            </a:r>
            <a:endParaRPr lang="en-US" dirty="0"/>
          </a:p>
        </p:txBody>
      </p:sp>
    </p:spTree>
    <p:extLst>
      <p:ext uri="{BB962C8B-B14F-4D97-AF65-F5344CB8AC3E}">
        <p14:creationId xmlns:p14="http://schemas.microsoft.com/office/powerpoint/2010/main" val="210076424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an API?</a:t>
            </a:r>
            <a:endParaRPr lang="en-US" dirty="0"/>
          </a:p>
        </p:txBody>
      </p:sp>
      <p:sp>
        <p:nvSpPr>
          <p:cNvPr id="3" name="Content Placeholder 2"/>
          <p:cNvSpPr>
            <a:spLocks noGrp="1"/>
          </p:cNvSpPr>
          <p:nvPr>
            <p:ph idx="1"/>
          </p:nvPr>
        </p:nvSpPr>
        <p:spPr/>
        <p:txBody>
          <a:bodyPr/>
          <a:lstStyle/>
          <a:p>
            <a:r>
              <a:rPr lang="en-US" dirty="0"/>
              <a:t>API</a:t>
            </a:r>
            <a:r>
              <a:rPr lang="en-US" dirty="0" smtClean="0">
                <a:solidFill>
                  <a:schemeClr val="tx2">
                    <a:lumMod val="50000"/>
                  </a:schemeClr>
                </a:solidFill>
              </a:rPr>
              <a:t> </a:t>
            </a:r>
            <a:r>
              <a:rPr lang="en-US" dirty="0" smtClean="0"/>
              <a:t>– “Application Programming Interface”</a:t>
            </a:r>
            <a:endParaRPr lang="en-US" dirty="0"/>
          </a:p>
          <a:p>
            <a:endParaRPr lang="en-US" dirty="0" smtClean="0"/>
          </a:p>
          <a:p>
            <a:r>
              <a:rPr lang="en-US" dirty="0" smtClean="0"/>
              <a:t>Provides access to functions within an application, which </a:t>
            </a:r>
            <a:r>
              <a:rPr lang="en-US" dirty="0"/>
              <a:t>Enables Scripting</a:t>
            </a:r>
            <a:r>
              <a:rPr lang="en-US" dirty="0" smtClean="0"/>
              <a:t>.</a:t>
            </a:r>
          </a:p>
          <a:p>
            <a:endParaRPr lang="en-US" dirty="0" smtClean="0"/>
          </a:p>
          <a:p>
            <a:r>
              <a:rPr lang="en-US" b="1" dirty="0" smtClean="0">
                <a:solidFill>
                  <a:srgbClr val="FF0000"/>
                </a:solidFill>
              </a:rPr>
              <a:t>API Enables Scripting</a:t>
            </a:r>
          </a:p>
        </p:txBody>
      </p:sp>
    </p:spTree>
    <p:extLst>
      <p:ext uri="{BB962C8B-B14F-4D97-AF65-F5344CB8AC3E}">
        <p14:creationId xmlns:p14="http://schemas.microsoft.com/office/powerpoint/2010/main" val="1450104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API</a:t>
            </a:r>
            <a:endParaRPr lang="en-US" dirty="0"/>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21396" y="2057401"/>
            <a:ext cx="5174848" cy="2819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9" name="Object 8"/>
          <p:cNvGraphicFramePr>
            <a:graphicFrameLocks noChangeAspect="1"/>
          </p:cNvGraphicFramePr>
          <p:nvPr>
            <p:extLst>
              <p:ext uri="{D42A27DB-BD31-4B8C-83A1-F6EECF244321}">
                <p14:modId xmlns:p14="http://schemas.microsoft.com/office/powerpoint/2010/main" val="1780821872"/>
              </p:ext>
            </p:extLst>
          </p:nvPr>
        </p:nvGraphicFramePr>
        <p:xfrm>
          <a:off x="304800" y="1752600"/>
          <a:ext cx="3095625" cy="3759200"/>
        </p:xfrm>
        <a:graphic>
          <a:graphicData uri="http://schemas.openxmlformats.org/presentationml/2006/ole">
            <mc:AlternateContent xmlns:mc="http://schemas.openxmlformats.org/markup-compatibility/2006">
              <mc:Choice xmlns:v="urn:schemas-microsoft-com:vml" Requires="v">
                <p:oleObj spid="_x0000_s1080" name="Visio" r:id="rId5" imgW="3095453" imgH="3759470" progId="Visio.Drawing.11">
                  <p:link updateAutomatic="1"/>
                </p:oleObj>
              </mc:Choice>
              <mc:Fallback>
                <p:oleObj name="Visio" r:id="rId5" imgW="3095453" imgH="3759470" progId="Visio.Drawing.11">
                  <p:link updateAutomatic="1"/>
                  <p:pic>
                    <p:nvPicPr>
                      <p:cNvPr id="0" name=""/>
                      <p:cNvPicPr/>
                      <p:nvPr/>
                    </p:nvPicPr>
                    <p:blipFill>
                      <a:blip r:embed="rId6"/>
                      <a:stretch>
                        <a:fillRect/>
                      </a:stretch>
                    </p:blipFill>
                    <p:spPr>
                      <a:xfrm>
                        <a:off x="304800" y="1752600"/>
                        <a:ext cx="3095625" cy="3759200"/>
                      </a:xfrm>
                      <a:prstGeom prst="rect">
                        <a:avLst/>
                      </a:prstGeom>
                    </p:spPr>
                  </p:pic>
                </p:oleObj>
              </mc:Fallback>
            </mc:AlternateContent>
          </a:graphicData>
        </a:graphic>
      </p:graphicFrame>
      <p:cxnSp>
        <p:nvCxnSpPr>
          <p:cNvPr id="11" name="Elbow Connector 10"/>
          <p:cNvCxnSpPr>
            <a:stCxn id="9" idx="3"/>
            <a:endCxn id="1026" idx="1"/>
          </p:cNvCxnSpPr>
          <p:nvPr/>
        </p:nvCxnSpPr>
        <p:spPr>
          <a:xfrm flipV="1">
            <a:off x="3400425" y="3467101"/>
            <a:ext cx="420971" cy="165099"/>
          </a:xfrm>
          <a:prstGeom prst="bentConnector3">
            <a:avLst/>
          </a:prstGeom>
          <a:ln>
            <a:prstDash val="sysDot"/>
          </a:ln>
        </p:spPr>
        <p:style>
          <a:lnRef idx="2">
            <a:schemeClr val="accent1"/>
          </a:lnRef>
          <a:fillRef idx="0">
            <a:schemeClr val="accent1"/>
          </a:fillRef>
          <a:effectRef idx="1">
            <a:schemeClr val="accent1"/>
          </a:effectRef>
          <a:fontRef idx="minor">
            <a:schemeClr val="tx1"/>
          </a:fontRef>
        </p:style>
      </p:cxnSp>
      <p:sp>
        <p:nvSpPr>
          <p:cNvPr id="15" name="Title 1"/>
          <p:cNvSpPr txBox="1">
            <a:spLocks/>
          </p:cNvSpPr>
          <p:nvPr/>
        </p:nvSpPr>
        <p:spPr bwMode="auto">
          <a:xfrm>
            <a:off x="304800" y="1143000"/>
            <a:ext cx="8350250" cy="5715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defTabSz="457200" rtl="0" eaLnBrk="1" fontAlgn="base" hangingPunct="1">
              <a:spcBef>
                <a:spcPct val="0"/>
              </a:spcBef>
              <a:spcAft>
                <a:spcPct val="0"/>
              </a:spcAft>
              <a:defRPr sz="3500" kern="1200">
                <a:solidFill>
                  <a:schemeClr val="accent2"/>
                </a:solidFill>
                <a:latin typeface="Arial"/>
                <a:ea typeface="ＭＳ Ｐゴシック" charset="-128"/>
                <a:cs typeface="Arial"/>
              </a:defRPr>
            </a:lvl1pPr>
            <a:lvl2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2pPr>
            <a:lvl3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3pPr>
            <a:lvl4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4pPr>
            <a:lvl5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5pPr>
            <a:lvl6pPr marL="4572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9pPr>
          </a:lstStyle>
          <a:p>
            <a:r>
              <a:rPr lang="en-US" sz="2400" u="sng" dirty="0" smtClean="0"/>
              <a:t>           </a:t>
            </a:r>
            <a:r>
              <a:rPr lang="en-US" sz="2400" b="1" u="sng" dirty="0" smtClean="0"/>
              <a:t>Script</a:t>
            </a:r>
            <a:r>
              <a:rPr lang="en-US" sz="2400" u="sng" dirty="0" smtClean="0"/>
              <a:t>              </a:t>
            </a:r>
            <a:r>
              <a:rPr lang="en-US" sz="2400" dirty="0" smtClean="0"/>
              <a:t>       </a:t>
            </a:r>
            <a:r>
              <a:rPr lang="en-US" sz="2400" u="sng" dirty="0" smtClean="0"/>
              <a:t>   </a:t>
            </a:r>
            <a:r>
              <a:rPr lang="en-US" sz="2400" b="1" u="sng" dirty="0" smtClean="0"/>
              <a:t>API </a:t>
            </a:r>
            <a:r>
              <a:rPr lang="en-US" sz="2400" u="sng" dirty="0" smtClean="0"/>
              <a:t> </a:t>
            </a:r>
            <a:r>
              <a:rPr lang="en-US" sz="2400" dirty="0" smtClean="0"/>
              <a:t>      </a:t>
            </a:r>
            <a:r>
              <a:rPr lang="en-US" sz="2400" u="sng" dirty="0" smtClean="0"/>
              <a:t>             </a:t>
            </a:r>
            <a:r>
              <a:rPr lang="en-US" sz="2400" b="1" u="sng" dirty="0" smtClean="0"/>
              <a:t>Eclipse</a:t>
            </a:r>
            <a:r>
              <a:rPr lang="en-US" sz="2400" u="sng" dirty="0"/>
              <a:t>  </a:t>
            </a:r>
            <a:r>
              <a:rPr lang="en-US" sz="2400" u="sng" dirty="0" smtClean="0"/>
              <a:t>      </a:t>
            </a:r>
            <a:r>
              <a:rPr lang="en-US" sz="2400" u="sng" dirty="0" smtClean="0">
                <a:solidFill>
                  <a:schemeClr val="bg1"/>
                </a:solidFill>
              </a:rPr>
              <a:t>.</a:t>
            </a:r>
            <a:r>
              <a:rPr lang="en-US" sz="2400" u="sng" dirty="0" smtClean="0"/>
              <a:t>         </a:t>
            </a:r>
            <a:endParaRPr lang="en-US" sz="2400" u="sng" dirty="0"/>
          </a:p>
        </p:txBody>
      </p:sp>
      <p:sp>
        <p:nvSpPr>
          <p:cNvPr id="18" name="Title 1"/>
          <p:cNvSpPr txBox="1">
            <a:spLocks/>
          </p:cNvSpPr>
          <p:nvPr/>
        </p:nvSpPr>
        <p:spPr bwMode="auto">
          <a:xfrm>
            <a:off x="3733800" y="5257800"/>
            <a:ext cx="5254421" cy="5715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defTabSz="457200" rtl="0" eaLnBrk="1" fontAlgn="base" hangingPunct="1">
              <a:spcBef>
                <a:spcPct val="0"/>
              </a:spcBef>
              <a:spcAft>
                <a:spcPct val="0"/>
              </a:spcAft>
              <a:defRPr sz="3500" kern="1200">
                <a:solidFill>
                  <a:schemeClr val="accent2"/>
                </a:solidFill>
                <a:latin typeface="Arial"/>
                <a:ea typeface="ＭＳ Ｐゴシック" charset="-128"/>
                <a:cs typeface="Arial"/>
              </a:defRPr>
            </a:lvl1pPr>
            <a:lvl2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2pPr>
            <a:lvl3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3pPr>
            <a:lvl4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4pPr>
            <a:lvl5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5pPr>
            <a:lvl6pPr marL="4572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9pPr>
          </a:lstStyle>
          <a:p>
            <a:pPr algn="ctr"/>
            <a:r>
              <a:rPr lang="en-US" sz="2400" dirty="0" smtClean="0"/>
              <a:t>Eclipse Scripting API : ESAPI</a:t>
            </a:r>
            <a:endParaRPr lang="en-US" sz="2400" dirty="0"/>
          </a:p>
        </p:txBody>
      </p:sp>
    </p:spTree>
    <p:extLst>
      <p:ext uri="{BB962C8B-B14F-4D97-AF65-F5344CB8AC3E}">
        <p14:creationId xmlns:p14="http://schemas.microsoft.com/office/powerpoint/2010/main" val="177400627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Eclipse Script Types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802954205"/>
              </p:ext>
            </p:extLst>
          </p:nvPr>
        </p:nvGraphicFramePr>
        <p:xfrm>
          <a:off x="1828800" y="1269205"/>
          <a:ext cx="2625726" cy="4674395"/>
        </p:xfrm>
        <a:graphic>
          <a:graphicData uri="http://schemas.openxmlformats.org/drawingml/2006/table">
            <a:tbl>
              <a:tblPr firstRow="1" bandRow="1">
                <a:tableStyleId>{2D5ABB26-0587-4C30-8999-92F81FD0307C}</a:tableStyleId>
              </a:tblPr>
              <a:tblGrid>
                <a:gridCol w="2625726"/>
              </a:tblGrid>
              <a:tr h="1465853">
                <a:tc>
                  <a:txBody>
                    <a:bodyPr/>
                    <a:lstStyle/>
                    <a:p>
                      <a:r>
                        <a:rPr lang="en-US" sz="2400" dirty="0" smtClean="0"/>
                        <a:t/>
                      </a:r>
                      <a:br>
                        <a:rPr lang="en-US" sz="2400" dirty="0" smtClean="0"/>
                      </a:br>
                      <a:r>
                        <a:rPr lang="en-US" sz="3200" dirty="0" smtClean="0"/>
                        <a:t>Single File Plug-in</a:t>
                      </a:r>
                      <a:endParaRPr lang="en-US" sz="3200" dirty="0"/>
                    </a:p>
                  </a:txBody>
                  <a:tcPr/>
                </a:tc>
              </a:tr>
              <a:tr h="1604271">
                <a:tc>
                  <a:txBody>
                    <a:bodyPr/>
                    <a:lstStyle/>
                    <a:p>
                      <a:pPr marL="0" algn="l" defTabSz="457200" rtl="0" eaLnBrk="1" latinLnBrk="0" hangingPunct="1"/>
                      <a:endParaRPr lang="en-US" sz="2400" kern="1200" dirty="0" smtClean="0">
                        <a:solidFill>
                          <a:schemeClr val="tx1"/>
                        </a:solidFill>
                        <a:latin typeface="+mn-lt"/>
                        <a:ea typeface="+mn-ea"/>
                        <a:cs typeface="+mn-cs"/>
                      </a:endParaRPr>
                    </a:p>
                    <a:p>
                      <a:pPr marL="0" algn="l" defTabSz="457200" rtl="0" eaLnBrk="1" latinLnBrk="0" hangingPunct="1"/>
                      <a:r>
                        <a:rPr lang="en-US" sz="3200" kern="1200" dirty="0" smtClean="0">
                          <a:solidFill>
                            <a:schemeClr val="tx1"/>
                          </a:solidFill>
                          <a:latin typeface="+mn-lt"/>
                          <a:ea typeface="+mn-ea"/>
                          <a:cs typeface="+mn-cs"/>
                        </a:rPr>
                        <a:t>Binary </a:t>
                      </a:r>
                    </a:p>
                    <a:p>
                      <a:pPr marL="0" algn="l" defTabSz="457200" rtl="0" eaLnBrk="1" latinLnBrk="0" hangingPunct="1"/>
                      <a:r>
                        <a:rPr lang="en-US" sz="3200" kern="1200" dirty="0" smtClean="0">
                          <a:solidFill>
                            <a:schemeClr val="tx1"/>
                          </a:solidFill>
                          <a:latin typeface="+mn-lt"/>
                          <a:ea typeface="+mn-ea"/>
                          <a:cs typeface="+mn-cs"/>
                        </a:rPr>
                        <a:t>Plug-in</a:t>
                      </a:r>
                      <a:endParaRPr lang="en-US" sz="3200" kern="1200" dirty="0">
                        <a:solidFill>
                          <a:schemeClr val="tx1"/>
                        </a:solidFill>
                        <a:latin typeface="+mn-lt"/>
                        <a:ea typeface="+mn-ea"/>
                        <a:cs typeface="+mn-cs"/>
                      </a:endParaRPr>
                    </a:p>
                  </a:txBody>
                  <a:tcPr/>
                </a:tc>
              </a:tr>
              <a:tr h="1604271">
                <a:tc>
                  <a:txBody>
                    <a:bodyPr/>
                    <a:lstStyle/>
                    <a:p>
                      <a:endParaRPr lang="en-US" sz="3200" kern="1200" dirty="0" smtClean="0">
                        <a:solidFill>
                          <a:schemeClr val="tx1"/>
                        </a:solidFill>
                        <a:latin typeface="+mn-lt"/>
                        <a:ea typeface="+mn-ea"/>
                        <a:cs typeface="+mn-cs"/>
                      </a:endParaRPr>
                    </a:p>
                    <a:p>
                      <a:r>
                        <a:rPr lang="en-US" sz="3200" kern="1200" dirty="0" smtClean="0">
                          <a:solidFill>
                            <a:schemeClr val="tx1"/>
                          </a:solidFill>
                          <a:latin typeface="+mn-lt"/>
                          <a:ea typeface="+mn-ea"/>
                          <a:cs typeface="+mn-cs"/>
                        </a:rPr>
                        <a:t>Standalone Executable</a:t>
                      </a:r>
                      <a:endParaRPr lang="en-US" sz="3200" kern="1200" dirty="0">
                        <a:solidFill>
                          <a:schemeClr val="tx1"/>
                        </a:solidFill>
                        <a:latin typeface="+mn-lt"/>
                        <a:ea typeface="+mn-ea"/>
                        <a:cs typeface="+mn-cs"/>
                      </a:endParaRPr>
                    </a:p>
                  </a:txBody>
                  <a:tcPr/>
                </a:tc>
              </a:tr>
            </a:tbl>
          </a:graphicData>
        </a:graphic>
      </p:graphicFrame>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65" y="1447800"/>
            <a:ext cx="1007547" cy="11406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0210" y="3048000"/>
            <a:ext cx="1005493" cy="11521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1241" y="4876800"/>
            <a:ext cx="1048437" cy="9361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53000" y="457200"/>
            <a:ext cx="3352800" cy="4905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1" name="Straight Connector 10"/>
          <p:cNvCxnSpPr/>
          <p:nvPr/>
        </p:nvCxnSpPr>
        <p:spPr>
          <a:xfrm>
            <a:off x="3657600" y="2362200"/>
            <a:ext cx="1752600" cy="2057400"/>
          </a:xfrm>
          <a:prstGeom prst="line">
            <a:avLst/>
          </a:prstGeom>
          <a:ln w="25400">
            <a:solidFill>
              <a:srgbClr val="FFFF00"/>
            </a:solidFill>
            <a:prstDash val="dash"/>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3200400" y="3657600"/>
            <a:ext cx="2209800" cy="1066800"/>
          </a:xfrm>
          <a:prstGeom prst="line">
            <a:avLst/>
          </a:prstGeom>
          <a:ln w="25400">
            <a:solidFill>
              <a:srgbClr val="00B0F0">
                <a:alpha val="56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V="1">
            <a:off x="3966808" y="5105400"/>
            <a:ext cx="1671992" cy="239452"/>
          </a:xfrm>
          <a:prstGeom prst="line">
            <a:avLst/>
          </a:prstGeom>
          <a:ln w="25400">
            <a:solidFill>
              <a:srgbClr val="C00000"/>
            </a:solidFill>
            <a:prstDash val="dash"/>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5638800" y="5105400"/>
            <a:ext cx="2286000" cy="0"/>
          </a:xfrm>
          <a:prstGeom prst="line">
            <a:avLst/>
          </a:prstGeom>
          <a:ln w="12700">
            <a:solidFill>
              <a:srgbClr val="C00000"/>
            </a:solidFill>
            <a:prstDash val="dash"/>
          </a:ln>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a:off x="5486400" y="4752474"/>
            <a:ext cx="1676400" cy="0"/>
          </a:xfrm>
          <a:prstGeom prst="line">
            <a:avLst/>
          </a:prstGeom>
          <a:ln w="12700">
            <a:solidFill>
              <a:srgbClr val="00B0F0">
                <a:alpha val="56000"/>
              </a:srgbClr>
            </a:solidFill>
            <a:prstDash val="dash"/>
          </a:ln>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5410200" y="4419600"/>
            <a:ext cx="2133600" cy="0"/>
          </a:xfrm>
          <a:prstGeom prst="line">
            <a:avLst/>
          </a:prstGeom>
          <a:ln w="12700">
            <a:solidFill>
              <a:srgbClr val="FFFF00"/>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182600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Standalone Executable</a:t>
            </a:r>
            <a:endParaRPr lang="en-US" dirty="0"/>
          </a:p>
        </p:txBody>
      </p:sp>
      <p:sp>
        <p:nvSpPr>
          <p:cNvPr id="3" name="Content Placeholder 2"/>
          <p:cNvSpPr>
            <a:spLocks noGrp="1"/>
          </p:cNvSpPr>
          <p:nvPr>
            <p:ph idx="1"/>
          </p:nvPr>
        </p:nvSpPr>
        <p:spPr/>
        <p:txBody>
          <a:bodyPr/>
          <a:lstStyle/>
          <a:p>
            <a:r>
              <a:rPr lang="en-US" dirty="0" err="1" smtClean="0"/>
              <a:t>Geekspeak</a:t>
            </a:r>
            <a:r>
              <a:rPr lang="en-US" dirty="0" smtClean="0"/>
              <a:t> for “An Application”.</a:t>
            </a:r>
          </a:p>
          <a:p>
            <a:endParaRPr lang="en-US" dirty="0" smtClean="0"/>
          </a:p>
          <a:p>
            <a:r>
              <a:rPr lang="en-US" dirty="0"/>
              <a:t>An application installed on your computer that you run by double clicking on its icon.</a:t>
            </a:r>
          </a:p>
          <a:p>
            <a:endParaRPr lang="en-US" dirty="0" smtClean="0"/>
          </a:p>
          <a:p>
            <a:r>
              <a:rPr lang="en-US" dirty="0" smtClean="0"/>
              <a:t>Examples: Microsoft Word, Excel, </a:t>
            </a:r>
            <a:r>
              <a:rPr lang="en-US" dirty="0" err="1" smtClean="0"/>
              <a:t>Powerpoint</a:t>
            </a:r>
            <a:r>
              <a:rPr lang="en-US" dirty="0" smtClean="0"/>
              <a:t>.</a:t>
            </a:r>
          </a:p>
          <a:p>
            <a:endParaRPr lang="en-US" dirty="0" smtClean="0"/>
          </a:p>
          <a:p>
            <a:endParaRPr lang="en-US" dirty="0"/>
          </a:p>
        </p:txBody>
      </p:sp>
    </p:spTree>
    <p:extLst>
      <p:ext uri="{BB962C8B-B14F-4D97-AF65-F5344CB8AC3E}">
        <p14:creationId xmlns:p14="http://schemas.microsoft.com/office/powerpoint/2010/main" val="4512155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 y="1600201"/>
            <a:ext cx="8502650" cy="4267200"/>
          </a:xfrm>
          <a:prstGeom prst="rect">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b" anchorCtr="0"/>
          <a:lstStyle/>
          <a:p>
            <a:pPr algn="r"/>
            <a:r>
              <a:rPr lang="en-US" b="1" dirty="0" smtClean="0">
                <a:solidFill>
                  <a:srgbClr val="FF0000"/>
                </a:solidFill>
              </a:rPr>
              <a:t>Standalone Executable Memory Space</a:t>
            </a:r>
            <a:endParaRPr lang="en-US" b="1" dirty="0">
              <a:solidFill>
                <a:srgbClr val="FF0000"/>
              </a:solidFill>
            </a:endParaRPr>
          </a:p>
        </p:txBody>
      </p:sp>
      <p:sp>
        <p:nvSpPr>
          <p:cNvPr id="2" name="Title 1"/>
          <p:cNvSpPr>
            <a:spLocks noGrp="1"/>
          </p:cNvSpPr>
          <p:nvPr>
            <p:ph type="title"/>
          </p:nvPr>
        </p:nvSpPr>
        <p:spPr/>
        <p:txBody>
          <a:bodyPr/>
          <a:lstStyle/>
          <a:p>
            <a:r>
              <a:rPr lang="en-US" dirty="0" smtClean="0"/>
              <a:t>ESAPI Standalone Executable</a:t>
            </a:r>
            <a:endParaRPr lang="en-US" dirty="0"/>
          </a:p>
        </p:txBody>
      </p:sp>
      <p:cxnSp>
        <p:nvCxnSpPr>
          <p:cNvPr id="11" name="Elbow Connector 10"/>
          <p:cNvCxnSpPr/>
          <p:nvPr/>
        </p:nvCxnSpPr>
        <p:spPr>
          <a:xfrm flipV="1">
            <a:off x="3400425" y="3429000"/>
            <a:ext cx="866775" cy="203200"/>
          </a:xfrm>
          <a:prstGeom prst="bentConnector3">
            <a:avLst/>
          </a:prstGeom>
          <a:ln>
            <a:prstDash val="sysDot"/>
          </a:ln>
        </p:spPr>
        <p:style>
          <a:lnRef idx="2">
            <a:schemeClr val="accent1"/>
          </a:lnRef>
          <a:fillRef idx="0">
            <a:schemeClr val="accent1"/>
          </a:fillRef>
          <a:effectRef idx="1">
            <a:schemeClr val="accent1"/>
          </a:effectRef>
          <a:fontRef idx="minor">
            <a:schemeClr val="tx1"/>
          </a:fontRef>
        </p:style>
      </p:cxnSp>
      <p:sp>
        <p:nvSpPr>
          <p:cNvPr id="15" name="Title 1"/>
          <p:cNvSpPr txBox="1">
            <a:spLocks/>
          </p:cNvSpPr>
          <p:nvPr/>
        </p:nvSpPr>
        <p:spPr bwMode="auto">
          <a:xfrm>
            <a:off x="304800" y="1066800"/>
            <a:ext cx="8350250" cy="5715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defTabSz="457200" rtl="0" eaLnBrk="1" fontAlgn="base" hangingPunct="1">
              <a:spcBef>
                <a:spcPct val="0"/>
              </a:spcBef>
              <a:spcAft>
                <a:spcPct val="0"/>
              </a:spcAft>
              <a:defRPr sz="3500" kern="1200">
                <a:solidFill>
                  <a:schemeClr val="accent2"/>
                </a:solidFill>
                <a:latin typeface="Arial"/>
                <a:ea typeface="ＭＳ Ｐゴシック" charset="-128"/>
                <a:cs typeface="Arial"/>
              </a:defRPr>
            </a:lvl1pPr>
            <a:lvl2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2pPr>
            <a:lvl3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3pPr>
            <a:lvl4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4pPr>
            <a:lvl5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5pPr>
            <a:lvl6pPr marL="4572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9pPr>
          </a:lstStyle>
          <a:p>
            <a:r>
              <a:rPr lang="en-US" sz="2400" u="sng" dirty="0" smtClean="0"/>
              <a:t>           </a:t>
            </a:r>
            <a:r>
              <a:rPr lang="en-US" sz="2400" b="1" u="sng" dirty="0" smtClean="0"/>
              <a:t>Script</a:t>
            </a:r>
            <a:r>
              <a:rPr lang="en-US" sz="2400" u="sng" dirty="0" smtClean="0"/>
              <a:t>              </a:t>
            </a:r>
            <a:r>
              <a:rPr lang="en-US" sz="2400" dirty="0" smtClean="0"/>
              <a:t>           </a:t>
            </a:r>
            <a:r>
              <a:rPr lang="en-US" sz="2400" u="sng" dirty="0" smtClean="0"/>
              <a:t>  </a:t>
            </a:r>
            <a:r>
              <a:rPr lang="en-US" sz="2400" b="1" u="sng" dirty="0" smtClean="0"/>
              <a:t>API</a:t>
            </a:r>
            <a:r>
              <a:rPr lang="en-US" sz="2400" u="sng" dirty="0" smtClean="0"/>
              <a:t>  </a:t>
            </a:r>
            <a:r>
              <a:rPr lang="en-US" sz="2400" dirty="0" smtClean="0"/>
              <a:t>   </a:t>
            </a:r>
            <a:r>
              <a:rPr lang="en-US" sz="2400" u="sng" dirty="0" smtClean="0"/>
              <a:t>             </a:t>
            </a:r>
            <a:r>
              <a:rPr lang="en-US" sz="2400" b="1" u="sng" dirty="0" smtClean="0"/>
              <a:t>Eclipse</a:t>
            </a:r>
            <a:r>
              <a:rPr lang="en-US" sz="2400" u="sng" dirty="0"/>
              <a:t>  </a:t>
            </a:r>
            <a:r>
              <a:rPr lang="en-US" sz="2400" u="sng" dirty="0" smtClean="0"/>
              <a:t>       </a:t>
            </a:r>
            <a:r>
              <a:rPr lang="en-US" sz="2400" u="sng" dirty="0" smtClean="0">
                <a:solidFill>
                  <a:schemeClr val="bg1"/>
                </a:solidFill>
              </a:rPr>
              <a:t>.</a:t>
            </a:r>
            <a:r>
              <a:rPr lang="en-US" sz="2400" u="sng" dirty="0" smtClean="0"/>
              <a:t>         </a:t>
            </a:r>
            <a:endParaRPr lang="en-US" sz="2400" u="sng" dirty="0"/>
          </a:p>
        </p:txBody>
      </p:sp>
      <p:pic>
        <p:nvPicPr>
          <p:cNvPr id="205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29250" y="2300288"/>
            <a:ext cx="2981325" cy="2257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5410200" y="2300287"/>
            <a:ext cx="3000375" cy="2257425"/>
          </a:xfrm>
          <a:prstGeom prst="rect">
            <a:avLst/>
          </a:prstGeom>
          <a:solidFill>
            <a:schemeClr val="lt1">
              <a:alpha val="92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smtClean="0">
                <a:solidFill>
                  <a:schemeClr val="tx1">
                    <a:lumMod val="50000"/>
                  </a:schemeClr>
                </a:solidFill>
              </a:rPr>
              <a:t>Eclipse UI is hidden</a:t>
            </a:r>
            <a:endParaRPr lang="en-US" b="1" dirty="0">
              <a:solidFill>
                <a:schemeClr val="tx1">
                  <a:lumMod val="50000"/>
                </a:schemeClr>
              </a:solidFill>
            </a:endParaRPr>
          </a:p>
        </p:txBody>
      </p:sp>
      <p:graphicFrame>
        <p:nvGraphicFramePr>
          <p:cNvPr id="7" name="Object 6"/>
          <p:cNvGraphicFramePr>
            <a:graphicFrameLocks noChangeAspect="1"/>
          </p:cNvGraphicFramePr>
          <p:nvPr>
            <p:extLst>
              <p:ext uri="{D42A27DB-BD31-4B8C-83A1-F6EECF244321}">
                <p14:modId xmlns:p14="http://schemas.microsoft.com/office/powerpoint/2010/main" val="3089564757"/>
              </p:ext>
            </p:extLst>
          </p:nvPr>
        </p:nvGraphicFramePr>
        <p:xfrm>
          <a:off x="445510" y="1752600"/>
          <a:ext cx="2954915" cy="4024745"/>
        </p:xfrm>
        <a:graphic>
          <a:graphicData uri="http://schemas.openxmlformats.org/presentationml/2006/ole">
            <mc:AlternateContent xmlns:mc="http://schemas.openxmlformats.org/markup-compatibility/2006">
              <mc:Choice xmlns:v="urn:schemas-microsoft-com:vml" Requires="v">
                <p:oleObj spid="_x0000_s2105" name="Visio" r:id="rId5" imgW="3095453" imgH="4216670" progId="Visio.Drawing.11">
                  <p:link updateAutomatic="1"/>
                </p:oleObj>
              </mc:Choice>
              <mc:Fallback>
                <p:oleObj name="Visio" r:id="rId5" imgW="3095453" imgH="4216670" progId="Visio.Drawing.11">
                  <p:link updateAutomatic="1"/>
                  <p:pic>
                    <p:nvPicPr>
                      <p:cNvPr id="0" name=""/>
                      <p:cNvPicPr/>
                      <p:nvPr/>
                    </p:nvPicPr>
                    <p:blipFill>
                      <a:blip r:embed="rId6"/>
                      <a:stretch>
                        <a:fillRect/>
                      </a:stretch>
                    </p:blipFill>
                    <p:spPr>
                      <a:xfrm>
                        <a:off x="445510" y="1752600"/>
                        <a:ext cx="2954915" cy="4024745"/>
                      </a:xfrm>
                      <a:prstGeom prst="rect">
                        <a:avLst/>
                      </a:prstGeom>
                      <a:solidFill>
                        <a:schemeClr val="bg1"/>
                      </a:solidFill>
                    </p:spPr>
                  </p:pic>
                </p:oleObj>
              </mc:Fallback>
            </mc:AlternateContent>
          </a:graphicData>
        </a:graphic>
      </p:graphicFrame>
      <p:cxnSp>
        <p:nvCxnSpPr>
          <p:cNvPr id="13" name="Elbow Connector 12"/>
          <p:cNvCxnSpPr/>
          <p:nvPr/>
        </p:nvCxnSpPr>
        <p:spPr>
          <a:xfrm rot="10800000">
            <a:off x="4743450" y="3948112"/>
            <a:ext cx="666750" cy="395289"/>
          </a:xfrm>
          <a:prstGeom prst="bentConnector2">
            <a:avLst/>
          </a:prstGeom>
          <a:ln w="38100">
            <a:solidFill>
              <a:schemeClr val="tx1">
                <a:lumMod val="50000"/>
              </a:schemeClr>
            </a:solidFill>
            <a:prstDash val="sysDot"/>
            <a:tailEnd type="arrow"/>
          </a:ln>
        </p:spPr>
        <p:style>
          <a:lnRef idx="2">
            <a:schemeClr val="accent1"/>
          </a:lnRef>
          <a:fillRef idx="0">
            <a:schemeClr val="accent1"/>
          </a:fillRef>
          <a:effectRef idx="1">
            <a:schemeClr val="accent1"/>
          </a:effectRef>
          <a:fontRef idx="minor">
            <a:schemeClr val="tx1"/>
          </a:fontRef>
        </p:style>
      </p:cxnSp>
      <p:cxnSp>
        <p:nvCxnSpPr>
          <p:cNvPr id="20" name="Elbow Connector 19"/>
          <p:cNvCxnSpPr/>
          <p:nvPr/>
        </p:nvCxnSpPr>
        <p:spPr>
          <a:xfrm rot="5400000" flipH="1" flipV="1">
            <a:off x="4888706" y="2369342"/>
            <a:ext cx="395289" cy="685800"/>
          </a:xfrm>
          <a:prstGeom prst="bentConnector2">
            <a:avLst/>
          </a:prstGeom>
          <a:ln w="38100">
            <a:solidFill>
              <a:schemeClr val="tx1">
                <a:lumMod val="50000"/>
              </a:schemeClr>
            </a:solidFill>
            <a:prstDash val="sysDot"/>
            <a:tailEnd type="arrow"/>
          </a:ln>
        </p:spPr>
        <p:style>
          <a:lnRef idx="2">
            <a:schemeClr val="accent1"/>
          </a:lnRef>
          <a:fillRef idx="0">
            <a:schemeClr val="accent1"/>
          </a:fillRef>
          <a:effectRef idx="1">
            <a:schemeClr val="accent1"/>
          </a:effectRef>
          <a:fontRef idx="minor">
            <a:schemeClr val="tx1"/>
          </a:fontRef>
        </p:style>
      </p:cxnSp>
      <p:pic>
        <p:nvPicPr>
          <p:cNvPr id="2091" name="Picture 4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05300" y="2909886"/>
            <a:ext cx="952500" cy="1038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4399162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4938490" y="1381125"/>
            <a:ext cx="4053109" cy="3571875"/>
          </a:xfrm>
          <a:prstGeom prst="rect">
            <a:avLst/>
          </a:prstGeom>
          <a:solidFill>
            <a:schemeClr val="accent6">
              <a:lumMod val="40000"/>
              <a:lumOff val="60000"/>
            </a:schemeClr>
          </a:solidFill>
          <a:ln>
            <a:prstDash val="sysDash"/>
          </a:ln>
        </p:spPr>
        <p:style>
          <a:lnRef idx="1">
            <a:schemeClr val="accent1"/>
          </a:lnRef>
          <a:fillRef idx="3">
            <a:schemeClr val="accent1"/>
          </a:fillRef>
          <a:effectRef idx="2">
            <a:schemeClr val="accent1"/>
          </a:effectRef>
          <a:fontRef idx="minor">
            <a:schemeClr val="lt1"/>
          </a:fontRef>
        </p:style>
        <p:txBody>
          <a:bodyPr rtlCol="0" anchor="ctr" anchorCtr="0"/>
          <a:lstStyle/>
          <a:p>
            <a:r>
              <a:rPr lang="en-US" dirty="0" smtClean="0">
                <a:solidFill>
                  <a:schemeClr val="tx1">
                    <a:lumMod val="50000"/>
                  </a:schemeClr>
                </a:solidFill>
              </a:rPr>
              <a:t>Eclipse </a:t>
            </a:r>
          </a:p>
          <a:p>
            <a:r>
              <a:rPr lang="en-US" dirty="0" smtClean="0">
                <a:solidFill>
                  <a:schemeClr val="tx1">
                    <a:lumMod val="50000"/>
                  </a:schemeClr>
                </a:solidFill>
              </a:rPr>
              <a:t>Capability</a:t>
            </a:r>
          </a:p>
          <a:p>
            <a:r>
              <a:rPr lang="en-US" dirty="0" smtClean="0">
                <a:solidFill>
                  <a:schemeClr val="tx1">
                    <a:lumMod val="50000"/>
                  </a:schemeClr>
                </a:solidFill>
              </a:rPr>
              <a:t>Expanded</a:t>
            </a:r>
            <a:endParaRPr lang="en-US" dirty="0">
              <a:solidFill>
                <a:schemeClr val="tx1">
                  <a:lumMod val="50000"/>
                </a:schemeClr>
              </a:solidFill>
            </a:endParaRPr>
          </a:p>
        </p:txBody>
      </p:sp>
      <p:sp>
        <p:nvSpPr>
          <p:cNvPr id="2" name="Title 1"/>
          <p:cNvSpPr>
            <a:spLocks noGrp="1"/>
          </p:cNvSpPr>
          <p:nvPr>
            <p:ph type="title"/>
          </p:nvPr>
        </p:nvSpPr>
        <p:spPr/>
        <p:txBody>
          <a:bodyPr/>
          <a:lstStyle/>
          <a:p>
            <a:r>
              <a:rPr lang="en-US" dirty="0" smtClean="0"/>
              <a:t>Single File Plug-in Script</a:t>
            </a:r>
            <a:endParaRPr lang="en-US" dirty="0"/>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1381125"/>
            <a:ext cx="4709891" cy="3571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04084" y="3838575"/>
            <a:ext cx="952500" cy="1038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4" name="Object 3"/>
          <p:cNvGraphicFramePr>
            <a:graphicFrameLocks noChangeAspect="1"/>
          </p:cNvGraphicFramePr>
          <p:nvPr>
            <p:extLst>
              <p:ext uri="{D42A27DB-BD31-4B8C-83A1-F6EECF244321}">
                <p14:modId xmlns:p14="http://schemas.microsoft.com/office/powerpoint/2010/main" val="3848540445"/>
              </p:ext>
            </p:extLst>
          </p:nvPr>
        </p:nvGraphicFramePr>
        <p:xfrm>
          <a:off x="6172200" y="1450307"/>
          <a:ext cx="2758379" cy="3350293"/>
        </p:xfrm>
        <a:graphic>
          <a:graphicData uri="http://schemas.openxmlformats.org/presentationml/2006/ole">
            <mc:AlternateContent xmlns:mc="http://schemas.openxmlformats.org/markup-compatibility/2006">
              <mc:Choice xmlns:v="urn:schemas-microsoft-com:vml" Requires="v">
                <p:oleObj spid="_x0000_s4147" name="Visio" r:id="rId6" imgW="3003878" imgH="3648240" progId="Visio.Drawing.11">
                  <p:link updateAutomatic="1"/>
                </p:oleObj>
              </mc:Choice>
              <mc:Fallback>
                <p:oleObj name="Visio" r:id="rId6" imgW="3003878" imgH="3648240" progId="Visio.Drawing.11">
                  <p:link updateAutomatic="1"/>
                  <p:pic>
                    <p:nvPicPr>
                      <p:cNvPr id="0" name=""/>
                      <p:cNvPicPr/>
                      <p:nvPr/>
                    </p:nvPicPr>
                    <p:blipFill>
                      <a:blip r:embed="rId7"/>
                      <a:stretch>
                        <a:fillRect/>
                      </a:stretch>
                    </p:blipFill>
                    <p:spPr>
                      <a:xfrm>
                        <a:off x="6172200" y="1450307"/>
                        <a:ext cx="2758379" cy="3350293"/>
                      </a:xfrm>
                      <a:prstGeom prst="rect">
                        <a:avLst/>
                      </a:prstGeom>
                      <a:solidFill>
                        <a:schemeClr val="bg1"/>
                      </a:solidFill>
                    </p:spPr>
                  </p:pic>
                </p:oleObj>
              </mc:Fallback>
            </mc:AlternateContent>
          </a:graphicData>
        </a:graphic>
      </p:graphicFrame>
      <p:pic>
        <p:nvPicPr>
          <p:cNvPr id="410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28800" y="1708960"/>
            <a:ext cx="2647950" cy="22021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Freeform 6"/>
          <p:cNvSpPr/>
          <p:nvPr/>
        </p:nvSpPr>
        <p:spPr>
          <a:xfrm rot="21157469">
            <a:off x="4459339" y="1984841"/>
            <a:ext cx="1719386" cy="374906"/>
          </a:xfrm>
          <a:custGeom>
            <a:avLst/>
            <a:gdLst>
              <a:gd name="connsiteX0" fmla="*/ 0 w 1756611"/>
              <a:gd name="connsiteY0" fmla="*/ 374665 h 374665"/>
              <a:gd name="connsiteX1" fmla="*/ 745958 w 1756611"/>
              <a:gd name="connsiteY1" fmla="*/ 1686 h 374665"/>
              <a:gd name="connsiteX2" fmla="*/ 1756611 w 1756611"/>
              <a:gd name="connsiteY2" fmla="*/ 242318 h 374665"/>
            </a:gdLst>
            <a:ahLst/>
            <a:cxnLst>
              <a:cxn ang="0">
                <a:pos x="connsiteX0" y="connsiteY0"/>
              </a:cxn>
              <a:cxn ang="0">
                <a:pos x="connsiteX1" y="connsiteY1"/>
              </a:cxn>
              <a:cxn ang="0">
                <a:pos x="connsiteX2" y="connsiteY2"/>
              </a:cxn>
            </a:cxnLst>
            <a:rect l="l" t="t" r="r" b="b"/>
            <a:pathLst>
              <a:path w="1756611" h="374665">
                <a:moveTo>
                  <a:pt x="0" y="374665"/>
                </a:moveTo>
                <a:cubicBezTo>
                  <a:pt x="226595" y="199204"/>
                  <a:pt x="453190" y="23744"/>
                  <a:pt x="745958" y="1686"/>
                </a:cubicBezTo>
                <a:cubicBezTo>
                  <a:pt x="1038726" y="-20372"/>
                  <a:pt x="1644316" y="180155"/>
                  <a:pt x="1756611" y="242318"/>
                </a:cubicBezTo>
              </a:path>
            </a:pathLst>
          </a:custGeom>
          <a:noFill/>
          <a:ln w="38100">
            <a:solidFill>
              <a:srgbClr val="FF0000"/>
            </a:solidFill>
            <a:prstDash val="sysDash"/>
            <a:tailEnd type="stealt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 name="Title 1"/>
          <p:cNvSpPr txBox="1">
            <a:spLocks/>
          </p:cNvSpPr>
          <p:nvPr/>
        </p:nvSpPr>
        <p:spPr bwMode="auto">
          <a:xfrm>
            <a:off x="228601" y="5257800"/>
            <a:ext cx="8686800" cy="5715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defTabSz="457200" rtl="0" eaLnBrk="1" fontAlgn="base" hangingPunct="1">
              <a:spcBef>
                <a:spcPct val="0"/>
              </a:spcBef>
              <a:spcAft>
                <a:spcPct val="0"/>
              </a:spcAft>
              <a:defRPr sz="3500" kern="1200">
                <a:solidFill>
                  <a:schemeClr val="accent2"/>
                </a:solidFill>
                <a:latin typeface="Arial"/>
                <a:ea typeface="ＭＳ Ｐゴシック" charset="-128"/>
                <a:cs typeface="Arial"/>
              </a:defRPr>
            </a:lvl1pPr>
            <a:lvl2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2pPr>
            <a:lvl3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3pPr>
            <a:lvl4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4pPr>
            <a:lvl5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5pPr>
            <a:lvl6pPr marL="4572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9pPr>
          </a:lstStyle>
          <a:p>
            <a:r>
              <a:rPr lang="en-US" sz="2400" dirty="0" smtClean="0"/>
              <a:t>Script is compiled OTF and run in Eclipse Memory Space.</a:t>
            </a:r>
            <a:endParaRPr lang="en-US" sz="2400" dirty="0"/>
          </a:p>
        </p:txBody>
      </p:sp>
      <p:cxnSp>
        <p:nvCxnSpPr>
          <p:cNvPr id="12" name="Straight Connector 11"/>
          <p:cNvCxnSpPr>
            <a:endCxn id="4099" idx="3"/>
          </p:cNvCxnSpPr>
          <p:nvPr/>
        </p:nvCxnSpPr>
        <p:spPr>
          <a:xfrm flipH="1">
            <a:off x="5556584" y="4357687"/>
            <a:ext cx="639092" cy="1"/>
          </a:xfrm>
          <a:prstGeom prst="line">
            <a:avLst/>
          </a:prstGeom>
          <a:ln>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99385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4938490" y="1381125"/>
            <a:ext cx="4053109" cy="3571875"/>
          </a:xfrm>
          <a:prstGeom prst="rect">
            <a:avLst/>
          </a:prstGeom>
          <a:solidFill>
            <a:schemeClr val="accent6">
              <a:lumMod val="40000"/>
              <a:lumOff val="60000"/>
            </a:schemeClr>
          </a:solidFill>
          <a:ln>
            <a:prstDash val="sysDash"/>
          </a:ln>
        </p:spPr>
        <p:style>
          <a:lnRef idx="1">
            <a:schemeClr val="accent1"/>
          </a:lnRef>
          <a:fillRef idx="3">
            <a:schemeClr val="accent1"/>
          </a:fillRef>
          <a:effectRef idx="2">
            <a:schemeClr val="accent1"/>
          </a:effectRef>
          <a:fontRef idx="minor">
            <a:schemeClr val="lt1"/>
          </a:fontRef>
        </p:style>
        <p:txBody>
          <a:bodyPr rtlCol="0" anchor="ctr" anchorCtr="0"/>
          <a:lstStyle/>
          <a:p>
            <a:r>
              <a:rPr lang="en-US" dirty="0" smtClean="0">
                <a:solidFill>
                  <a:schemeClr val="tx1">
                    <a:lumMod val="50000"/>
                  </a:schemeClr>
                </a:solidFill>
              </a:rPr>
              <a:t>Eclipse </a:t>
            </a:r>
          </a:p>
          <a:p>
            <a:r>
              <a:rPr lang="en-US" dirty="0" smtClean="0">
                <a:solidFill>
                  <a:schemeClr val="tx1">
                    <a:lumMod val="50000"/>
                  </a:schemeClr>
                </a:solidFill>
              </a:rPr>
              <a:t>Capability</a:t>
            </a:r>
          </a:p>
          <a:p>
            <a:r>
              <a:rPr lang="en-US" dirty="0" smtClean="0">
                <a:solidFill>
                  <a:schemeClr val="tx1">
                    <a:lumMod val="50000"/>
                  </a:schemeClr>
                </a:solidFill>
              </a:rPr>
              <a:t>Expanded</a:t>
            </a:r>
            <a:endParaRPr lang="en-US" dirty="0">
              <a:solidFill>
                <a:schemeClr val="tx1">
                  <a:lumMod val="50000"/>
                </a:schemeClr>
              </a:solidFill>
            </a:endParaRPr>
          </a:p>
        </p:txBody>
      </p:sp>
      <p:sp>
        <p:nvSpPr>
          <p:cNvPr id="2" name="Title 1"/>
          <p:cNvSpPr>
            <a:spLocks noGrp="1"/>
          </p:cNvSpPr>
          <p:nvPr>
            <p:ph type="title"/>
          </p:nvPr>
        </p:nvSpPr>
        <p:spPr/>
        <p:txBody>
          <a:bodyPr/>
          <a:lstStyle/>
          <a:p>
            <a:r>
              <a:rPr lang="en-US" dirty="0" smtClean="0"/>
              <a:t>Binary Plug-in Script</a:t>
            </a:r>
            <a:endParaRPr lang="en-US"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381125"/>
            <a:ext cx="4709891" cy="3571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04084" y="3838575"/>
            <a:ext cx="952500" cy="1038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Freeform 6"/>
          <p:cNvSpPr/>
          <p:nvPr/>
        </p:nvSpPr>
        <p:spPr>
          <a:xfrm rot="21157469">
            <a:off x="4459339" y="1984841"/>
            <a:ext cx="1719386" cy="374906"/>
          </a:xfrm>
          <a:custGeom>
            <a:avLst/>
            <a:gdLst>
              <a:gd name="connsiteX0" fmla="*/ 0 w 1756611"/>
              <a:gd name="connsiteY0" fmla="*/ 374665 h 374665"/>
              <a:gd name="connsiteX1" fmla="*/ 745958 w 1756611"/>
              <a:gd name="connsiteY1" fmla="*/ 1686 h 374665"/>
              <a:gd name="connsiteX2" fmla="*/ 1756611 w 1756611"/>
              <a:gd name="connsiteY2" fmla="*/ 242318 h 374665"/>
            </a:gdLst>
            <a:ahLst/>
            <a:cxnLst>
              <a:cxn ang="0">
                <a:pos x="connsiteX0" y="connsiteY0"/>
              </a:cxn>
              <a:cxn ang="0">
                <a:pos x="connsiteX1" y="connsiteY1"/>
              </a:cxn>
              <a:cxn ang="0">
                <a:pos x="connsiteX2" y="connsiteY2"/>
              </a:cxn>
            </a:cxnLst>
            <a:rect l="l" t="t" r="r" b="b"/>
            <a:pathLst>
              <a:path w="1756611" h="374665">
                <a:moveTo>
                  <a:pt x="0" y="374665"/>
                </a:moveTo>
                <a:cubicBezTo>
                  <a:pt x="226595" y="199204"/>
                  <a:pt x="453190" y="23744"/>
                  <a:pt x="745958" y="1686"/>
                </a:cubicBezTo>
                <a:cubicBezTo>
                  <a:pt x="1038726" y="-20372"/>
                  <a:pt x="1644316" y="180155"/>
                  <a:pt x="1756611" y="242318"/>
                </a:cubicBezTo>
              </a:path>
            </a:pathLst>
          </a:custGeom>
          <a:noFill/>
          <a:ln w="38100">
            <a:solidFill>
              <a:srgbClr val="FF0000"/>
            </a:solidFill>
            <a:prstDash val="sysDash"/>
            <a:tailEnd type="stealt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 name="Title 1"/>
          <p:cNvSpPr txBox="1">
            <a:spLocks/>
          </p:cNvSpPr>
          <p:nvPr/>
        </p:nvSpPr>
        <p:spPr bwMode="auto">
          <a:xfrm>
            <a:off x="228601" y="5257800"/>
            <a:ext cx="8686800" cy="5715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defTabSz="457200" rtl="0" eaLnBrk="1" fontAlgn="base" hangingPunct="1">
              <a:spcBef>
                <a:spcPct val="0"/>
              </a:spcBef>
              <a:spcAft>
                <a:spcPct val="0"/>
              </a:spcAft>
              <a:defRPr sz="3500" kern="1200">
                <a:solidFill>
                  <a:schemeClr val="accent2"/>
                </a:solidFill>
                <a:latin typeface="Arial"/>
                <a:ea typeface="ＭＳ Ｐゴシック" charset="-128"/>
                <a:cs typeface="Arial"/>
              </a:defRPr>
            </a:lvl1pPr>
            <a:lvl2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2pPr>
            <a:lvl3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3pPr>
            <a:lvl4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4pPr>
            <a:lvl5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5pPr>
            <a:lvl6pPr marL="4572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9pPr>
          </a:lstStyle>
          <a:p>
            <a:r>
              <a:rPr lang="en-US" sz="2400" dirty="0" smtClean="0"/>
              <a:t>Script is compiled before it’s run in Eclipse Memory Space.</a:t>
            </a:r>
            <a:endParaRPr lang="en-US" sz="2400" dirty="0"/>
          </a:p>
        </p:txBody>
      </p:sp>
      <p:pic>
        <p:nvPicPr>
          <p:cNvPr id="512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95676" y="1953219"/>
            <a:ext cx="2000250" cy="438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Elbow Connector 5"/>
          <p:cNvCxnSpPr>
            <a:endCxn id="4099" idx="3"/>
          </p:cNvCxnSpPr>
          <p:nvPr/>
        </p:nvCxnSpPr>
        <p:spPr>
          <a:xfrm rot="5400000">
            <a:off x="5393034" y="2554920"/>
            <a:ext cx="1966319" cy="1639217"/>
          </a:xfrm>
          <a:prstGeom prst="bentConnector2">
            <a:avLst/>
          </a:prstGeom>
          <a:ln>
            <a:prstDash val="sysDot"/>
          </a:ln>
        </p:spPr>
        <p:style>
          <a:lnRef idx="2">
            <a:schemeClr val="accent1"/>
          </a:lnRef>
          <a:fillRef idx="0">
            <a:schemeClr val="accent1"/>
          </a:fillRef>
          <a:effectRef idx="1">
            <a:schemeClr val="accent1"/>
          </a:effectRef>
          <a:fontRef idx="minor">
            <a:schemeClr val="tx1"/>
          </a:fontRef>
        </p:style>
      </p:cxnSp>
      <p:pic>
        <p:nvPicPr>
          <p:cNvPr id="5124"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5064" y="1676400"/>
            <a:ext cx="2670736" cy="22210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91389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Eclipse </a:t>
            </a:r>
            <a:r>
              <a:rPr lang="en-US" b="1" u="sng" dirty="0" smtClean="0"/>
              <a:t>Scripting </a:t>
            </a:r>
            <a:r>
              <a:rPr lang="en-US" dirty="0" smtClean="0"/>
              <a:t>API ?</a:t>
            </a:r>
            <a:endParaRPr lang="en-US" dirty="0"/>
          </a:p>
        </p:txBody>
      </p:sp>
      <p:sp>
        <p:nvSpPr>
          <p:cNvPr id="3" name="Content Placeholder 2"/>
          <p:cNvSpPr>
            <a:spLocks noGrp="1"/>
          </p:cNvSpPr>
          <p:nvPr>
            <p:ph idx="1"/>
          </p:nvPr>
        </p:nvSpPr>
        <p:spPr/>
        <p:txBody>
          <a:bodyPr/>
          <a:lstStyle/>
          <a:p>
            <a:pPr marL="0" indent="0">
              <a:buNone/>
            </a:pPr>
            <a:r>
              <a:rPr lang="en-US" sz="3600" dirty="0" smtClean="0"/>
              <a:t>“Scripting” Implies</a:t>
            </a:r>
          </a:p>
          <a:p>
            <a:pPr lvl="1">
              <a:buFont typeface="Wingdings" panose="05000000000000000000" pitchFamily="2" charset="2"/>
              <a:buChar char="ü"/>
            </a:pPr>
            <a:r>
              <a:rPr lang="en-US" sz="3200" dirty="0" smtClean="0"/>
              <a:t>No development environment needed.</a:t>
            </a:r>
          </a:p>
          <a:p>
            <a:pPr lvl="1">
              <a:buFont typeface="Wingdings" panose="05000000000000000000" pitchFamily="2" charset="2"/>
              <a:buChar char="ü"/>
            </a:pPr>
            <a:r>
              <a:rPr lang="en-US" sz="3200" dirty="0" smtClean="0"/>
              <a:t>No compiling needed.</a:t>
            </a:r>
          </a:p>
          <a:p>
            <a:pPr lvl="1">
              <a:buFont typeface="Wingdings" panose="05000000000000000000" pitchFamily="2" charset="2"/>
              <a:buChar char="ü"/>
            </a:pPr>
            <a:r>
              <a:rPr lang="en-US" sz="3200" dirty="0" smtClean="0"/>
              <a:t>Run on the fly, while application is open.</a:t>
            </a:r>
          </a:p>
          <a:p>
            <a:pPr lvl="1">
              <a:buFont typeface="Wingdings" panose="05000000000000000000" pitchFamily="2" charset="2"/>
              <a:buChar char="ü"/>
            </a:pPr>
            <a:r>
              <a:rPr lang="en-US" sz="3200" dirty="0" smtClean="0"/>
              <a:t>Less formal development.</a:t>
            </a:r>
          </a:p>
          <a:p>
            <a:pPr lvl="1">
              <a:buFont typeface="Wingdings" panose="05000000000000000000" pitchFamily="2" charset="2"/>
              <a:buChar char="ü"/>
            </a:pPr>
            <a:r>
              <a:rPr lang="en-US" sz="3200" dirty="0" smtClean="0"/>
              <a:t>Programmer fun!</a:t>
            </a:r>
          </a:p>
          <a:p>
            <a:endParaRPr lang="en-US" dirty="0" smtClean="0"/>
          </a:p>
          <a:p>
            <a:endParaRPr lang="en-US" dirty="0"/>
          </a:p>
        </p:txBody>
      </p:sp>
      <p:pic>
        <p:nvPicPr>
          <p:cNvPr id="6146" name="Picture 2" descr="C:\Users\wkeranen\AppData\Local\Microsoft\Windows\Temporary Internet Files\Content.IE5\2H21CNBC\MC900391538[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5600" y="4038600"/>
            <a:ext cx="1511503" cy="18132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28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Scripting APIs available in v11</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07598722"/>
              </p:ext>
            </p:extLst>
          </p:nvPr>
        </p:nvGraphicFramePr>
        <p:xfrm>
          <a:off x="403225" y="1295400"/>
          <a:ext cx="8353426" cy="1280160"/>
        </p:xfrm>
        <a:graphic>
          <a:graphicData uri="http://schemas.openxmlformats.org/drawingml/2006/table">
            <a:tbl>
              <a:tblPr firstRow="1" bandRow="1">
                <a:tableStyleId>{85BE263C-DBD7-4A20-BB59-AAB30ACAA65A}</a:tableStyleId>
              </a:tblPr>
              <a:tblGrid>
                <a:gridCol w="4176713"/>
                <a:gridCol w="4176713"/>
              </a:tblGrid>
              <a:tr h="370840">
                <a:tc>
                  <a:txBody>
                    <a:bodyPr/>
                    <a:lstStyle/>
                    <a:p>
                      <a:r>
                        <a:rPr lang="en-US" sz="2400" dirty="0" smtClean="0"/>
                        <a:t>Product</a:t>
                      </a:r>
                      <a:endParaRPr lang="en-US" sz="2400" dirty="0"/>
                    </a:p>
                  </a:txBody>
                  <a:tcPr/>
                </a:tc>
                <a:tc>
                  <a:txBody>
                    <a:bodyPr/>
                    <a:lstStyle/>
                    <a:p>
                      <a:r>
                        <a:rPr lang="en-US" sz="2400" dirty="0" smtClean="0"/>
                        <a:t>Description</a:t>
                      </a:r>
                      <a:endParaRPr lang="en-US" sz="2400" dirty="0"/>
                    </a:p>
                  </a:txBody>
                  <a:tcPr/>
                </a:tc>
              </a:tr>
              <a:tr h="370840">
                <a:tc>
                  <a:txBody>
                    <a:bodyPr/>
                    <a:lstStyle/>
                    <a:p>
                      <a:r>
                        <a:rPr lang="en-US" sz="2400" dirty="0" smtClean="0"/>
                        <a:t>Eclipse Scripting API (ESAPI)*</a:t>
                      </a:r>
                      <a:endParaRPr lang="en-US" sz="2400" dirty="0"/>
                    </a:p>
                  </a:txBody>
                  <a:tcPr/>
                </a:tc>
                <a:tc>
                  <a:txBody>
                    <a:bodyPr/>
                    <a:lstStyle/>
                    <a:p>
                      <a:r>
                        <a:rPr lang="en-US" sz="2400" dirty="0" smtClean="0"/>
                        <a:t>Read-only</a:t>
                      </a:r>
                      <a:r>
                        <a:rPr lang="en-US" sz="2400" baseline="0" dirty="0" smtClean="0"/>
                        <a:t> Eclipse Scripting API</a:t>
                      </a:r>
                      <a:endParaRPr lang="en-US" sz="2400" dirty="0"/>
                    </a:p>
                  </a:txBody>
                  <a:tcPr/>
                </a:tc>
              </a:tr>
            </a:tbl>
          </a:graphicData>
        </a:graphic>
      </p:graphicFrame>
      <p:sp>
        <p:nvSpPr>
          <p:cNvPr id="6" name="Title 1"/>
          <p:cNvSpPr txBox="1">
            <a:spLocks/>
          </p:cNvSpPr>
          <p:nvPr/>
        </p:nvSpPr>
        <p:spPr bwMode="auto">
          <a:xfrm>
            <a:off x="228601" y="5410200"/>
            <a:ext cx="8686800" cy="5715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defTabSz="457200" rtl="0" eaLnBrk="1" fontAlgn="base" hangingPunct="1">
              <a:spcBef>
                <a:spcPct val="0"/>
              </a:spcBef>
              <a:spcAft>
                <a:spcPct val="0"/>
              </a:spcAft>
              <a:defRPr sz="3500" kern="1200">
                <a:solidFill>
                  <a:schemeClr val="accent2"/>
                </a:solidFill>
                <a:latin typeface="Arial"/>
                <a:ea typeface="ＭＳ Ｐゴシック" charset="-128"/>
                <a:cs typeface="Arial"/>
              </a:defRPr>
            </a:lvl1pPr>
            <a:lvl2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2pPr>
            <a:lvl3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3pPr>
            <a:lvl4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4pPr>
            <a:lvl5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5pPr>
            <a:lvl6pPr marL="4572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9pPr>
          </a:lstStyle>
          <a:p>
            <a:r>
              <a:rPr lang="en-US" sz="2400" b="1" dirty="0" smtClean="0"/>
              <a:t>*</a:t>
            </a:r>
            <a:r>
              <a:rPr lang="en-US" sz="2400" dirty="0" smtClean="0"/>
              <a:t> Also available in v13</a:t>
            </a:r>
            <a:endParaRPr lang="en-US" sz="2400" dirty="0"/>
          </a:p>
        </p:txBody>
      </p:sp>
    </p:spTree>
    <p:extLst>
      <p:ext uri="{BB962C8B-B14F-4D97-AF65-F5344CB8AC3E}">
        <p14:creationId xmlns:p14="http://schemas.microsoft.com/office/powerpoint/2010/main" val="138361579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Eclipse Scripting API v11 &amp; V13 : Clinical</a:t>
            </a:r>
            <a:endParaRPr lang="en-US" dirty="0"/>
          </a:p>
        </p:txBody>
      </p:sp>
      <p:sp>
        <p:nvSpPr>
          <p:cNvPr id="3" name="Content Placeholder 2"/>
          <p:cNvSpPr>
            <a:spLocks noGrp="1"/>
          </p:cNvSpPr>
          <p:nvPr>
            <p:ph idx="1"/>
          </p:nvPr>
        </p:nvSpPr>
        <p:spPr/>
        <p:txBody>
          <a:bodyPr/>
          <a:lstStyle/>
          <a:p>
            <a:pPr>
              <a:spcAft>
                <a:spcPts val="1000"/>
              </a:spcAft>
            </a:pPr>
            <a:r>
              <a:rPr lang="en-US" sz="4000" dirty="0" smtClean="0"/>
              <a:t>Nothing extra: </a:t>
            </a:r>
            <a:r>
              <a:rPr lang="en-US" sz="4000" dirty="0"/>
              <a:t>License comes with Eclipse.</a:t>
            </a:r>
            <a:endParaRPr lang="en-US" sz="4000" dirty="0" smtClean="0"/>
          </a:p>
          <a:p>
            <a:pPr>
              <a:spcAft>
                <a:spcPts val="1000"/>
              </a:spcAft>
            </a:pPr>
            <a:r>
              <a:rPr lang="en-US" sz="4000" dirty="0" smtClean="0"/>
              <a:t>Online Help and Script Wizard Installed on Eclipse Workstation.</a:t>
            </a:r>
          </a:p>
          <a:p>
            <a:pPr>
              <a:spcAft>
                <a:spcPts val="1000"/>
              </a:spcAft>
            </a:pPr>
            <a:r>
              <a:rPr lang="en-US" sz="4000" dirty="0" smtClean="0"/>
              <a:t>Reference Guide on </a:t>
            </a:r>
            <a:r>
              <a:rPr lang="en-US" sz="4000" dirty="0" err="1" smtClean="0"/>
              <a:t>MyVarian</a:t>
            </a:r>
            <a:r>
              <a:rPr lang="en-US" sz="4000" dirty="0" smtClean="0"/>
              <a:t>.</a:t>
            </a:r>
            <a:endParaRPr lang="en-US" dirty="0" smtClean="0"/>
          </a:p>
        </p:txBody>
      </p:sp>
    </p:spTree>
    <p:extLst>
      <p:ext uri="{BB962C8B-B14F-4D97-AF65-F5344CB8AC3E}">
        <p14:creationId xmlns:p14="http://schemas.microsoft.com/office/powerpoint/2010/main" val="155676253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ESAPI v11 &amp; V13 : Sample Use Cases</a:t>
            </a:r>
            <a:endParaRPr lang="en-US" dirty="0"/>
          </a:p>
        </p:txBody>
      </p:sp>
      <p:sp>
        <p:nvSpPr>
          <p:cNvPr id="4" name="Content Placeholder 3"/>
          <p:cNvSpPr>
            <a:spLocks noGrp="1"/>
          </p:cNvSpPr>
          <p:nvPr>
            <p:ph idx="1"/>
          </p:nvPr>
        </p:nvSpPr>
        <p:spPr/>
        <p:txBody>
          <a:bodyPr/>
          <a:lstStyle/>
          <a:p>
            <a:r>
              <a:rPr lang="en-US" dirty="0" smtClean="0"/>
              <a:t>Reporting: Replace TML reports.</a:t>
            </a:r>
          </a:p>
          <a:p>
            <a:r>
              <a:rPr lang="en-US" dirty="0" smtClean="0"/>
              <a:t>2</a:t>
            </a:r>
            <a:r>
              <a:rPr lang="en-US" baseline="30000" dirty="0" smtClean="0"/>
              <a:t>nd</a:t>
            </a:r>
            <a:r>
              <a:rPr lang="en-US" dirty="0" smtClean="0"/>
              <a:t> Checks and QA applications.</a:t>
            </a:r>
          </a:p>
          <a:p>
            <a:pPr lvl="1"/>
            <a:r>
              <a:rPr lang="en-US" dirty="0" smtClean="0"/>
              <a:t>Push Eclipse Data to another system for a 2</a:t>
            </a:r>
            <a:r>
              <a:rPr lang="en-US" baseline="30000" dirty="0" smtClean="0"/>
              <a:t>nd</a:t>
            </a:r>
            <a:r>
              <a:rPr lang="en-US" dirty="0" smtClean="0"/>
              <a:t> MU check; + 2</a:t>
            </a:r>
            <a:r>
              <a:rPr lang="en-US" baseline="30000" dirty="0" smtClean="0"/>
              <a:t>nd</a:t>
            </a:r>
            <a:r>
              <a:rPr lang="en-US" dirty="0" smtClean="0"/>
              <a:t> Check for SRS Beams.</a:t>
            </a:r>
          </a:p>
          <a:p>
            <a:pPr lvl="1"/>
            <a:r>
              <a:rPr lang="en-US" dirty="0" smtClean="0"/>
              <a:t>MLC position verification &amp; check.</a:t>
            </a:r>
          </a:p>
          <a:p>
            <a:r>
              <a:rPr lang="en-US" dirty="0" smtClean="0"/>
              <a:t>Commissioning : verify dose data, CT density, alignments, structure volumes.</a:t>
            </a:r>
          </a:p>
          <a:p>
            <a:r>
              <a:rPr lang="en-US" dirty="0" smtClean="0"/>
              <a:t>Research: Export Eclipse data as VTK</a:t>
            </a:r>
            <a:endParaRPr lang="en-US" dirty="0"/>
          </a:p>
        </p:txBody>
      </p:sp>
    </p:spTree>
    <p:extLst>
      <p:ext uri="{BB962C8B-B14F-4D97-AF65-F5344CB8AC3E}">
        <p14:creationId xmlns:p14="http://schemas.microsoft.com/office/powerpoint/2010/main" val="100211004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err="1" smtClean="0"/>
              <a:t>Eclipse</a:t>
            </a:r>
            <a:r>
              <a:rPr lang="fi-FI" dirty="0" smtClean="0"/>
              <a:t> Scripting API v11/v13 </a:t>
            </a:r>
            <a:r>
              <a:rPr lang="fi-FI" dirty="0" err="1" smtClean="0"/>
              <a:t>Capability</a:t>
            </a:r>
            <a:endParaRPr lang="fi-FI" dirty="0"/>
          </a:p>
        </p:txBody>
      </p:sp>
      <p:sp>
        <p:nvSpPr>
          <p:cNvPr id="3" name="Content Placeholder 2"/>
          <p:cNvSpPr>
            <a:spLocks noGrp="1"/>
          </p:cNvSpPr>
          <p:nvPr>
            <p:ph idx="1"/>
          </p:nvPr>
        </p:nvSpPr>
        <p:spPr/>
        <p:txBody>
          <a:bodyPr>
            <a:normAutofit/>
          </a:bodyPr>
          <a:lstStyle/>
          <a:p>
            <a:r>
              <a:rPr lang="en-US" dirty="0" smtClean="0"/>
              <a:t>Images, 3D &amp; 2D</a:t>
            </a:r>
          </a:p>
          <a:p>
            <a:r>
              <a:rPr lang="en-US" dirty="0" smtClean="0"/>
              <a:t>Structure models</a:t>
            </a:r>
          </a:p>
          <a:p>
            <a:r>
              <a:rPr lang="en-US" dirty="0" smtClean="0"/>
              <a:t>Surface data as triangle mesh.</a:t>
            </a:r>
          </a:p>
          <a:p>
            <a:r>
              <a:rPr lang="en-US" dirty="0"/>
              <a:t>P</a:t>
            </a:r>
            <a:r>
              <a:rPr lang="en-US" dirty="0" smtClean="0"/>
              <a:t>lans</a:t>
            </a:r>
            <a:r>
              <a:rPr lang="en-US" dirty="0"/>
              <a:t>, fields, and accessories. </a:t>
            </a:r>
            <a:endParaRPr lang="en-US" dirty="0" smtClean="0"/>
          </a:p>
          <a:p>
            <a:r>
              <a:rPr lang="en-US" dirty="0" smtClean="0"/>
              <a:t>Doses</a:t>
            </a:r>
            <a:r>
              <a:rPr lang="en-US" dirty="0"/>
              <a:t>, including their volumetric representations. </a:t>
            </a:r>
            <a:endParaRPr lang="en-US" dirty="0" smtClean="0"/>
          </a:p>
          <a:p>
            <a:r>
              <a:rPr lang="en-US" dirty="0" smtClean="0"/>
              <a:t>DVHs</a:t>
            </a:r>
            <a:r>
              <a:rPr lang="en-US" dirty="0"/>
              <a:t>, </a:t>
            </a:r>
            <a:r>
              <a:rPr lang="en-US" dirty="0" smtClean="0"/>
              <a:t>and a bit more…</a:t>
            </a:r>
            <a:endParaRPr lang="en-US" dirty="0"/>
          </a:p>
          <a:p>
            <a:pPr lvl="1"/>
            <a:endParaRPr lang="fi-FI" b="1" u="sng" dirty="0" smtClean="0">
              <a:solidFill>
                <a:srgbClr val="FF0000"/>
              </a:solidFill>
            </a:endParaRPr>
          </a:p>
        </p:txBody>
      </p:sp>
    </p:spTree>
    <p:extLst>
      <p:ext uri="{BB962C8B-B14F-4D97-AF65-F5344CB8AC3E}">
        <p14:creationId xmlns:p14="http://schemas.microsoft.com/office/powerpoint/2010/main" val="149733786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err="1" smtClean="0"/>
              <a:t>Eclipse</a:t>
            </a:r>
            <a:r>
              <a:rPr lang="fi-FI" dirty="0" smtClean="0"/>
              <a:t> Scripting API v11/13: DVH, </a:t>
            </a:r>
            <a:r>
              <a:rPr lang="fi-FI" dirty="0" err="1" smtClean="0"/>
              <a:t>Dose</a:t>
            </a:r>
            <a:endParaRPr lang="fi-FI" dirty="0"/>
          </a:p>
        </p:txBody>
      </p:sp>
      <p:pic>
        <p:nvPicPr>
          <p:cNvPr id="3074" name="Picture 2"/>
          <p:cNvPicPr>
            <a:picLocks noGrp="1" noChangeAspect="1" noChangeArrowheads="1"/>
          </p:cNvPicPr>
          <p:nvPr>
            <p:ph idx="1"/>
          </p:nvPr>
        </p:nvPicPr>
        <p:blipFill>
          <a:blip r:embed="rId2" cstate="print"/>
          <a:srcRect/>
          <a:stretch>
            <a:fillRect/>
          </a:stretch>
        </p:blipFill>
        <p:spPr bwMode="auto">
          <a:xfrm>
            <a:off x="1043608" y="1844824"/>
            <a:ext cx="3390900" cy="933450"/>
          </a:xfrm>
          <a:prstGeom prst="rect">
            <a:avLst/>
          </a:prstGeom>
          <a:noFill/>
          <a:ln w="9525">
            <a:noFill/>
            <a:miter lim="800000"/>
            <a:headEnd/>
            <a:tailEnd/>
          </a:ln>
        </p:spPr>
      </p:pic>
      <p:pic>
        <p:nvPicPr>
          <p:cNvPr id="3075" name="Picture 3"/>
          <p:cNvPicPr>
            <a:picLocks noChangeAspect="1" noChangeArrowheads="1"/>
          </p:cNvPicPr>
          <p:nvPr/>
        </p:nvPicPr>
        <p:blipFill>
          <a:blip r:embed="rId3" cstate="print"/>
          <a:srcRect/>
          <a:stretch>
            <a:fillRect/>
          </a:stretch>
        </p:blipFill>
        <p:spPr bwMode="auto">
          <a:xfrm>
            <a:off x="1043608" y="3284984"/>
            <a:ext cx="3943350" cy="923925"/>
          </a:xfrm>
          <a:prstGeom prst="rect">
            <a:avLst/>
          </a:prstGeom>
          <a:noFill/>
          <a:ln w="9525">
            <a:noFill/>
            <a:miter lim="800000"/>
            <a:headEnd/>
            <a:tailEnd/>
          </a:ln>
        </p:spPr>
      </p:pic>
      <p:pic>
        <p:nvPicPr>
          <p:cNvPr id="3076" name="Picture 4"/>
          <p:cNvPicPr>
            <a:picLocks noChangeAspect="1" noChangeArrowheads="1"/>
          </p:cNvPicPr>
          <p:nvPr/>
        </p:nvPicPr>
        <p:blipFill>
          <a:blip r:embed="rId4" cstate="print"/>
          <a:srcRect/>
          <a:stretch>
            <a:fillRect/>
          </a:stretch>
        </p:blipFill>
        <p:spPr bwMode="auto">
          <a:xfrm>
            <a:off x="5076056" y="3284984"/>
            <a:ext cx="3848100" cy="800100"/>
          </a:xfrm>
          <a:prstGeom prst="rect">
            <a:avLst/>
          </a:prstGeom>
          <a:noFill/>
          <a:ln w="9525">
            <a:noFill/>
            <a:miter lim="800000"/>
            <a:headEnd/>
            <a:tailEnd/>
          </a:ln>
        </p:spPr>
      </p:pic>
      <p:sp>
        <p:nvSpPr>
          <p:cNvPr id="7" name="TextBox 6"/>
          <p:cNvSpPr txBox="1"/>
          <p:nvPr/>
        </p:nvSpPr>
        <p:spPr>
          <a:xfrm>
            <a:off x="971600" y="1484784"/>
            <a:ext cx="3373359" cy="369332"/>
          </a:xfrm>
          <a:prstGeom prst="rect">
            <a:avLst/>
          </a:prstGeom>
          <a:noFill/>
        </p:spPr>
        <p:txBody>
          <a:bodyPr wrap="none" rtlCol="0">
            <a:spAutoFit/>
          </a:bodyPr>
          <a:lstStyle/>
          <a:p>
            <a:r>
              <a:rPr lang="fi-FI" sz="1800" dirty="0" smtClean="0">
                <a:latin typeface="Calibri" pitchFamily="34" charset="0"/>
                <a:cs typeface="Calibri" pitchFamily="34" charset="0"/>
              </a:rPr>
              <a:t>DVH </a:t>
            </a:r>
            <a:r>
              <a:rPr lang="fi-FI" sz="1800" dirty="0" err="1" smtClean="0">
                <a:latin typeface="Calibri" pitchFamily="34" charset="0"/>
                <a:cs typeface="Calibri" pitchFamily="34" charset="0"/>
              </a:rPr>
              <a:t>statistics</a:t>
            </a:r>
            <a:r>
              <a:rPr lang="fi-FI" sz="1800" dirty="0" smtClean="0">
                <a:latin typeface="Calibri" pitchFamily="34" charset="0"/>
                <a:cs typeface="Calibri" pitchFamily="34" charset="0"/>
              </a:rPr>
              <a:t> and DVH </a:t>
            </a:r>
            <a:r>
              <a:rPr lang="fi-FI" sz="1800" dirty="0" err="1" smtClean="0">
                <a:latin typeface="Calibri" pitchFamily="34" charset="0"/>
                <a:cs typeface="Calibri" pitchFamily="34" charset="0"/>
              </a:rPr>
              <a:t>curve</a:t>
            </a:r>
            <a:r>
              <a:rPr lang="fi-FI" sz="1800" dirty="0" smtClean="0">
                <a:latin typeface="Calibri" pitchFamily="34" charset="0"/>
                <a:cs typeface="Calibri" pitchFamily="34" charset="0"/>
              </a:rPr>
              <a:t> data</a:t>
            </a:r>
            <a:endParaRPr lang="fi-FI" sz="1800" dirty="0">
              <a:latin typeface="Calibri" pitchFamily="34" charset="0"/>
              <a:cs typeface="Calibri" pitchFamily="34" charset="0"/>
            </a:endParaRPr>
          </a:p>
        </p:txBody>
      </p:sp>
      <p:sp>
        <p:nvSpPr>
          <p:cNvPr id="8" name="TextBox 7"/>
          <p:cNvSpPr txBox="1"/>
          <p:nvPr/>
        </p:nvSpPr>
        <p:spPr>
          <a:xfrm>
            <a:off x="971600" y="2852936"/>
            <a:ext cx="3095719" cy="369332"/>
          </a:xfrm>
          <a:prstGeom prst="rect">
            <a:avLst/>
          </a:prstGeom>
          <a:noFill/>
        </p:spPr>
        <p:txBody>
          <a:bodyPr wrap="none" rtlCol="0">
            <a:spAutoFit/>
          </a:bodyPr>
          <a:lstStyle/>
          <a:p>
            <a:r>
              <a:rPr lang="fi-FI" sz="1800" dirty="0" err="1" smtClean="0">
                <a:latin typeface="Calibri" pitchFamily="34" charset="0"/>
                <a:cs typeface="Calibri" pitchFamily="34" charset="0"/>
              </a:rPr>
              <a:t>Direct</a:t>
            </a:r>
            <a:r>
              <a:rPr lang="fi-FI" sz="1800" dirty="0" smtClean="0">
                <a:latin typeface="Calibri" pitchFamily="34" charset="0"/>
                <a:cs typeface="Calibri" pitchFamily="34" charset="0"/>
              </a:rPr>
              <a:t> </a:t>
            </a:r>
            <a:r>
              <a:rPr lang="fi-FI" sz="1800" dirty="0" err="1" smtClean="0">
                <a:latin typeface="Calibri" pitchFamily="34" charset="0"/>
                <a:cs typeface="Calibri" pitchFamily="34" charset="0"/>
              </a:rPr>
              <a:t>lookups</a:t>
            </a:r>
            <a:r>
              <a:rPr lang="fi-FI" sz="1800" dirty="0" smtClean="0">
                <a:latin typeface="Calibri" pitchFamily="34" charset="0"/>
                <a:cs typeface="Calibri" pitchFamily="34" charset="0"/>
              </a:rPr>
              <a:t> for V20, D95 </a:t>
            </a:r>
            <a:r>
              <a:rPr lang="fi-FI" sz="1800" dirty="0" err="1" smtClean="0">
                <a:latin typeface="Calibri" pitchFamily="34" charset="0"/>
                <a:cs typeface="Calibri" pitchFamily="34" charset="0"/>
              </a:rPr>
              <a:t>etc</a:t>
            </a:r>
            <a:endParaRPr lang="fi-FI" sz="1800" dirty="0">
              <a:latin typeface="Calibri" pitchFamily="34" charset="0"/>
              <a:cs typeface="Calibri" pitchFamily="34" charset="0"/>
            </a:endParaRPr>
          </a:p>
        </p:txBody>
      </p:sp>
      <p:sp>
        <p:nvSpPr>
          <p:cNvPr id="9" name="TextBox 8"/>
          <p:cNvSpPr txBox="1"/>
          <p:nvPr/>
        </p:nvSpPr>
        <p:spPr>
          <a:xfrm>
            <a:off x="1043608" y="4509120"/>
            <a:ext cx="2585964" cy="369332"/>
          </a:xfrm>
          <a:prstGeom prst="rect">
            <a:avLst/>
          </a:prstGeom>
          <a:noFill/>
        </p:spPr>
        <p:txBody>
          <a:bodyPr wrap="none" rtlCol="0">
            <a:spAutoFit/>
          </a:bodyPr>
          <a:lstStyle/>
          <a:p>
            <a:r>
              <a:rPr lang="fi-FI" sz="1800" dirty="0" err="1" smtClean="0">
                <a:latin typeface="Calibri" pitchFamily="34" charset="0"/>
                <a:cs typeface="Calibri" pitchFamily="34" charset="0"/>
              </a:rPr>
              <a:t>Low</a:t>
            </a:r>
            <a:r>
              <a:rPr lang="fi-FI" sz="1800" dirty="0" smtClean="0">
                <a:latin typeface="Calibri" pitchFamily="34" charset="0"/>
                <a:cs typeface="Calibri" pitchFamily="34" charset="0"/>
              </a:rPr>
              <a:t> </a:t>
            </a:r>
            <a:r>
              <a:rPr lang="fi-FI" sz="1800" dirty="0" err="1" smtClean="0">
                <a:latin typeface="Calibri" pitchFamily="34" charset="0"/>
                <a:cs typeface="Calibri" pitchFamily="34" charset="0"/>
              </a:rPr>
              <a:t>level</a:t>
            </a:r>
            <a:r>
              <a:rPr lang="fi-FI" sz="1800" dirty="0" smtClean="0">
                <a:latin typeface="Calibri" pitchFamily="34" charset="0"/>
                <a:cs typeface="Calibri" pitchFamily="34" charset="0"/>
              </a:rPr>
              <a:t> </a:t>
            </a:r>
            <a:r>
              <a:rPr lang="fi-FI" sz="1800" dirty="0" err="1" smtClean="0">
                <a:latin typeface="Calibri" pitchFamily="34" charset="0"/>
                <a:cs typeface="Calibri" pitchFamily="34" charset="0"/>
              </a:rPr>
              <a:t>access</a:t>
            </a:r>
            <a:r>
              <a:rPr lang="fi-FI" sz="1800" dirty="0" smtClean="0">
                <a:latin typeface="Calibri" pitchFamily="34" charset="0"/>
                <a:cs typeface="Calibri" pitchFamily="34" charset="0"/>
              </a:rPr>
              <a:t> to </a:t>
            </a:r>
            <a:r>
              <a:rPr lang="fi-FI" sz="1800" dirty="0" err="1" smtClean="0">
                <a:latin typeface="Calibri" pitchFamily="34" charset="0"/>
                <a:cs typeface="Calibri" pitchFamily="34" charset="0"/>
              </a:rPr>
              <a:t>voxels</a:t>
            </a:r>
            <a:endParaRPr lang="fi-FI" sz="1800" dirty="0">
              <a:latin typeface="Calibri" pitchFamily="34" charset="0"/>
              <a:cs typeface="Calibri" pitchFamily="34" charset="0"/>
            </a:endParaRPr>
          </a:p>
        </p:txBody>
      </p:sp>
      <p:pic>
        <p:nvPicPr>
          <p:cNvPr id="3077" name="Picture 5"/>
          <p:cNvPicPr>
            <a:picLocks noChangeAspect="1" noChangeArrowheads="1"/>
          </p:cNvPicPr>
          <p:nvPr/>
        </p:nvPicPr>
        <p:blipFill>
          <a:blip r:embed="rId5" cstate="print"/>
          <a:srcRect/>
          <a:stretch>
            <a:fillRect/>
          </a:stretch>
        </p:blipFill>
        <p:spPr bwMode="auto">
          <a:xfrm>
            <a:off x="1115616" y="4941168"/>
            <a:ext cx="2447925" cy="657225"/>
          </a:xfrm>
          <a:prstGeom prst="rect">
            <a:avLst/>
          </a:prstGeom>
          <a:noFill/>
          <a:ln w="9525">
            <a:noFill/>
            <a:miter lim="800000"/>
            <a:headEnd/>
            <a:tailEnd/>
          </a:ln>
        </p:spPr>
      </p:pic>
      <p:sp>
        <p:nvSpPr>
          <p:cNvPr id="11" name="TextBox 10"/>
          <p:cNvSpPr txBox="1"/>
          <p:nvPr/>
        </p:nvSpPr>
        <p:spPr>
          <a:xfrm>
            <a:off x="5076056" y="4509120"/>
            <a:ext cx="2605072" cy="369332"/>
          </a:xfrm>
          <a:prstGeom prst="rect">
            <a:avLst/>
          </a:prstGeom>
          <a:noFill/>
        </p:spPr>
        <p:txBody>
          <a:bodyPr wrap="none" rtlCol="0">
            <a:spAutoFit/>
          </a:bodyPr>
          <a:lstStyle/>
          <a:p>
            <a:r>
              <a:rPr lang="fi-FI" sz="1800" dirty="0" err="1" smtClean="0">
                <a:latin typeface="Calibri" pitchFamily="34" charset="0"/>
                <a:cs typeface="Calibri" pitchFamily="34" charset="0"/>
              </a:rPr>
              <a:t>Interpolated</a:t>
            </a:r>
            <a:r>
              <a:rPr lang="fi-FI" sz="1800" dirty="0" smtClean="0">
                <a:latin typeface="Calibri" pitchFamily="34" charset="0"/>
                <a:cs typeface="Calibri" pitchFamily="34" charset="0"/>
              </a:rPr>
              <a:t> </a:t>
            </a:r>
            <a:r>
              <a:rPr lang="fi-FI" sz="1800" dirty="0" err="1" smtClean="0">
                <a:latin typeface="Calibri" pitchFamily="34" charset="0"/>
                <a:cs typeface="Calibri" pitchFamily="34" charset="0"/>
              </a:rPr>
              <a:t>dose</a:t>
            </a:r>
            <a:r>
              <a:rPr lang="fi-FI" sz="1800" dirty="0" smtClean="0">
                <a:latin typeface="Calibri" pitchFamily="34" charset="0"/>
                <a:cs typeface="Calibri" pitchFamily="34" charset="0"/>
              </a:rPr>
              <a:t> </a:t>
            </a:r>
            <a:r>
              <a:rPr lang="fi-FI" sz="1800" dirty="0" err="1" smtClean="0">
                <a:latin typeface="Calibri" pitchFamily="34" charset="0"/>
                <a:cs typeface="Calibri" pitchFamily="34" charset="0"/>
              </a:rPr>
              <a:t>profiles</a:t>
            </a:r>
            <a:endParaRPr lang="fi-FI" sz="1800" dirty="0">
              <a:latin typeface="Calibri" pitchFamily="34" charset="0"/>
              <a:cs typeface="Calibri" pitchFamily="34" charset="0"/>
            </a:endParaRPr>
          </a:p>
        </p:txBody>
      </p:sp>
      <p:pic>
        <p:nvPicPr>
          <p:cNvPr id="3078" name="Picture 6"/>
          <p:cNvPicPr>
            <a:picLocks noChangeAspect="1" noChangeArrowheads="1"/>
          </p:cNvPicPr>
          <p:nvPr/>
        </p:nvPicPr>
        <p:blipFill>
          <a:blip r:embed="rId6" cstate="print"/>
          <a:srcRect/>
          <a:stretch>
            <a:fillRect/>
          </a:stretch>
        </p:blipFill>
        <p:spPr bwMode="auto">
          <a:xfrm>
            <a:off x="5148064" y="5013176"/>
            <a:ext cx="2714625" cy="752475"/>
          </a:xfrm>
          <a:prstGeom prst="rect">
            <a:avLst/>
          </a:prstGeom>
          <a:noFill/>
          <a:ln w="9525">
            <a:noFill/>
            <a:miter lim="800000"/>
            <a:headEnd/>
            <a:tailEnd/>
          </a:ln>
        </p:spPr>
      </p:pic>
    </p:spTree>
    <p:extLst>
      <p:ext uri="{BB962C8B-B14F-4D97-AF65-F5344CB8AC3E}">
        <p14:creationId xmlns:p14="http://schemas.microsoft.com/office/powerpoint/2010/main" val="8469169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ESAPI </a:t>
            </a:r>
            <a:r>
              <a:rPr lang="fi-FI" dirty="0" err="1" smtClean="0"/>
              <a:t>Example</a:t>
            </a:r>
            <a:r>
              <a:rPr lang="fi-FI" dirty="0" smtClean="0"/>
              <a:t>: </a:t>
            </a:r>
            <a:r>
              <a:rPr lang="fi-FI" dirty="0" err="1" smtClean="0"/>
              <a:t>Accessing</a:t>
            </a:r>
            <a:r>
              <a:rPr lang="fi-FI" dirty="0" smtClean="0"/>
              <a:t> DVH Engine</a:t>
            </a:r>
            <a:endParaRPr lang="fi-FI" dirty="0"/>
          </a:p>
        </p:txBody>
      </p:sp>
      <p:sp>
        <p:nvSpPr>
          <p:cNvPr id="3" name="Content Placeholder 2"/>
          <p:cNvSpPr>
            <a:spLocks noGrp="1"/>
          </p:cNvSpPr>
          <p:nvPr>
            <p:ph idx="1"/>
          </p:nvPr>
        </p:nvSpPr>
        <p:spPr>
          <a:xfrm>
            <a:off x="539552" y="1316360"/>
            <a:ext cx="3949824" cy="2400672"/>
          </a:xfrm>
        </p:spPr>
        <p:txBody>
          <a:bodyPr/>
          <a:lstStyle/>
          <a:p>
            <a:r>
              <a:rPr lang="fi-FI" sz="2400" dirty="0" err="1"/>
              <a:t>Example_DVH</a:t>
            </a:r>
            <a:endParaRPr lang="fi-FI" sz="2400" dirty="0"/>
          </a:p>
          <a:p>
            <a:r>
              <a:rPr lang="fi-FI" sz="2400" dirty="0" smtClean="0"/>
              <a:t>Scripts </a:t>
            </a:r>
            <a:r>
              <a:rPr lang="fi-FI" sz="2400" dirty="0" err="1" smtClean="0"/>
              <a:t>can</a:t>
            </a:r>
            <a:r>
              <a:rPr lang="fi-FI" sz="2400" dirty="0" smtClean="0"/>
              <a:t> </a:t>
            </a:r>
            <a:r>
              <a:rPr lang="fi-FI" sz="2400" dirty="0" err="1" smtClean="0"/>
              <a:t>easily</a:t>
            </a:r>
            <a:r>
              <a:rPr lang="fi-FI" sz="2400" dirty="0" smtClean="0"/>
              <a:t> </a:t>
            </a:r>
            <a:r>
              <a:rPr lang="fi-FI" sz="2400" dirty="0" err="1" smtClean="0"/>
              <a:t>invoke</a:t>
            </a:r>
            <a:r>
              <a:rPr lang="fi-FI" sz="2400" dirty="0" smtClean="0"/>
              <a:t> DVH </a:t>
            </a:r>
            <a:r>
              <a:rPr lang="fi-FI" sz="2400" dirty="0" err="1" smtClean="0"/>
              <a:t>calculation</a:t>
            </a:r>
            <a:r>
              <a:rPr lang="fi-FI" sz="2400" dirty="0" smtClean="0"/>
              <a:t>.</a:t>
            </a:r>
          </a:p>
          <a:p>
            <a:r>
              <a:rPr lang="fi-FI" sz="2400" dirty="0" err="1" smtClean="0"/>
              <a:t>Creates</a:t>
            </a:r>
            <a:r>
              <a:rPr lang="fi-FI" sz="2400" dirty="0" smtClean="0"/>
              <a:t> a WPF </a:t>
            </a:r>
            <a:r>
              <a:rPr lang="fi-FI" sz="2400" dirty="0" err="1" smtClean="0"/>
              <a:t>graph</a:t>
            </a:r>
            <a:r>
              <a:rPr lang="fi-FI" sz="2400" dirty="0" smtClean="0"/>
              <a:t> </a:t>
            </a:r>
            <a:r>
              <a:rPr lang="fi-FI" sz="2400" dirty="0" err="1" smtClean="0"/>
              <a:t>that</a:t>
            </a:r>
            <a:r>
              <a:rPr lang="fi-FI" sz="2400" dirty="0" smtClean="0"/>
              <a:t> </a:t>
            </a:r>
            <a:r>
              <a:rPr lang="fi-FI" sz="2400" dirty="0" err="1" smtClean="0"/>
              <a:t>displays</a:t>
            </a:r>
            <a:r>
              <a:rPr lang="fi-FI" sz="2400" dirty="0" smtClean="0"/>
              <a:t> DVH </a:t>
            </a:r>
            <a:r>
              <a:rPr lang="fi-FI" sz="2400" dirty="0" err="1" smtClean="0"/>
              <a:t>curve</a:t>
            </a:r>
            <a:endParaRPr lang="fi-FI" sz="2400" dirty="0"/>
          </a:p>
        </p:txBody>
      </p:sp>
      <p:pic>
        <p:nvPicPr>
          <p:cNvPr id="2050" name="Picture 2"/>
          <p:cNvPicPr>
            <a:picLocks noChangeAspect="1" noChangeArrowheads="1"/>
          </p:cNvPicPr>
          <p:nvPr/>
        </p:nvPicPr>
        <p:blipFill>
          <a:blip r:embed="rId3" cstate="print"/>
          <a:srcRect/>
          <a:stretch>
            <a:fillRect/>
          </a:stretch>
        </p:blipFill>
        <p:spPr bwMode="auto">
          <a:xfrm>
            <a:off x="1691680" y="3377150"/>
            <a:ext cx="3193157" cy="2407955"/>
          </a:xfrm>
          <a:prstGeom prst="rect">
            <a:avLst/>
          </a:prstGeom>
          <a:noFill/>
          <a:ln w="9525">
            <a:noFill/>
            <a:miter lim="800000"/>
            <a:headEnd/>
            <a:tailEnd/>
          </a:ln>
        </p:spPr>
      </p:pic>
      <p:pic>
        <p:nvPicPr>
          <p:cNvPr id="2051" name="Picture 3"/>
          <p:cNvPicPr>
            <a:picLocks noChangeAspect="1" noChangeArrowheads="1"/>
          </p:cNvPicPr>
          <p:nvPr/>
        </p:nvPicPr>
        <p:blipFill>
          <a:blip r:embed="rId4" cstate="print"/>
          <a:srcRect/>
          <a:stretch>
            <a:fillRect/>
          </a:stretch>
        </p:blipFill>
        <p:spPr bwMode="auto">
          <a:xfrm>
            <a:off x="4600575" y="1988840"/>
            <a:ext cx="4543425" cy="771525"/>
          </a:xfrm>
          <a:prstGeom prst="rect">
            <a:avLst/>
          </a:prstGeom>
          <a:noFill/>
          <a:ln w="9525">
            <a:noFill/>
            <a:miter lim="800000"/>
            <a:headEnd/>
            <a:tailEnd/>
          </a:ln>
        </p:spPr>
      </p:pic>
      <p:pic>
        <p:nvPicPr>
          <p:cNvPr id="2052" name="Picture 4"/>
          <p:cNvPicPr>
            <a:picLocks noChangeAspect="1" noChangeArrowheads="1"/>
          </p:cNvPicPr>
          <p:nvPr/>
        </p:nvPicPr>
        <p:blipFill>
          <a:blip r:embed="rId5" cstate="print"/>
          <a:srcRect/>
          <a:stretch>
            <a:fillRect/>
          </a:stretch>
        </p:blipFill>
        <p:spPr bwMode="auto">
          <a:xfrm>
            <a:off x="5868144" y="3284984"/>
            <a:ext cx="2638425" cy="295275"/>
          </a:xfrm>
          <a:prstGeom prst="rect">
            <a:avLst/>
          </a:prstGeom>
          <a:noFill/>
          <a:ln w="9525">
            <a:noFill/>
            <a:miter lim="800000"/>
            <a:headEnd/>
            <a:tailEnd/>
          </a:ln>
        </p:spPr>
      </p:pic>
      <p:pic>
        <p:nvPicPr>
          <p:cNvPr id="2054" name="Picture 6"/>
          <p:cNvPicPr>
            <a:picLocks noChangeAspect="1" noChangeArrowheads="1"/>
          </p:cNvPicPr>
          <p:nvPr/>
        </p:nvPicPr>
        <p:blipFill>
          <a:blip r:embed="rId6" cstate="print"/>
          <a:srcRect/>
          <a:stretch>
            <a:fillRect/>
          </a:stretch>
        </p:blipFill>
        <p:spPr bwMode="auto">
          <a:xfrm>
            <a:off x="5652120" y="4149080"/>
            <a:ext cx="3305175" cy="657225"/>
          </a:xfrm>
          <a:prstGeom prst="rect">
            <a:avLst/>
          </a:prstGeom>
          <a:noFill/>
          <a:ln w="9525">
            <a:noFill/>
            <a:miter lim="800000"/>
            <a:headEnd/>
            <a:tailEnd/>
          </a:ln>
        </p:spPr>
      </p:pic>
      <p:sp>
        <p:nvSpPr>
          <p:cNvPr id="9" name="Down Arrow 8"/>
          <p:cNvSpPr/>
          <p:nvPr/>
        </p:nvSpPr>
        <p:spPr bwMode="auto">
          <a:xfrm>
            <a:off x="6660232" y="2996952"/>
            <a:ext cx="216024" cy="216024"/>
          </a:xfrm>
          <a:prstGeom prst="down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pitchFamily="34" charset="0"/>
              <a:cs typeface="Arial" pitchFamily="34" charset="0"/>
            </a:endParaRPr>
          </a:p>
        </p:txBody>
      </p:sp>
      <p:sp>
        <p:nvSpPr>
          <p:cNvPr id="10" name="Down Arrow 9"/>
          <p:cNvSpPr/>
          <p:nvPr/>
        </p:nvSpPr>
        <p:spPr bwMode="auto">
          <a:xfrm>
            <a:off x="6660232" y="3717032"/>
            <a:ext cx="216024" cy="216024"/>
          </a:xfrm>
          <a:prstGeom prst="down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pitchFamily="34" charset="0"/>
              <a:cs typeface="Arial" pitchFamily="34" charset="0"/>
            </a:endParaRPr>
          </a:p>
        </p:txBody>
      </p:sp>
      <p:sp>
        <p:nvSpPr>
          <p:cNvPr id="11" name="Down Arrow 10"/>
          <p:cNvSpPr/>
          <p:nvPr/>
        </p:nvSpPr>
        <p:spPr bwMode="auto">
          <a:xfrm rot="5400000">
            <a:off x="5292080" y="4365104"/>
            <a:ext cx="216024" cy="216024"/>
          </a:xfrm>
          <a:prstGeom prst="down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01164443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ESAPI </a:t>
            </a:r>
            <a:r>
              <a:rPr lang="fi-FI" dirty="0" err="1" smtClean="0"/>
              <a:t>Example</a:t>
            </a:r>
            <a:r>
              <a:rPr lang="fi-FI" dirty="0" smtClean="0"/>
              <a:t>: Data Mining : </a:t>
            </a:r>
            <a:endParaRPr lang="fi-FI" dirty="0"/>
          </a:p>
        </p:txBody>
      </p:sp>
      <p:sp>
        <p:nvSpPr>
          <p:cNvPr id="3" name="Content Placeholder 2"/>
          <p:cNvSpPr>
            <a:spLocks noGrp="1"/>
          </p:cNvSpPr>
          <p:nvPr>
            <p:ph idx="1"/>
          </p:nvPr>
        </p:nvSpPr>
        <p:spPr>
          <a:xfrm>
            <a:off x="770806" y="1340768"/>
            <a:ext cx="7829550" cy="2040632"/>
          </a:xfrm>
        </p:spPr>
        <p:txBody>
          <a:bodyPr/>
          <a:lstStyle/>
          <a:p>
            <a:r>
              <a:rPr lang="fi-FI" sz="2600" dirty="0" err="1" smtClean="0"/>
              <a:t>Example_Patients</a:t>
            </a:r>
            <a:r>
              <a:rPr lang="fi-FI" sz="2600" dirty="0" smtClean="0"/>
              <a:t>: </a:t>
            </a:r>
            <a:r>
              <a:rPr lang="fi-FI" sz="2600" dirty="0" err="1" smtClean="0"/>
              <a:t>standalone</a:t>
            </a:r>
            <a:r>
              <a:rPr lang="fi-FI" sz="2600" dirty="0" smtClean="0"/>
              <a:t> </a:t>
            </a:r>
            <a:r>
              <a:rPr lang="fi-FI" sz="2600" dirty="0" err="1" smtClean="0"/>
              <a:t>executable</a:t>
            </a:r>
            <a:r>
              <a:rPr lang="fi-FI" sz="2600" dirty="0" smtClean="0"/>
              <a:t> ESAPI </a:t>
            </a:r>
            <a:r>
              <a:rPr lang="fi-FI" sz="2600" dirty="0" err="1" smtClean="0"/>
              <a:t>script</a:t>
            </a:r>
            <a:r>
              <a:rPr lang="fi-FI" sz="2600" dirty="0" smtClean="0"/>
              <a:t> </a:t>
            </a:r>
            <a:r>
              <a:rPr lang="fi-FI" sz="2600" dirty="0" err="1" smtClean="0"/>
              <a:t>can</a:t>
            </a:r>
            <a:r>
              <a:rPr lang="fi-FI" sz="2600" dirty="0" smtClean="0"/>
              <a:t> open the </a:t>
            </a:r>
            <a:r>
              <a:rPr lang="fi-FI" sz="2600" dirty="0" err="1" smtClean="0"/>
              <a:t>datamodel</a:t>
            </a:r>
            <a:r>
              <a:rPr lang="fi-FI" sz="2600" dirty="0" smtClean="0"/>
              <a:t> of </a:t>
            </a:r>
            <a:r>
              <a:rPr lang="fi-FI" sz="2600" dirty="0" err="1" smtClean="0"/>
              <a:t>any</a:t>
            </a:r>
            <a:r>
              <a:rPr lang="fi-FI" sz="2600" dirty="0" smtClean="0"/>
              <a:t> </a:t>
            </a:r>
            <a:r>
              <a:rPr lang="fi-FI" sz="2600" dirty="0" err="1" smtClean="0"/>
              <a:t>patient</a:t>
            </a:r>
            <a:r>
              <a:rPr lang="fi-FI" sz="2600" dirty="0" smtClean="0"/>
              <a:t> in the </a:t>
            </a:r>
            <a:r>
              <a:rPr lang="fi-FI" sz="2600" dirty="0" err="1" smtClean="0"/>
              <a:t>database</a:t>
            </a:r>
            <a:r>
              <a:rPr lang="fi-FI" sz="2600" dirty="0" smtClean="0"/>
              <a:t>.</a:t>
            </a:r>
          </a:p>
          <a:p>
            <a:r>
              <a:rPr lang="fi-FI" sz="2600" dirty="0" err="1" smtClean="0"/>
              <a:t>Reports</a:t>
            </a:r>
            <a:r>
              <a:rPr lang="fi-FI" sz="2600" dirty="0" smtClean="0"/>
              <a:t> the </a:t>
            </a:r>
            <a:r>
              <a:rPr lang="fi-FI" sz="2600" dirty="0" err="1" smtClean="0"/>
              <a:t>maximum</a:t>
            </a:r>
            <a:r>
              <a:rPr lang="fi-FI" sz="2600" dirty="0" smtClean="0"/>
              <a:t> </a:t>
            </a:r>
            <a:r>
              <a:rPr lang="fi-FI" sz="2600" dirty="0" err="1" smtClean="0"/>
              <a:t>dose</a:t>
            </a:r>
            <a:r>
              <a:rPr lang="fi-FI" sz="2600" dirty="0" smtClean="0"/>
              <a:t> (in </a:t>
            </a:r>
            <a:r>
              <a:rPr lang="fi-FI" sz="2600" dirty="0" err="1" smtClean="0"/>
              <a:t>Gy</a:t>
            </a:r>
            <a:r>
              <a:rPr lang="fi-FI" sz="2600" dirty="0" smtClean="0"/>
              <a:t>) of </a:t>
            </a:r>
            <a:r>
              <a:rPr lang="fi-FI" sz="2600" dirty="0" err="1" smtClean="0"/>
              <a:t>all</a:t>
            </a:r>
            <a:r>
              <a:rPr lang="fi-FI" sz="2600" dirty="0" smtClean="0"/>
              <a:t> </a:t>
            </a:r>
            <a:r>
              <a:rPr lang="fi-FI" sz="2600" dirty="0" err="1" smtClean="0"/>
              <a:t>plans</a:t>
            </a:r>
            <a:r>
              <a:rPr lang="fi-FI" sz="2600" dirty="0" smtClean="0"/>
              <a:t> </a:t>
            </a:r>
            <a:r>
              <a:rPr lang="fi-FI" sz="2600" dirty="0" err="1" smtClean="0"/>
              <a:t>approved</a:t>
            </a:r>
            <a:r>
              <a:rPr lang="fi-FI" sz="2600" dirty="0" smtClean="0"/>
              <a:t> </a:t>
            </a:r>
            <a:r>
              <a:rPr lang="fi-FI" sz="2600" dirty="0" err="1" smtClean="0"/>
              <a:t>during</a:t>
            </a:r>
            <a:r>
              <a:rPr lang="fi-FI" sz="2600" dirty="0" smtClean="0"/>
              <a:t> the </a:t>
            </a:r>
            <a:r>
              <a:rPr lang="fi-FI" sz="2600" dirty="0" err="1" smtClean="0"/>
              <a:t>last</a:t>
            </a:r>
            <a:r>
              <a:rPr lang="fi-FI" sz="2600" dirty="0" smtClean="0"/>
              <a:t> 6 </a:t>
            </a:r>
            <a:r>
              <a:rPr lang="fi-FI" sz="2600" dirty="0" err="1" smtClean="0"/>
              <a:t>months</a:t>
            </a:r>
            <a:endParaRPr lang="fi-FI" sz="2600" dirty="0"/>
          </a:p>
        </p:txBody>
      </p:sp>
      <p:pic>
        <p:nvPicPr>
          <p:cNvPr id="3074" name="Picture 2"/>
          <p:cNvPicPr>
            <a:picLocks noChangeAspect="1" noChangeArrowheads="1"/>
          </p:cNvPicPr>
          <p:nvPr/>
        </p:nvPicPr>
        <p:blipFill>
          <a:blip r:embed="rId3" cstate="print"/>
          <a:srcRect/>
          <a:stretch>
            <a:fillRect/>
          </a:stretch>
        </p:blipFill>
        <p:spPr bwMode="auto">
          <a:xfrm>
            <a:off x="611560" y="3505200"/>
            <a:ext cx="8024217" cy="1181480"/>
          </a:xfrm>
          <a:prstGeom prst="rect">
            <a:avLst/>
          </a:prstGeom>
          <a:noFill/>
          <a:ln w="9525">
            <a:noFill/>
            <a:miter lim="800000"/>
            <a:headEnd/>
            <a:tailEnd/>
          </a:ln>
        </p:spPr>
      </p:pic>
      <p:pic>
        <p:nvPicPr>
          <p:cNvPr id="3075" name="Picture 3"/>
          <p:cNvPicPr>
            <a:picLocks noChangeAspect="1" noChangeArrowheads="1"/>
          </p:cNvPicPr>
          <p:nvPr/>
        </p:nvPicPr>
        <p:blipFill>
          <a:blip r:embed="rId4" cstate="print"/>
          <a:srcRect/>
          <a:stretch>
            <a:fillRect/>
          </a:stretch>
        </p:blipFill>
        <p:spPr bwMode="auto">
          <a:xfrm>
            <a:off x="1475656" y="5013176"/>
            <a:ext cx="6419850" cy="857250"/>
          </a:xfrm>
          <a:prstGeom prst="rect">
            <a:avLst/>
          </a:prstGeom>
          <a:noFill/>
          <a:ln w="9525">
            <a:noFill/>
            <a:miter lim="800000"/>
            <a:headEnd/>
            <a:tailEnd/>
          </a:ln>
        </p:spPr>
      </p:pic>
      <p:sp>
        <p:nvSpPr>
          <p:cNvPr id="6" name="Down Arrow 5"/>
          <p:cNvSpPr/>
          <p:nvPr/>
        </p:nvSpPr>
        <p:spPr bwMode="auto">
          <a:xfrm>
            <a:off x="4283968" y="4736976"/>
            <a:ext cx="216024" cy="216024"/>
          </a:xfrm>
          <a:prstGeom prst="down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95683059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 to V13</a:t>
            </a:r>
            <a:endParaRPr lang="en-US" dirty="0"/>
          </a:p>
        </p:txBody>
      </p:sp>
      <p:sp>
        <p:nvSpPr>
          <p:cNvPr id="6" name="Content Placeholder 2"/>
          <p:cNvSpPr>
            <a:spLocks noGrp="1"/>
          </p:cNvSpPr>
          <p:nvPr>
            <p:ph idx="1"/>
          </p:nvPr>
        </p:nvSpPr>
        <p:spPr>
          <a:xfrm>
            <a:off x="403225" y="1439863"/>
            <a:ext cx="8353425" cy="4464050"/>
          </a:xfrm>
        </p:spPr>
        <p:txBody>
          <a:bodyPr/>
          <a:lstStyle/>
          <a:p>
            <a:pPr marL="0" indent="0">
              <a:buNone/>
            </a:pPr>
            <a:r>
              <a:rPr lang="en-US" sz="3600" u="sng" dirty="0" smtClean="0"/>
              <a:t>As of January 2014:</a:t>
            </a:r>
          </a:p>
          <a:p>
            <a:pPr marL="0" indent="0">
              <a:buNone/>
            </a:pPr>
            <a:r>
              <a:rPr lang="en-US" sz="3600" dirty="0" smtClean="0"/>
              <a:t>V13 is released, installed at two sites in Europe, is pending 510 K approval in US.</a:t>
            </a:r>
            <a:endParaRPr lang="en-US" sz="3200" dirty="0" smtClean="0"/>
          </a:p>
          <a:p>
            <a:endParaRPr lang="en-US" dirty="0" smtClean="0"/>
          </a:p>
        </p:txBody>
      </p:sp>
    </p:spTree>
    <p:extLst>
      <p:ext uri="{BB962C8B-B14F-4D97-AF65-F5344CB8AC3E}">
        <p14:creationId xmlns:p14="http://schemas.microsoft.com/office/powerpoint/2010/main" val="239100431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Scripting APIs available in v13</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243831521"/>
              </p:ext>
            </p:extLst>
          </p:nvPr>
        </p:nvGraphicFramePr>
        <p:xfrm>
          <a:off x="403225" y="1295400"/>
          <a:ext cx="8353426" cy="4114800"/>
        </p:xfrm>
        <a:graphic>
          <a:graphicData uri="http://schemas.openxmlformats.org/drawingml/2006/table">
            <a:tbl>
              <a:tblPr firstRow="1" bandRow="1">
                <a:tableStyleId>{85BE263C-DBD7-4A20-BB59-AAB30ACAA65A}</a:tableStyleId>
              </a:tblPr>
              <a:tblGrid>
                <a:gridCol w="4176713"/>
                <a:gridCol w="4176713"/>
              </a:tblGrid>
              <a:tr h="370840">
                <a:tc>
                  <a:txBody>
                    <a:bodyPr/>
                    <a:lstStyle/>
                    <a:p>
                      <a:r>
                        <a:rPr lang="en-US" sz="2400" dirty="0" smtClean="0"/>
                        <a:t>Product</a:t>
                      </a:r>
                      <a:endParaRPr lang="en-US" sz="2400" dirty="0"/>
                    </a:p>
                  </a:txBody>
                  <a:tcPr/>
                </a:tc>
                <a:tc>
                  <a:txBody>
                    <a:bodyPr/>
                    <a:lstStyle/>
                    <a:p>
                      <a:r>
                        <a:rPr lang="en-US" sz="2400" dirty="0" smtClean="0"/>
                        <a:t>Description</a:t>
                      </a:r>
                      <a:endParaRPr lang="en-US" sz="2400" dirty="0"/>
                    </a:p>
                  </a:txBody>
                  <a:tcPr/>
                </a:tc>
              </a:tr>
              <a:tr h="370840">
                <a:tc>
                  <a:txBody>
                    <a:bodyPr/>
                    <a:lstStyle/>
                    <a:p>
                      <a:r>
                        <a:rPr lang="en-US" sz="2400" dirty="0" smtClean="0"/>
                        <a:t>Eclipse Scripting API (ESAPI)</a:t>
                      </a:r>
                      <a:endParaRPr lang="en-US" sz="2400" dirty="0"/>
                    </a:p>
                  </a:txBody>
                  <a:tcPr/>
                </a:tc>
                <a:tc>
                  <a:txBody>
                    <a:bodyPr/>
                    <a:lstStyle/>
                    <a:p>
                      <a:r>
                        <a:rPr lang="en-US" sz="2400" dirty="0" smtClean="0"/>
                        <a:t>Read-only</a:t>
                      </a:r>
                      <a:r>
                        <a:rPr lang="en-US" sz="2400" baseline="0" dirty="0" smtClean="0"/>
                        <a:t> Eclipse Scripting API</a:t>
                      </a:r>
                      <a:endParaRPr lang="en-US" sz="2400" dirty="0"/>
                    </a:p>
                  </a:txBody>
                  <a:tcPr/>
                </a:tc>
              </a:tr>
              <a:tr h="370840">
                <a:tc>
                  <a:txBody>
                    <a:bodyPr/>
                    <a:lstStyle/>
                    <a:p>
                      <a:r>
                        <a:rPr lang="en-US" sz="2400" dirty="0" smtClean="0"/>
                        <a:t>Eclipse Scripting API for Research</a:t>
                      </a:r>
                      <a:r>
                        <a:rPr lang="en-US" sz="2400" baseline="0" dirty="0" smtClean="0"/>
                        <a:t> Users</a:t>
                      </a:r>
                      <a:r>
                        <a:rPr kumimoji="0" lang="en-US" sz="2400" b="0" i="0" u="none" strike="noStrike" kern="1200" cap="none" spc="0" normalizeH="0" baseline="0" noProof="0" dirty="0" smtClean="0">
                          <a:ln>
                            <a:noFill/>
                          </a:ln>
                          <a:solidFill>
                            <a:srgbClr val="666666"/>
                          </a:solidFill>
                          <a:effectLst/>
                          <a:uLnTx/>
                          <a:uFillTx/>
                          <a:latin typeface="+mn-lt"/>
                        </a:rPr>
                        <a:t>*</a:t>
                      </a:r>
                      <a:endParaRPr lang="en-US" sz="2400" dirty="0">
                        <a:solidFill>
                          <a:srgbClr val="FFC000"/>
                        </a:solidFill>
                      </a:endParaRPr>
                    </a:p>
                  </a:txBody>
                  <a:tcPr/>
                </a:tc>
                <a:tc>
                  <a:txBody>
                    <a:bodyPr/>
                    <a:lstStyle/>
                    <a:p>
                      <a:r>
                        <a:rPr lang="en-US" sz="2400" dirty="0" smtClean="0"/>
                        <a:t>Read/write</a:t>
                      </a:r>
                      <a:r>
                        <a:rPr lang="en-US" sz="2400" baseline="0" dirty="0" smtClean="0"/>
                        <a:t> ESAPI + Optimization + Dose Calc.</a:t>
                      </a:r>
                      <a:endParaRPr lang="en-US" sz="2400" dirty="0"/>
                    </a:p>
                  </a:txBody>
                  <a:tcPr/>
                </a:tc>
              </a:tr>
              <a:tr h="370840">
                <a:tc>
                  <a:txBody>
                    <a:bodyPr/>
                    <a:lstStyle/>
                    <a:p>
                      <a:r>
                        <a:rPr lang="en-US" sz="2400" dirty="0" err="1" smtClean="0"/>
                        <a:t>SmartAdapt</a:t>
                      </a:r>
                      <a:r>
                        <a:rPr lang="en-US" sz="2400" baseline="0" dirty="0" smtClean="0"/>
                        <a:t> Scripting API*</a:t>
                      </a:r>
                      <a:endParaRPr lang="en-US" sz="2400" dirty="0"/>
                    </a:p>
                  </a:txBody>
                  <a:tcPr/>
                </a:tc>
                <a:tc>
                  <a:txBody>
                    <a:bodyPr/>
                    <a:lstStyle/>
                    <a:p>
                      <a:r>
                        <a:rPr lang="en-US" sz="2400" dirty="0" smtClean="0"/>
                        <a:t>Read-only</a:t>
                      </a:r>
                      <a:r>
                        <a:rPr lang="en-US" sz="2400" baseline="0" dirty="0" smtClean="0"/>
                        <a:t> Registration, Imaging, and Treatment Information API.</a:t>
                      </a:r>
                      <a:endParaRPr lang="en-US" sz="2400" dirty="0"/>
                    </a:p>
                  </a:txBody>
                  <a:tcPr/>
                </a:tc>
              </a:tr>
              <a:tr h="370840">
                <a:tc>
                  <a:txBody>
                    <a:bodyPr/>
                    <a:lstStyle/>
                    <a:p>
                      <a:r>
                        <a:rPr lang="en-US" sz="2400" dirty="0" smtClean="0"/>
                        <a:t>Portal</a:t>
                      </a:r>
                      <a:r>
                        <a:rPr lang="en-US" sz="2400" baseline="0" dirty="0" smtClean="0"/>
                        <a:t> </a:t>
                      </a:r>
                      <a:r>
                        <a:rPr lang="en-US" sz="2400" baseline="0" dirty="0" err="1" smtClean="0"/>
                        <a:t>Dosimetry</a:t>
                      </a:r>
                      <a:r>
                        <a:rPr lang="en-US" sz="2400" baseline="0" dirty="0" smtClean="0"/>
                        <a:t> Scripting API</a:t>
                      </a:r>
                      <a:r>
                        <a:rPr lang="en-US" sz="2400" b="1" baseline="0" dirty="0" smtClean="0"/>
                        <a:t>*</a:t>
                      </a:r>
                      <a:endParaRPr lang="en-US" sz="2400" b="1" dirty="0"/>
                    </a:p>
                  </a:txBody>
                  <a:tcPr/>
                </a:tc>
                <a:tc>
                  <a:txBody>
                    <a:bodyPr/>
                    <a:lstStyle/>
                    <a:p>
                      <a:r>
                        <a:rPr lang="en-US" sz="2400" dirty="0" smtClean="0"/>
                        <a:t>Read-only Portal </a:t>
                      </a:r>
                      <a:r>
                        <a:rPr lang="en-US" sz="2400" dirty="0" err="1" smtClean="0"/>
                        <a:t>Dosimetry</a:t>
                      </a:r>
                      <a:r>
                        <a:rPr lang="en-US" sz="2400" dirty="0" smtClean="0"/>
                        <a:t> API</a:t>
                      </a:r>
                      <a:endParaRPr lang="en-US" sz="2400" dirty="0"/>
                    </a:p>
                  </a:txBody>
                  <a:tcPr/>
                </a:tc>
              </a:tr>
            </a:tbl>
          </a:graphicData>
        </a:graphic>
      </p:graphicFrame>
      <p:sp>
        <p:nvSpPr>
          <p:cNvPr id="5" name="Title 1"/>
          <p:cNvSpPr txBox="1">
            <a:spLocks/>
          </p:cNvSpPr>
          <p:nvPr/>
        </p:nvSpPr>
        <p:spPr bwMode="auto">
          <a:xfrm>
            <a:off x="228601" y="5410200"/>
            <a:ext cx="8686800" cy="5715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defTabSz="457200" rtl="0" eaLnBrk="1" fontAlgn="base" hangingPunct="1">
              <a:spcBef>
                <a:spcPct val="0"/>
              </a:spcBef>
              <a:spcAft>
                <a:spcPct val="0"/>
              </a:spcAft>
              <a:defRPr sz="3500" kern="1200">
                <a:solidFill>
                  <a:schemeClr val="accent2"/>
                </a:solidFill>
                <a:latin typeface="Arial"/>
                <a:ea typeface="ＭＳ Ｐゴシック" charset="-128"/>
                <a:cs typeface="Arial"/>
              </a:defRPr>
            </a:lvl1pPr>
            <a:lvl2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2pPr>
            <a:lvl3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3pPr>
            <a:lvl4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4pPr>
            <a:lvl5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5pPr>
            <a:lvl6pPr marL="4572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9pPr>
          </a:lstStyle>
          <a:p>
            <a:r>
              <a:rPr lang="en-US" sz="2400" b="1" dirty="0" smtClean="0"/>
              <a:t>*</a:t>
            </a:r>
            <a:r>
              <a:rPr lang="en-US" sz="2400" dirty="0" smtClean="0"/>
              <a:t> New in v13</a:t>
            </a:r>
            <a:endParaRPr lang="en-US" sz="2400" dirty="0"/>
          </a:p>
        </p:txBody>
      </p:sp>
    </p:spTree>
    <p:extLst>
      <p:ext uri="{BB962C8B-B14F-4D97-AF65-F5344CB8AC3E}">
        <p14:creationId xmlns:p14="http://schemas.microsoft.com/office/powerpoint/2010/main" val="49925731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ESAPI v13: </a:t>
            </a:r>
            <a:r>
              <a:rPr lang="en-US" dirty="0" smtClean="0"/>
              <a:t>New Optimization Support</a:t>
            </a:r>
            <a:endParaRPr lang="en-US" dirty="0"/>
          </a:p>
        </p:txBody>
      </p:sp>
      <p:graphicFrame>
        <p:nvGraphicFramePr>
          <p:cNvPr id="6" name="Content Placeholder 3"/>
          <p:cNvGraphicFramePr>
            <a:graphicFrameLocks/>
          </p:cNvGraphicFramePr>
          <p:nvPr>
            <p:extLst>
              <p:ext uri="{D42A27DB-BD31-4B8C-83A1-F6EECF244321}">
                <p14:modId xmlns:p14="http://schemas.microsoft.com/office/powerpoint/2010/main" val="3942175268"/>
              </p:ext>
            </p:extLst>
          </p:nvPr>
        </p:nvGraphicFramePr>
        <p:xfrm>
          <a:off x="304800" y="1219200"/>
          <a:ext cx="8353426" cy="4665096"/>
        </p:xfrm>
        <a:graphic>
          <a:graphicData uri="http://schemas.openxmlformats.org/drawingml/2006/table">
            <a:tbl>
              <a:tblPr firstRow="1" bandRow="1">
                <a:tableStyleId>{85BE263C-DBD7-4A20-BB59-AAB30ACAA65A}</a:tableStyleId>
              </a:tblPr>
              <a:tblGrid>
                <a:gridCol w="4176713"/>
                <a:gridCol w="4176713"/>
              </a:tblGrid>
              <a:tr h="521804">
                <a:tc>
                  <a:txBody>
                    <a:bodyPr/>
                    <a:lstStyle/>
                    <a:p>
                      <a:r>
                        <a:rPr lang="en-US" sz="2400" dirty="0" smtClean="0"/>
                        <a:t>New API Class</a:t>
                      </a:r>
                      <a:endParaRPr lang="en-US" sz="2400" dirty="0"/>
                    </a:p>
                  </a:txBody>
                  <a:tcPr/>
                </a:tc>
                <a:tc>
                  <a:txBody>
                    <a:bodyPr/>
                    <a:lstStyle/>
                    <a:p>
                      <a:r>
                        <a:rPr lang="en-US" sz="2400" dirty="0" smtClean="0"/>
                        <a:t>Description</a:t>
                      </a:r>
                      <a:endParaRPr lang="en-US" sz="2400" dirty="0"/>
                    </a:p>
                  </a:txBody>
                  <a:tcPr/>
                </a:tc>
              </a:tr>
              <a:tr h="730526">
                <a:tc>
                  <a:txBody>
                    <a:bodyPr/>
                    <a:lstStyle/>
                    <a:p>
                      <a:r>
                        <a:rPr lang="en-US" sz="2800" dirty="0" err="1" smtClean="0">
                          <a:effectLst/>
                        </a:rPr>
                        <a:t>Fluence</a:t>
                      </a:r>
                      <a:endParaRPr lang="en-US" sz="2800" dirty="0" smtClean="0">
                        <a:effectLst/>
                      </a:endParaRPr>
                    </a:p>
                  </a:txBody>
                  <a:tcPr anchor="ctr"/>
                </a:tc>
                <a:tc>
                  <a:txBody>
                    <a:bodyPr/>
                    <a:lstStyle/>
                    <a:p>
                      <a:r>
                        <a:rPr lang="en-US" dirty="0">
                          <a:effectLst/>
                        </a:rPr>
                        <a:t>Represents the </a:t>
                      </a:r>
                      <a:r>
                        <a:rPr lang="en-US" dirty="0" err="1">
                          <a:effectLst/>
                        </a:rPr>
                        <a:t>fluence</a:t>
                      </a:r>
                      <a:r>
                        <a:rPr lang="en-US" dirty="0">
                          <a:effectLst/>
                        </a:rPr>
                        <a:t> for a beam. The resolution in the </a:t>
                      </a:r>
                      <a:r>
                        <a:rPr lang="en-US" dirty="0" err="1">
                          <a:effectLst/>
                        </a:rPr>
                        <a:t>fluence</a:t>
                      </a:r>
                      <a:r>
                        <a:rPr lang="en-US" dirty="0">
                          <a:effectLst/>
                        </a:rPr>
                        <a:t> matrix is 2.5 mm in x and y directions. In the </a:t>
                      </a:r>
                      <a:r>
                        <a:rPr lang="en-US" dirty="0" err="1">
                          <a:effectLst/>
                        </a:rPr>
                        <a:t>fluence</a:t>
                      </a:r>
                      <a:r>
                        <a:rPr lang="en-US" dirty="0">
                          <a:effectLst/>
                        </a:rPr>
                        <a:t> matrix, x dimension is the number of columns, and y dimension is the number of rows. </a:t>
                      </a:r>
                    </a:p>
                  </a:txBody>
                  <a:tcPr anchor="ctr"/>
                </a:tc>
              </a:tr>
              <a:tr h="730526">
                <a:tc>
                  <a:txBody>
                    <a:bodyPr/>
                    <a:lstStyle/>
                    <a:p>
                      <a:r>
                        <a:rPr lang="en-US" sz="2800" dirty="0" err="1" smtClean="0">
                          <a:effectLst/>
                        </a:rPr>
                        <a:t>OptimizationObjective</a:t>
                      </a:r>
                      <a:endParaRPr lang="en-US" sz="2800" dirty="0" smtClean="0">
                        <a:effectLst/>
                      </a:endParaRPr>
                    </a:p>
                    <a:p>
                      <a:endParaRPr lang="en-US" sz="2800" dirty="0">
                        <a:effectLst/>
                      </a:endParaRPr>
                    </a:p>
                  </a:txBody>
                  <a:tcPr anchor="ctr"/>
                </a:tc>
                <a:tc>
                  <a:txBody>
                    <a:bodyPr/>
                    <a:lstStyle/>
                    <a:p>
                      <a:r>
                        <a:rPr lang="en-US" dirty="0">
                          <a:effectLst/>
                        </a:rPr>
                        <a:t>Provides a common base type for all structure-specific optimization objectives.</a:t>
                      </a:r>
                    </a:p>
                  </a:txBody>
                  <a:tcPr anchor="ctr"/>
                </a:tc>
              </a:tr>
              <a:tr h="730526">
                <a:tc>
                  <a:txBody>
                    <a:bodyPr/>
                    <a:lstStyle/>
                    <a:p>
                      <a:r>
                        <a:rPr lang="en-US" sz="2800" dirty="0" err="1" smtClean="0">
                          <a:effectLst/>
                        </a:rPr>
                        <a:t>OptimizationSetup</a:t>
                      </a:r>
                      <a:endParaRPr lang="en-US" sz="2800" dirty="0" smtClean="0">
                        <a:effectLst/>
                      </a:endParaRPr>
                    </a:p>
                  </a:txBody>
                  <a:tcPr anchor="ctr"/>
                </a:tc>
                <a:tc>
                  <a:txBody>
                    <a:bodyPr/>
                    <a:lstStyle/>
                    <a:p>
                      <a:r>
                        <a:rPr lang="en-US" dirty="0">
                          <a:effectLst/>
                        </a:rPr>
                        <a:t>Gives access to the optimization parameters and objectives. </a:t>
                      </a:r>
                    </a:p>
                  </a:txBody>
                  <a:tcPr anchor="ctr"/>
                </a:tc>
              </a:tr>
              <a:tr h="730526">
                <a:tc>
                  <a:txBody>
                    <a:bodyPr/>
                    <a:lstStyle/>
                    <a:p>
                      <a:r>
                        <a:rPr lang="en-US" sz="2800" dirty="0" err="1" smtClean="0">
                          <a:effectLst/>
                        </a:rPr>
                        <a:t>OptimizationParameter</a:t>
                      </a:r>
                      <a:endParaRPr lang="en-US" sz="2800" dirty="0" smtClean="0">
                        <a:effectLst/>
                      </a:endParaRPr>
                    </a:p>
                  </a:txBody>
                  <a:tcPr anchor="ctr"/>
                </a:tc>
                <a:tc>
                  <a:txBody>
                    <a:bodyPr/>
                    <a:lstStyle/>
                    <a:p>
                      <a:r>
                        <a:rPr lang="en-US" dirty="0">
                          <a:effectLst/>
                        </a:rPr>
                        <a:t>Provides a common base type for all optimization parameters. </a:t>
                      </a:r>
                    </a:p>
                  </a:txBody>
                  <a:tcPr anchor="ctr"/>
                </a:tc>
              </a:tr>
            </a:tbl>
          </a:graphicData>
        </a:graphic>
      </p:graphicFrame>
    </p:spTree>
    <p:extLst>
      <p:ext uri="{BB962C8B-B14F-4D97-AF65-F5344CB8AC3E}">
        <p14:creationId xmlns:p14="http://schemas.microsoft.com/office/powerpoint/2010/main" val="86048169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ESAPI v13: </a:t>
            </a:r>
            <a:r>
              <a:rPr lang="en-US" dirty="0" smtClean="0"/>
              <a:t>New Optimization Support</a:t>
            </a:r>
            <a:endParaRPr lang="en-US" dirty="0"/>
          </a:p>
        </p:txBody>
      </p:sp>
      <p:graphicFrame>
        <p:nvGraphicFramePr>
          <p:cNvPr id="6" name="Content Placeholder 3"/>
          <p:cNvGraphicFramePr>
            <a:graphicFrameLocks/>
          </p:cNvGraphicFramePr>
          <p:nvPr>
            <p:extLst>
              <p:ext uri="{D42A27DB-BD31-4B8C-83A1-F6EECF244321}">
                <p14:modId xmlns:p14="http://schemas.microsoft.com/office/powerpoint/2010/main" val="499841109"/>
              </p:ext>
            </p:extLst>
          </p:nvPr>
        </p:nvGraphicFramePr>
        <p:xfrm>
          <a:off x="304800" y="1219200"/>
          <a:ext cx="8353426" cy="3265004"/>
        </p:xfrm>
        <a:graphic>
          <a:graphicData uri="http://schemas.openxmlformats.org/drawingml/2006/table">
            <a:tbl>
              <a:tblPr firstRow="1" bandRow="1">
                <a:tableStyleId>{85BE263C-DBD7-4A20-BB59-AAB30ACAA65A}</a:tableStyleId>
              </a:tblPr>
              <a:tblGrid>
                <a:gridCol w="4176713"/>
                <a:gridCol w="4176713"/>
              </a:tblGrid>
              <a:tr h="521804">
                <a:tc>
                  <a:txBody>
                    <a:bodyPr/>
                    <a:lstStyle/>
                    <a:p>
                      <a:r>
                        <a:rPr lang="en-US" sz="2400" dirty="0" smtClean="0"/>
                        <a:t>New API Method</a:t>
                      </a:r>
                      <a:endParaRPr lang="en-US" sz="2400" dirty="0"/>
                    </a:p>
                  </a:txBody>
                  <a:tcPr/>
                </a:tc>
                <a:tc>
                  <a:txBody>
                    <a:bodyPr/>
                    <a:lstStyle/>
                    <a:p>
                      <a:r>
                        <a:rPr lang="en-US" sz="2400" dirty="0" smtClean="0"/>
                        <a:t>Description</a:t>
                      </a:r>
                      <a:endParaRPr lang="en-US" sz="2400" dirty="0"/>
                    </a:p>
                  </a:txBody>
                  <a:tcPr/>
                </a:tc>
              </a:tr>
              <a:tr h="730526">
                <a:tc>
                  <a:txBody>
                    <a:bodyPr/>
                    <a:lstStyle/>
                    <a:p>
                      <a:r>
                        <a:rPr lang="en-US" sz="2400" dirty="0" err="1" smtClean="0">
                          <a:effectLst/>
                        </a:rPr>
                        <a:t>Beam.GetOptimalFluence</a:t>
                      </a:r>
                      <a:endParaRPr lang="en-US" sz="2400" dirty="0" smtClean="0">
                        <a:effectLst/>
                      </a:endParaRPr>
                    </a:p>
                  </a:txBody>
                  <a:tcPr anchor="ctr"/>
                </a:tc>
                <a:tc>
                  <a:txBody>
                    <a:bodyPr/>
                    <a:lstStyle/>
                    <a:p>
                      <a:r>
                        <a:rPr lang="en-US" sz="2400" dirty="0">
                          <a:effectLst/>
                        </a:rPr>
                        <a:t>Gets the optimal </a:t>
                      </a:r>
                      <a:r>
                        <a:rPr lang="en-US" sz="2400" dirty="0" err="1">
                          <a:effectLst/>
                        </a:rPr>
                        <a:t>fluence</a:t>
                      </a:r>
                      <a:r>
                        <a:rPr lang="en-US" sz="2400" dirty="0">
                          <a:effectLst/>
                        </a:rPr>
                        <a:t> for this beam. Returns null if optimal </a:t>
                      </a:r>
                      <a:r>
                        <a:rPr lang="en-US" sz="2400" dirty="0" err="1">
                          <a:effectLst/>
                        </a:rPr>
                        <a:t>fluence</a:t>
                      </a:r>
                      <a:r>
                        <a:rPr lang="en-US" sz="2400" dirty="0">
                          <a:effectLst/>
                        </a:rPr>
                        <a:t> does not exist. </a:t>
                      </a:r>
                    </a:p>
                  </a:txBody>
                  <a:tcPr anchor="ctr"/>
                </a:tc>
              </a:tr>
              <a:tr h="730526">
                <a:tc>
                  <a:txBody>
                    <a:bodyPr/>
                    <a:lstStyle/>
                    <a:p>
                      <a:r>
                        <a:rPr lang="en-US" sz="2400" dirty="0" err="1" smtClean="0">
                          <a:effectLst/>
                        </a:rPr>
                        <a:t>PlanSetup.OptimizationSetup</a:t>
                      </a:r>
                      <a:endParaRPr lang="en-US" sz="2400" dirty="0" smtClean="0">
                        <a:effectLst/>
                      </a:endParaRPr>
                    </a:p>
                  </a:txBody>
                  <a:tcPr anchor="ctr"/>
                </a:tc>
                <a:tc>
                  <a:txBody>
                    <a:bodyPr/>
                    <a:lstStyle/>
                    <a:p>
                      <a:r>
                        <a:rPr lang="en-US" sz="2400" dirty="0">
                          <a:effectLst/>
                        </a:rPr>
                        <a:t>Provides access to optimization objectives and parameters. </a:t>
                      </a:r>
                    </a:p>
                  </a:txBody>
                  <a:tcPr anchor="ctr"/>
                </a:tc>
              </a:tr>
            </a:tbl>
          </a:graphicData>
        </a:graphic>
      </p:graphicFrame>
    </p:spTree>
    <p:extLst>
      <p:ext uri="{BB962C8B-B14F-4D97-AF65-F5344CB8AC3E}">
        <p14:creationId xmlns:p14="http://schemas.microsoft.com/office/powerpoint/2010/main" val="276602893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ESAPI v13: New </a:t>
            </a:r>
            <a:r>
              <a:rPr lang="en-US" dirty="0" err="1" smtClean="0"/>
              <a:t>Brachy</a:t>
            </a:r>
            <a:r>
              <a:rPr lang="en-US" dirty="0" smtClean="0"/>
              <a:t> Support</a:t>
            </a:r>
            <a:endParaRPr lang="en-US" dirty="0"/>
          </a:p>
        </p:txBody>
      </p:sp>
      <p:graphicFrame>
        <p:nvGraphicFramePr>
          <p:cNvPr id="6" name="Content Placeholder 3"/>
          <p:cNvGraphicFramePr>
            <a:graphicFrameLocks/>
          </p:cNvGraphicFramePr>
          <p:nvPr>
            <p:extLst>
              <p:ext uri="{D42A27DB-BD31-4B8C-83A1-F6EECF244321}">
                <p14:modId xmlns:p14="http://schemas.microsoft.com/office/powerpoint/2010/main" val="289992117"/>
              </p:ext>
            </p:extLst>
          </p:nvPr>
        </p:nvGraphicFramePr>
        <p:xfrm>
          <a:off x="304800" y="1219200"/>
          <a:ext cx="8353426" cy="4615069"/>
        </p:xfrm>
        <a:graphic>
          <a:graphicData uri="http://schemas.openxmlformats.org/drawingml/2006/table">
            <a:tbl>
              <a:tblPr firstRow="1" bandRow="1">
                <a:tableStyleId>{85BE263C-DBD7-4A20-BB59-AAB30ACAA65A}</a:tableStyleId>
              </a:tblPr>
              <a:tblGrid>
                <a:gridCol w="4176713"/>
                <a:gridCol w="4176713"/>
              </a:tblGrid>
              <a:tr h="521804">
                <a:tc>
                  <a:txBody>
                    <a:bodyPr/>
                    <a:lstStyle/>
                    <a:p>
                      <a:r>
                        <a:rPr lang="en-US" sz="2400" dirty="0" smtClean="0"/>
                        <a:t>New API Class</a:t>
                      </a:r>
                      <a:endParaRPr lang="en-US" sz="2400" dirty="0"/>
                    </a:p>
                  </a:txBody>
                  <a:tcPr/>
                </a:tc>
                <a:tc>
                  <a:txBody>
                    <a:bodyPr/>
                    <a:lstStyle/>
                    <a:p>
                      <a:r>
                        <a:rPr lang="en-US" sz="2400" dirty="0" smtClean="0"/>
                        <a:t>Description</a:t>
                      </a:r>
                      <a:endParaRPr lang="en-US" sz="2400" dirty="0"/>
                    </a:p>
                  </a:txBody>
                  <a:tcPr/>
                </a:tc>
              </a:tr>
              <a:tr h="730526">
                <a:tc>
                  <a:txBody>
                    <a:bodyPr/>
                    <a:lstStyle/>
                    <a:p>
                      <a:r>
                        <a:rPr lang="en-US" sz="3200" dirty="0" err="1" smtClean="0">
                          <a:effectLst/>
                        </a:rPr>
                        <a:t>BrachyPlanSetup</a:t>
                      </a:r>
                      <a:endParaRPr lang="en-US" sz="3200" kern="1200" dirty="0">
                        <a:solidFill>
                          <a:schemeClr val="dk1"/>
                        </a:solidFill>
                        <a:effectLst/>
                        <a:latin typeface="+mn-lt"/>
                        <a:ea typeface="+mn-ea"/>
                        <a:cs typeface="+mn-cs"/>
                      </a:endParaRPr>
                    </a:p>
                  </a:txBody>
                  <a:tcPr anchor="ctr"/>
                </a:tc>
                <a:tc>
                  <a:txBody>
                    <a:bodyPr/>
                    <a:lstStyle/>
                    <a:p>
                      <a:r>
                        <a:rPr lang="en-US" dirty="0">
                          <a:effectLst/>
                        </a:rPr>
                        <a:t>Represents a brachytherapy treatment </a:t>
                      </a:r>
                      <a:r>
                        <a:rPr lang="en-US" sz="1800" kern="1200" dirty="0">
                          <a:solidFill>
                            <a:schemeClr val="dk1"/>
                          </a:solidFill>
                          <a:effectLst/>
                          <a:latin typeface="+mn-lt"/>
                          <a:ea typeface="+mn-ea"/>
                          <a:cs typeface="+mn-cs"/>
                        </a:rPr>
                        <a:t>plan</a:t>
                      </a:r>
                      <a:r>
                        <a:rPr lang="en-US" dirty="0">
                          <a:effectLst/>
                        </a:rPr>
                        <a:t>. </a:t>
                      </a:r>
                      <a:r>
                        <a:rPr lang="en-US" dirty="0" err="1" smtClean="0">
                          <a:effectLst/>
                        </a:rPr>
                        <a:t>BrachyPlanSetup</a:t>
                      </a:r>
                      <a:endParaRPr lang="en-US" dirty="0">
                        <a:effectLst/>
                      </a:endParaRPr>
                    </a:p>
                  </a:txBody>
                  <a:tcPr anchor="ctr"/>
                </a:tc>
              </a:tr>
              <a:tr h="2295939">
                <a:tc>
                  <a:txBody>
                    <a:bodyPr/>
                    <a:lstStyle/>
                    <a:p>
                      <a:r>
                        <a:rPr lang="en-US" sz="3200" dirty="0" err="1" smtClean="0">
                          <a:effectLst/>
                        </a:rPr>
                        <a:t>BrachySolidApplicator</a:t>
                      </a:r>
                      <a:endParaRPr lang="en-US" sz="3200" dirty="0" smtClean="0">
                        <a:effectLst/>
                      </a:endParaRPr>
                    </a:p>
                  </a:txBody>
                  <a:tcPr anchor="ctr"/>
                </a:tc>
                <a:tc>
                  <a:txBody>
                    <a:bodyPr/>
                    <a:lstStyle/>
                    <a:p>
                      <a:r>
                        <a:rPr lang="en-US" dirty="0" smtClean="0">
                          <a:effectLst/>
                        </a:rPr>
                        <a:t>Represents a brachytherapy solid applicator part, such as a tandem or ovoid in a Fletcher Suit </a:t>
                      </a:r>
                      <a:r>
                        <a:rPr lang="en-US" dirty="0" err="1" smtClean="0">
                          <a:effectLst/>
                        </a:rPr>
                        <a:t>Delclos</a:t>
                      </a:r>
                      <a:r>
                        <a:rPr lang="en-US" dirty="0" smtClean="0">
                          <a:effectLst/>
                        </a:rPr>
                        <a:t> (FSD) applicator set. This class holds only the metadata related to the solid applicator part, and links to the catheters that are part of the solid applicator. </a:t>
                      </a:r>
                    </a:p>
                  </a:txBody>
                  <a:tcPr anchor="ctr"/>
                </a:tc>
              </a:tr>
              <a:tr h="730526">
                <a:tc>
                  <a:txBody>
                    <a:bodyPr/>
                    <a:lstStyle/>
                    <a:p>
                      <a:r>
                        <a:rPr lang="en-US" sz="3200" dirty="0" err="1" smtClean="0">
                          <a:effectLst/>
                        </a:rPr>
                        <a:t>BrachyTreatmentUnit</a:t>
                      </a:r>
                      <a:endParaRPr lang="en-US" sz="3200" dirty="0" smtClean="0">
                        <a:effectLst/>
                      </a:endParaRPr>
                    </a:p>
                    <a:p>
                      <a:endParaRPr lang="en-US" sz="3200" dirty="0">
                        <a:effectLst/>
                      </a:endParaRPr>
                    </a:p>
                  </a:txBody>
                  <a:tcPr anchor="ctr"/>
                </a:tc>
                <a:tc>
                  <a:txBody>
                    <a:bodyPr/>
                    <a:lstStyle/>
                    <a:p>
                      <a:r>
                        <a:rPr lang="en-US" dirty="0">
                          <a:effectLst/>
                        </a:rPr>
                        <a:t>Represents a brachytherapy </a:t>
                      </a:r>
                      <a:r>
                        <a:rPr lang="en-US" dirty="0" err="1">
                          <a:effectLst/>
                        </a:rPr>
                        <a:t>afterloader</a:t>
                      </a:r>
                      <a:r>
                        <a:rPr lang="en-US" dirty="0">
                          <a:effectLst/>
                        </a:rPr>
                        <a:t>. </a:t>
                      </a:r>
                    </a:p>
                  </a:txBody>
                  <a:tcPr anchor="ctr"/>
                </a:tc>
              </a:tr>
            </a:tbl>
          </a:graphicData>
        </a:graphic>
      </p:graphicFrame>
    </p:spTree>
    <p:extLst>
      <p:ext uri="{BB962C8B-B14F-4D97-AF65-F5344CB8AC3E}">
        <p14:creationId xmlns:p14="http://schemas.microsoft.com/office/powerpoint/2010/main" val="273571347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ESAPI v13: New </a:t>
            </a:r>
            <a:r>
              <a:rPr lang="en-US" dirty="0" err="1" smtClean="0"/>
              <a:t>Brachy</a:t>
            </a:r>
            <a:r>
              <a:rPr lang="en-US" dirty="0" smtClean="0"/>
              <a:t> Support (2)</a:t>
            </a:r>
            <a:endParaRPr lang="en-US" dirty="0"/>
          </a:p>
        </p:txBody>
      </p:sp>
      <p:graphicFrame>
        <p:nvGraphicFramePr>
          <p:cNvPr id="6" name="Content Placeholder 3"/>
          <p:cNvGraphicFramePr>
            <a:graphicFrameLocks/>
          </p:cNvGraphicFramePr>
          <p:nvPr>
            <p:extLst>
              <p:ext uri="{D42A27DB-BD31-4B8C-83A1-F6EECF244321}">
                <p14:modId xmlns:p14="http://schemas.microsoft.com/office/powerpoint/2010/main" val="1443275421"/>
              </p:ext>
            </p:extLst>
          </p:nvPr>
        </p:nvGraphicFramePr>
        <p:xfrm>
          <a:off x="304800" y="1219200"/>
          <a:ext cx="8353426" cy="4545164"/>
        </p:xfrm>
        <a:graphic>
          <a:graphicData uri="http://schemas.openxmlformats.org/drawingml/2006/table">
            <a:tbl>
              <a:tblPr firstRow="1" bandRow="1">
                <a:tableStyleId>{85BE263C-DBD7-4A20-BB59-AAB30ACAA65A}</a:tableStyleId>
              </a:tblPr>
              <a:tblGrid>
                <a:gridCol w="4176713"/>
                <a:gridCol w="4176713"/>
              </a:tblGrid>
              <a:tr h="521804">
                <a:tc>
                  <a:txBody>
                    <a:bodyPr/>
                    <a:lstStyle/>
                    <a:p>
                      <a:r>
                        <a:rPr lang="en-US" sz="2400" dirty="0" smtClean="0"/>
                        <a:t>New API Class</a:t>
                      </a:r>
                      <a:endParaRPr lang="en-US" sz="2400" dirty="0"/>
                    </a:p>
                  </a:txBody>
                  <a:tcPr/>
                </a:tc>
                <a:tc>
                  <a:txBody>
                    <a:bodyPr/>
                    <a:lstStyle/>
                    <a:p>
                      <a:r>
                        <a:rPr lang="en-US" sz="2400" dirty="0" smtClean="0"/>
                        <a:t>Description</a:t>
                      </a:r>
                      <a:endParaRPr lang="en-US" sz="2400" dirty="0"/>
                    </a:p>
                  </a:txBody>
                  <a:tcPr/>
                </a:tc>
              </a:tr>
              <a:tr h="521804">
                <a:tc>
                  <a:txBody>
                    <a:bodyPr/>
                    <a:lstStyle/>
                    <a:p>
                      <a:r>
                        <a:rPr lang="en-US" sz="3200" dirty="0" smtClean="0">
                          <a:effectLst/>
                        </a:rPr>
                        <a:t>Catheter</a:t>
                      </a:r>
                    </a:p>
                  </a:txBody>
                  <a:tcPr anchor="ctr"/>
                </a:tc>
                <a:tc>
                  <a:txBody>
                    <a:bodyPr/>
                    <a:lstStyle/>
                    <a:p>
                      <a:r>
                        <a:rPr lang="en-US" dirty="0" smtClean="0">
                          <a:effectLst/>
                        </a:rPr>
                        <a:t>Represents a brachytherapy catheter or an applicator channel centerline. Catheters are associated with a brachytherapy treatment unit, a channel number, and possibly a unique identifier of the solid applicator part they belong to. Most notably, catheters encapsulate the shape of the applicator channel centerline and its source positions. </a:t>
                      </a:r>
                    </a:p>
                  </a:txBody>
                  <a:tcPr anchor="ctr"/>
                </a:tc>
              </a:tr>
              <a:tr h="521804">
                <a:tc>
                  <a:txBody>
                    <a:bodyPr/>
                    <a:lstStyle/>
                    <a:p>
                      <a:r>
                        <a:rPr lang="en-US" sz="3200" dirty="0" err="1" smtClean="0">
                          <a:effectLst/>
                        </a:rPr>
                        <a:t>RadioactiveSource</a:t>
                      </a:r>
                      <a:endParaRPr lang="en-US" sz="3200" dirty="0" smtClean="0">
                        <a:effectLst/>
                      </a:endParaRPr>
                    </a:p>
                  </a:txBody>
                  <a:tcPr anchor="ctr"/>
                </a:tc>
                <a:tc>
                  <a:txBody>
                    <a:bodyPr/>
                    <a:lstStyle/>
                    <a:p>
                      <a:r>
                        <a:rPr lang="en-US" dirty="0" smtClean="0">
                          <a:effectLst/>
                        </a:rPr>
                        <a:t>Represents a radioactive source installed into a brachytherapy treatment unit or a seed of a seed collection.</a:t>
                      </a:r>
                    </a:p>
                  </a:txBody>
                  <a:tcPr anchor="ctr"/>
                </a:tc>
              </a:tr>
            </a:tbl>
          </a:graphicData>
        </a:graphic>
      </p:graphicFrame>
    </p:spTree>
    <p:extLst>
      <p:ext uri="{BB962C8B-B14F-4D97-AF65-F5344CB8AC3E}">
        <p14:creationId xmlns:p14="http://schemas.microsoft.com/office/powerpoint/2010/main" val="252248644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ESAPI v13: </a:t>
            </a:r>
            <a:r>
              <a:rPr lang="en-US" dirty="0" smtClean="0"/>
              <a:t>New </a:t>
            </a:r>
            <a:r>
              <a:rPr lang="en-US" dirty="0" err="1" smtClean="0"/>
              <a:t>Brachy</a:t>
            </a:r>
            <a:r>
              <a:rPr lang="en-US" dirty="0" smtClean="0"/>
              <a:t> Support (3)</a:t>
            </a:r>
            <a:endParaRPr lang="en-US" dirty="0"/>
          </a:p>
        </p:txBody>
      </p:sp>
      <p:graphicFrame>
        <p:nvGraphicFramePr>
          <p:cNvPr id="6" name="Content Placeholder 3"/>
          <p:cNvGraphicFramePr>
            <a:graphicFrameLocks/>
          </p:cNvGraphicFramePr>
          <p:nvPr>
            <p:extLst>
              <p:ext uri="{D42A27DB-BD31-4B8C-83A1-F6EECF244321}">
                <p14:modId xmlns:p14="http://schemas.microsoft.com/office/powerpoint/2010/main" val="1424522600"/>
              </p:ext>
            </p:extLst>
          </p:nvPr>
        </p:nvGraphicFramePr>
        <p:xfrm>
          <a:off x="304800" y="1219200"/>
          <a:ext cx="8353426" cy="4362284"/>
        </p:xfrm>
        <a:graphic>
          <a:graphicData uri="http://schemas.openxmlformats.org/drawingml/2006/table">
            <a:tbl>
              <a:tblPr firstRow="1" bandRow="1">
                <a:tableStyleId>{85BE263C-DBD7-4A20-BB59-AAB30ACAA65A}</a:tableStyleId>
              </a:tblPr>
              <a:tblGrid>
                <a:gridCol w="4176713"/>
                <a:gridCol w="4176713"/>
              </a:tblGrid>
              <a:tr h="521804">
                <a:tc>
                  <a:txBody>
                    <a:bodyPr/>
                    <a:lstStyle/>
                    <a:p>
                      <a:r>
                        <a:rPr lang="en-US" sz="2400" dirty="0" smtClean="0"/>
                        <a:t>New API Class</a:t>
                      </a:r>
                      <a:endParaRPr lang="en-US" sz="2400" dirty="0"/>
                    </a:p>
                  </a:txBody>
                  <a:tcPr/>
                </a:tc>
                <a:tc>
                  <a:txBody>
                    <a:bodyPr/>
                    <a:lstStyle/>
                    <a:p>
                      <a:r>
                        <a:rPr lang="en-US" sz="2400" dirty="0" smtClean="0"/>
                        <a:t>Description</a:t>
                      </a:r>
                      <a:endParaRPr lang="en-US" sz="2400" dirty="0"/>
                    </a:p>
                  </a:txBody>
                  <a:tcPr/>
                </a:tc>
              </a:tr>
              <a:tr h="521804">
                <a:tc>
                  <a:txBody>
                    <a:bodyPr/>
                    <a:lstStyle/>
                    <a:p>
                      <a:r>
                        <a:rPr lang="en-US" sz="3600" dirty="0" err="1" smtClean="0">
                          <a:effectLst/>
                        </a:rPr>
                        <a:t>RadioactiveSourceModel</a:t>
                      </a:r>
                      <a:endParaRPr lang="en-US" sz="3600" dirty="0" smtClean="0">
                        <a:effectLst/>
                      </a:endParaRPr>
                    </a:p>
                  </a:txBody>
                  <a:tcPr anchor="ctr"/>
                </a:tc>
                <a:tc>
                  <a:txBody>
                    <a:bodyPr/>
                    <a:lstStyle/>
                    <a:p>
                      <a:r>
                        <a:rPr lang="en-US" dirty="0">
                          <a:effectLst/>
                        </a:rPr>
                        <a:t>The radioactive source model represents the details of the radioactive source used in brachytherapy. It encapsulates the source isotope, dimensions, and dose calculation parameters. </a:t>
                      </a:r>
                    </a:p>
                  </a:txBody>
                  <a:tcPr anchor="ctr"/>
                </a:tc>
              </a:tr>
              <a:tr h="521804">
                <a:tc>
                  <a:txBody>
                    <a:bodyPr/>
                    <a:lstStyle/>
                    <a:p>
                      <a:r>
                        <a:rPr lang="en-US" sz="3600" dirty="0" err="1" smtClean="0">
                          <a:effectLst/>
                        </a:rPr>
                        <a:t>SeedCollection</a:t>
                      </a:r>
                      <a:endParaRPr lang="en-US" sz="3600" dirty="0" smtClean="0">
                        <a:effectLst/>
                      </a:endParaRPr>
                    </a:p>
                  </a:txBody>
                  <a:tcPr anchor="ctr"/>
                </a:tc>
                <a:tc>
                  <a:txBody>
                    <a:bodyPr/>
                    <a:lstStyle/>
                    <a:p>
                      <a:r>
                        <a:rPr lang="en-US" dirty="0" smtClean="0">
                          <a:effectLst/>
                        </a:rPr>
                        <a:t>Represents a collection of brachytherapy seed positions. Each position is also associated with a radioactive source. </a:t>
                      </a:r>
                    </a:p>
                  </a:txBody>
                  <a:tcPr anchor="ctr"/>
                </a:tc>
              </a:tr>
              <a:tr h="521804">
                <a:tc>
                  <a:txBody>
                    <a:bodyPr/>
                    <a:lstStyle/>
                    <a:p>
                      <a:r>
                        <a:rPr lang="en-US" sz="3600" dirty="0" err="1" smtClean="0">
                          <a:effectLst/>
                        </a:rPr>
                        <a:t>SourcePosition</a:t>
                      </a:r>
                      <a:endParaRPr lang="en-US" sz="3600" dirty="0">
                        <a:effectLst/>
                      </a:endParaRPr>
                    </a:p>
                  </a:txBody>
                  <a:tcPr anchor="ctr"/>
                </a:tc>
                <a:tc>
                  <a:txBody>
                    <a:bodyPr/>
                    <a:lstStyle/>
                    <a:p>
                      <a:r>
                        <a:rPr lang="en-US" dirty="0" smtClean="0">
                          <a:effectLst/>
                        </a:rPr>
                        <a:t>Represents a brachytherapy source dwell position in a catheter or a seed position in a seed collection. </a:t>
                      </a:r>
                      <a:endParaRPr lang="en-US" dirty="0">
                        <a:effectLst/>
                      </a:endParaRPr>
                    </a:p>
                  </a:txBody>
                  <a:tcPr anchor="ctr"/>
                </a:tc>
              </a:tr>
            </a:tbl>
          </a:graphicData>
        </a:graphic>
      </p:graphicFrame>
    </p:spTree>
    <p:extLst>
      <p:ext uri="{BB962C8B-B14F-4D97-AF65-F5344CB8AC3E}">
        <p14:creationId xmlns:p14="http://schemas.microsoft.com/office/powerpoint/2010/main" val="66808869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New in v13: ESAPI for Research Users</a:t>
            </a:r>
            <a:endParaRPr lang="en-US" dirty="0"/>
          </a:p>
        </p:txBody>
      </p:sp>
      <p:sp>
        <p:nvSpPr>
          <p:cNvPr id="3" name="Content Placeholder 2"/>
          <p:cNvSpPr>
            <a:spLocks noGrp="1"/>
          </p:cNvSpPr>
          <p:nvPr>
            <p:ph idx="1"/>
          </p:nvPr>
        </p:nvSpPr>
        <p:spPr/>
        <p:txBody>
          <a:bodyPr/>
          <a:lstStyle/>
          <a:p>
            <a:pPr>
              <a:spcAft>
                <a:spcPts val="800"/>
              </a:spcAft>
            </a:pPr>
            <a:r>
              <a:rPr lang="en-US" dirty="0" smtClean="0"/>
              <a:t>Very interesting new features available for Research Users on Research System.</a:t>
            </a:r>
          </a:p>
          <a:p>
            <a:pPr lvl="1">
              <a:spcAft>
                <a:spcPts val="800"/>
              </a:spcAft>
            </a:pPr>
            <a:r>
              <a:rPr lang="en-US" dirty="0" smtClean="0"/>
              <a:t>Research Partners who have an MRA.</a:t>
            </a:r>
          </a:p>
          <a:p>
            <a:pPr lvl="1">
              <a:spcAft>
                <a:spcPts val="800"/>
              </a:spcAft>
            </a:pPr>
            <a:r>
              <a:rPr lang="en-US" dirty="0" smtClean="0"/>
              <a:t>Requires a special license.</a:t>
            </a:r>
          </a:p>
          <a:p>
            <a:pPr>
              <a:spcAft>
                <a:spcPts val="800"/>
              </a:spcAft>
            </a:pPr>
            <a:r>
              <a:rPr lang="en-US" dirty="0" err="1" smtClean="0"/>
              <a:t>PdM</a:t>
            </a:r>
            <a:r>
              <a:rPr lang="en-US" dirty="0" smtClean="0"/>
              <a:t> (me) distributes the Reference Guide and Online Help.</a:t>
            </a:r>
            <a:endParaRPr lang="en-US" dirty="0"/>
          </a:p>
        </p:txBody>
      </p:sp>
    </p:spTree>
    <p:extLst>
      <p:ext uri="{BB962C8B-B14F-4D97-AF65-F5344CB8AC3E}">
        <p14:creationId xmlns:p14="http://schemas.microsoft.com/office/powerpoint/2010/main" val="369586934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ESAPI for Research : Research System</a:t>
            </a:r>
            <a:endParaRPr lang="en-US" dirty="0"/>
          </a:p>
        </p:txBody>
      </p:sp>
      <p:sp>
        <p:nvSpPr>
          <p:cNvPr id="3" name="Content Placeholder 2"/>
          <p:cNvSpPr>
            <a:spLocks noGrp="1"/>
          </p:cNvSpPr>
          <p:nvPr>
            <p:ph idx="1"/>
          </p:nvPr>
        </p:nvSpPr>
        <p:spPr/>
        <p:txBody>
          <a:bodyPr/>
          <a:lstStyle/>
          <a:p>
            <a:r>
              <a:rPr lang="fi-FI" dirty="0"/>
              <a:t>New </a:t>
            </a:r>
            <a:r>
              <a:rPr lang="fi-FI" dirty="0" err="1"/>
              <a:t>features</a:t>
            </a:r>
            <a:r>
              <a:rPr lang="fi-FI" dirty="0"/>
              <a:t> </a:t>
            </a:r>
            <a:r>
              <a:rPr lang="fi-FI" dirty="0" err="1"/>
              <a:t>require</a:t>
            </a:r>
            <a:r>
              <a:rPr lang="fi-FI" dirty="0"/>
              <a:t> </a:t>
            </a:r>
            <a:r>
              <a:rPr lang="fi-FI" dirty="0" err="1"/>
              <a:t>separate</a:t>
            </a:r>
            <a:r>
              <a:rPr lang="fi-FI" dirty="0"/>
              <a:t> v13 Aria </a:t>
            </a:r>
            <a:r>
              <a:rPr lang="fi-FI" dirty="0" err="1"/>
              <a:t>database</a:t>
            </a:r>
            <a:r>
              <a:rPr lang="fi-FI" dirty="0"/>
              <a:t> </a:t>
            </a:r>
            <a:r>
              <a:rPr lang="fi-FI" dirty="0" err="1"/>
              <a:t>installed</a:t>
            </a:r>
            <a:r>
              <a:rPr lang="fi-FI" dirty="0"/>
              <a:t> and </a:t>
            </a:r>
            <a:r>
              <a:rPr lang="fi-FI" dirty="0" err="1"/>
              <a:t>configured</a:t>
            </a:r>
            <a:r>
              <a:rPr lang="fi-FI" dirty="0"/>
              <a:t> for </a:t>
            </a:r>
            <a:r>
              <a:rPr lang="fi-FI" dirty="0" err="1"/>
              <a:t>non-clinical</a:t>
            </a:r>
            <a:r>
              <a:rPr lang="fi-FI" dirty="0"/>
              <a:t> </a:t>
            </a:r>
            <a:r>
              <a:rPr lang="fi-FI" dirty="0" err="1"/>
              <a:t>research</a:t>
            </a:r>
            <a:r>
              <a:rPr lang="fi-FI" dirty="0"/>
              <a:t> </a:t>
            </a:r>
            <a:r>
              <a:rPr lang="fi-FI" dirty="0" err="1"/>
              <a:t>use</a:t>
            </a:r>
            <a:r>
              <a:rPr lang="fi-FI" dirty="0"/>
              <a:t>.</a:t>
            </a:r>
          </a:p>
          <a:p>
            <a:pPr lvl="1"/>
            <a:r>
              <a:rPr lang="fi-FI" dirty="0" err="1"/>
              <a:t>Database</a:t>
            </a:r>
            <a:r>
              <a:rPr lang="fi-FI" dirty="0"/>
              <a:t> is </a:t>
            </a:r>
            <a:r>
              <a:rPr lang="fi-FI" dirty="0" err="1"/>
              <a:t>flagged</a:t>
            </a:r>
            <a:r>
              <a:rPr lang="fi-FI" dirty="0"/>
              <a:t> as </a:t>
            </a:r>
            <a:r>
              <a:rPr lang="fi-FI" dirty="0" smtClean="0"/>
              <a:t>’</a:t>
            </a:r>
            <a:r>
              <a:rPr lang="fi-FI" dirty="0" err="1" smtClean="0"/>
              <a:t>Research</a:t>
            </a:r>
            <a:r>
              <a:rPr lang="fi-FI" dirty="0"/>
              <a:t>’ </a:t>
            </a:r>
            <a:r>
              <a:rPr lang="fi-FI" dirty="0" err="1"/>
              <a:t>by</a:t>
            </a:r>
            <a:r>
              <a:rPr lang="fi-FI" dirty="0"/>
              <a:t> </a:t>
            </a:r>
            <a:r>
              <a:rPr lang="fi-FI" dirty="0" err="1"/>
              <a:t>Varian</a:t>
            </a:r>
            <a:r>
              <a:rPr lang="fi-FI" dirty="0"/>
              <a:t> </a:t>
            </a:r>
            <a:r>
              <a:rPr lang="fi-FI" dirty="0" err="1"/>
              <a:t>service</a:t>
            </a:r>
            <a:r>
              <a:rPr lang="fi-FI" dirty="0"/>
              <a:t> at </a:t>
            </a:r>
            <a:r>
              <a:rPr lang="fi-FI" dirty="0" err="1"/>
              <a:t>time</a:t>
            </a:r>
            <a:r>
              <a:rPr lang="fi-FI" dirty="0"/>
              <a:t> of </a:t>
            </a:r>
            <a:r>
              <a:rPr lang="fi-FI" dirty="0" err="1"/>
              <a:t>install</a:t>
            </a:r>
            <a:r>
              <a:rPr lang="fi-FI" dirty="0"/>
              <a:t>.</a:t>
            </a:r>
          </a:p>
          <a:p>
            <a:pPr lvl="1"/>
            <a:r>
              <a:rPr lang="fi-FI" dirty="0" err="1" smtClean="0"/>
              <a:t>Not</a:t>
            </a:r>
            <a:r>
              <a:rPr lang="fi-FI" dirty="0" smtClean="0"/>
              <a:t> </a:t>
            </a:r>
            <a:r>
              <a:rPr lang="fi-FI" dirty="0" err="1"/>
              <a:t>possible</a:t>
            </a:r>
            <a:r>
              <a:rPr lang="fi-FI" dirty="0"/>
              <a:t> to set </a:t>
            </a:r>
            <a:r>
              <a:rPr lang="fi-FI" dirty="0" err="1"/>
              <a:t>plans</a:t>
            </a:r>
            <a:r>
              <a:rPr lang="fi-FI" dirty="0"/>
              <a:t> to ”</a:t>
            </a:r>
            <a:r>
              <a:rPr lang="fi-FI" dirty="0" err="1"/>
              <a:t>Treatment</a:t>
            </a:r>
            <a:r>
              <a:rPr lang="fi-FI" dirty="0"/>
              <a:t> </a:t>
            </a:r>
            <a:r>
              <a:rPr lang="fi-FI" dirty="0" err="1"/>
              <a:t>Approved</a:t>
            </a:r>
            <a:r>
              <a:rPr lang="fi-FI" dirty="0"/>
              <a:t>”.</a:t>
            </a:r>
          </a:p>
          <a:p>
            <a:pPr lvl="1"/>
            <a:r>
              <a:rPr lang="fi-FI" dirty="0" err="1" smtClean="0"/>
              <a:t>Plans</a:t>
            </a:r>
            <a:r>
              <a:rPr lang="fi-FI" dirty="0" smtClean="0"/>
              <a:t> </a:t>
            </a:r>
            <a:r>
              <a:rPr lang="fi-FI" dirty="0" err="1"/>
              <a:t>get</a:t>
            </a:r>
            <a:r>
              <a:rPr lang="fi-FI" dirty="0"/>
              <a:t> </a:t>
            </a:r>
            <a:r>
              <a:rPr lang="fi-FI" dirty="0" err="1"/>
              <a:t>additional</a:t>
            </a:r>
            <a:r>
              <a:rPr lang="fi-FI" dirty="0"/>
              <a:t> ’</a:t>
            </a:r>
            <a:r>
              <a:rPr lang="fi-FI" dirty="0" err="1"/>
              <a:t>research</a:t>
            </a:r>
            <a:r>
              <a:rPr lang="fi-FI" dirty="0"/>
              <a:t>’ </a:t>
            </a:r>
            <a:r>
              <a:rPr lang="fi-FI" dirty="0" err="1"/>
              <a:t>indication</a:t>
            </a:r>
            <a:r>
              <a:rPr lang="fi-FI" dirty="0"/>
              <a:t> </a:t>
            </a:r>
            <a:r>
              <a:rPr lang="fi-FI" dirty="0" err="1"/>
              <a:t>when</a:t>
            </a:r>
            <a:r>
              <a:rPr lang="fi-FI" dirty="0"/>
              <a:t> </a:t>
            </a:r>
            <a:r>
              <a:rPr lang="fi-FI" dirty="0" err="1"/>
              <a:t>exported</a:t>
            </a:r>
            <a:r>
              <a:rPr lang="fi-FI" dirty="0"/>
              <a:t> via DICOM.</a:t>
            </a:r>
          </a:p>
          <a:p>
            <a:endParaRPr lang="fi-FI" dirty="0"/>
          </a:p>
        </p:txBody>
      </p:sp>
    </p:spTree>
    <p:extLst>
      <p:ext uri="{BB962C8B-B14F-4D97-AF65-F5344CB8AC3E}">
        <p14:creationId xmlns:p14="http://schemas.microsoft.com/office/powerpoint/2010/main" val="192168220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ESAPI for Research : Research System</a:t>
            </a:r>
            <a:endParaRPr lang="en-US" dirty="0"/>
          </a:p>
        </p:txBody>
      </p:sp>
      <p:pic>
        <p:nvPicPr>
          <p:cNvPr id="1638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2088" y="1643063"/>
            <a:ext cx="6219825" cy="3571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6085674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ESAPI Research Features : Plans</a:t>
            </a:r>
            <a:endParaRPr lang="en-US" dirty="0"/>
          </a:p>
        </p:txBody>
      </p:sp>
      <p:sp>
        <p:nvSpPr>
          <p:cNvPr id="3" name="Content Placeholder 2"/>
          <p:cNvSpPr>
            <a:spLocks noGrp="1"/>
          </p:cNvSpPr>
          <p:nvPr>
            <p:ph idx="1"/>
          </p:nvPr>
        </p:nvSpPr>
        <p:spPr/>
        <p:txBody>
          <a:bodyPr/>
          <a:lstStyle/>
          <a:p>
            <a:pPr marL="57150" indent="0">
              <a:buNone/>
            </a:pPr>
            <a:r>
              <a:rPr lang="fi-FI" sz="3600" dirty="0"/>
              <a:t>Write </a:t>
            </a:r>
            <a:r>
              <a:rPr lang="fi-FI" sz="3600" dirty="0" err="1"/>
              <a:t>access</a:t>
            </a:r>
            <a:r>
              <a:rPr lang="fi-FI" sz="3600" dirty="0"/>
              <a:t> to </a:t>
            </a:r>
            <a:r>
              <a:rPr lang="fi-FI" sz="3600" dirty="0" err="1"/>
              <a:t>plans</a:t>
            </a:r>
            <a:r>
              <a:rPr lang="fi-FI" sz="3600" dirty="0"/>
              <a:t>:</a:t>
            </a:r>
          </a:p>
          <a:p>
            <a:pPr lvl="1"/>
            <a:r>
              <a:rPr lang="fi-FI" sz="3200" dirty="0" err="1"/>
              <a:t>Add/modify</a:t>
            </a:r>
            <a:r>
              <a:rPr lang="fi-FI" sz="3200" dirty="0"/>
              <a:t> </a:t>
            </a:r>
            <a:r>
              <a:rPr lang="fi-FI" sz="3200" dirty="0" err="1"/>
              <a:t>courses</a:t>
            </a:r>
            <a:r>
              <a:rPr lang="fi-FI" sz="3200" dirty="0"/>
              <a:t>, </a:t>
            </a:r>
            <a:r>
              <a:rPr lang="fi-FI" sz="3200" dirty="0" err="1"/>
              <a:t>plans</a:t>
            </a:r>
            <a:r>
              <a:rPr lang="fi-FI" sz="3200" dirty="0"/>
              <a:t>, </a:t>
            </a:r>
            <a:r>
              <a:rPr lang="fi-FI" sz="3200" dirty="0" err="1"/>
              <a:t>beams</a:t>
            </a:r>
            <a:endParaRPr lang="fi-FI" sz="3200" dirty="0"/>
          </a:p>
          <a:p>
            <a:pPr lvl="1"/>
            <a:r>
              <a:rPr lang="fi-FI" sz="3200" dirty="0" err="1"/>
              <a:t>Add/modify</a:t>
            </a:r>
            <a:r>
              <a:rPr lang="fi-FI" sz="3200" dirty="0"/>
              <a:t> </a:t>
            </a:r>
            <a:r>
              <a:rPr lang="fi-FI" sz="3200" dirty="0" err="1"/>
              <a:t>optimization</a:t>
            </a:r>
            <a:r>
              <a:rPr lang="fi-FI" sz="3200" dirty="0"/>
              <a:t> </a:t>
            </a:r>
            <a:r>
              <a:rPr lang="fi-FI" sz="3200" dirty="0" err="1"/>
              <a:t>objectives</a:t>
            </a:r>
            <a:r>
              <a:rPr lang="fi-FI" sz="3200" dirty="0"/>
              <a:t> and </a:t>
            </a:r>
            <a:r>
              <a:rPr lang="fi-FI" sz="3200" dirty="0" err="1"/>
              <a:t>fluences</a:t>
            </a:r>
            <a:endParaRPr lang="fi-FI" sz="3200" dirty="0"/>
          </a:p>
          <a:p>
            <a:r>
              <a:rPr lang="fi-FI" dirty="0" err="1" smtClean="0"/>
              <a:t>Script</a:t>
            </a:r>
            <a:r>
              <a:rPr lang="fi-FI" dirty="0" smtClean="0"/>
              <a:t> the </a:t>
            </a:r>
            <a:r>
              <a:rPr lang="fi-FI" dirty="0" err="1"/>
              <a:t>optimization</a:t>
            </a:r>
            <a:r>
              <a:rPr lang="fi-FI" dirty="0"/>
              <a:t> </a:t>
            </a:r>
            <a:r>
              <a:rPr lang="fi-FI" dirty="0" err="1"/>
              <a:t>engine</a:t>
            </a:r>
            <a:r>
              <a:rPr lang="fi-FI" dirty="0"/>
              <a:t>.</a:t>
            </a:r>
          </a:p>
          <a:p>
            <a:r>
              <a:rPr lang="fi-FI" dirty="0" err="1"/>
              <a:t>Execute</a:t>
            </a:r>
            <a:r>
              <a:rPr lang="fi-FI" dirty="0"/>
              <a:t> LMC.</a:t>
            </a:r>
          </a:p>
          <a:p>
            <a:r>
              <a:rPr lang="fi-FI" dirty="0" err="1"/>
              <a:t>Start</a:t>
            </a:r>
            <a:r>
              <a:rPr lang="fi-FI" dirty="0"/>
              <a:t> </a:t>
            </a:r>
            <a:r>
              <a:rPr lang="fi-FI" dirty="0" err="1"/>
              <a:t>dose</a:t>
            </a:r>
            <a:r>
              <a:rPr lang="fi-FI" dirty="0"/>
              <a:t> </a:t>
            </a:r>
            <a:r>
              <a:rPr lang="fi-FI" dirty="0" err="1"/>
              <a:t>calculations</a:t>
            </a:r>
            <a:r>
              <a:rPr lang="fi-FI" dirty="0"/>
              <a:t>.</a:t>
            </a:r>
          </a:p>
        </p:txBody>
      </p:sp>
    </p:spTree>
    <p:extLst>
      <p:ext uri="{BB962C8B-B14F-4D97-AF65-F5344CB8AC3E}">
        <p14:creationId xmlns:p14="http://schemas.microsoft.com/office/powerpoint/2010/main" val="361923091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ESAPI Research Features : Structures</a:t>
            </a:r>
            <a:endParaRPr lang="en-US" dirty="0"/>
          </a:p>
        </p:txBody>
      </p:sp>
      <p:sp>
        <p:nvSpPr>
          <p:cNvPr id="3" name="Content Placeholder 2"/>
          <p:cNvSpPr>
            <a:spLocks noGrp="1"/>
          </p:cNvSpPr>
          <p:nvPr>
            <p:ph idx="1"/>
          </p:nvPr>
        </p:nvSpPr>
        <p:spPr/>
        <p:txBody>
          <a:bodyPr/>
          <a:lstStyle/>
          <a:p>
            <a:pPr marL="0" indent="0">
              <a:buNone/>
            </a:pPr>
            <a:r>
              <a:rPr lang="fi-FI" sz="4000" dirty="0"/>
              <a:t>Write </a:t>
            </a:r>
            <a:r>
              <a:rPr lang="fi-FI" sz="4000" dirty="0" err="1"/>
              <a:t>access</a:t>
            </a:r>
            <a:r>
              <a:rPr lang="fi-FI" sz="4000" dirty="0"/>
              <a:t> to </a:t>
            </a:r>
            <a:r>
              <a:rPr lang="fi-FI" sz="4000" dirty="0" err="1"/>
              <a:t>structures</a:t>
            </a:r>
            <a:r>
              <a:rPr lang="fi-FI" sz="4000" dirty="0"/>
              <a:t>:	</a:t>
            </a:r>
          </a:p>
          <a:p>
            <a:pPr lvl="1"/>
            <a:r>
              <a:rPr lang="fi-FI" sz="3600" dirty="0" err="1"/>
              <a:t>Add</a:t>
            </a:r>
            <a:r>
              <a:rPr lang="fi-FI" sz="3600" dirty="0"/>
              <a:t> </a:t>
            </a:r>
            <a:r>
              <a:rPr lang="fi-FI" sz="3600" dirty="0" err="1"/>
              <a:t>structures</a:t>
            </a:r>
            <a:r>
              <a:rPr lang="fi-FI" sz="3600" dirty="0"/>
              <a:t>, </a:t>
            </a:r>
            <a:r>
              <a:rPr lang="fi-FI" sz="3600" dirty="0" err="1"/>
              <a:t>modify</a:t>
            </a:r>
            <a:r>
              <a:rPr lang="fi-FI" sz="3600" dirty="0"/>
              <a:t> </a:t>
            </a:r>
            <a:r>
              <a:rPr lang="fi-FI" sz="3600" dirty="0" err="1"/>
              <a:t>contours</a:t>
            </a:r>
            <a:r>
              <a:rPr lang="fi-FI" sz="3600" dirty="0"/>
              <a:t> </a:t>
            </a:r>
          </a:p>
          <a:p>
            <a:pPr lvl="1"/>
            <a:r>
              <a:rPr lang="fi-FI" sz="3600" dirty="0" err="1"/>
              <a:t>Execute</a:t>
            </a:r>
            <a:r>
              <a:rPr lang="fi-FI" sz="3600" dirty="0"/>
              <a:t> </a:t>
            </a:r>
            <a:r>
              <a:rPr lang="fi-FI" sz="3600" dirty="0" err="1"/>
              <a:t>boolean</a:t>
            </a:r>
            <a:r>
              <a:rPr lang="fi-FI" sz="3600" dirty="0"/>
              <a:t> </a:t>
            </a:r>
            <a:r>
              <a:rPr lang="fi-FI" sz="3600" dirty="0" err="1"/>
              <a:t>operators</a:t>
            </a:r>
            <a:r>
              <a:rPr lang="fi-FI" sz="3600" dirty="0"/>
              <a:t> and </a:t>
            </a:r>
            <a:r>
              <a:rPr lang="fi-FI" sz="3600" dirty="0" err="1"/>
              <a:t>margin</a:t>
            </a:r>
            <a:endParaRPr lang="fi-FI" sz="3600" dirty="0"/>
          </a:p>
          <a:p>
            <a:pPr lvl="2"/>
            <a:r>
              <a:rPr lang="fi-FI" sz="3200" dirty="0"/>
              <a:t>AND, OR, XOR, NOT</a:t>
            </a:r>
          </a:p>
          <a:p>
            <a:pPr lvl="2"/>
            <a:r>
              <a:rPr lang="fi-FI" sz="3200" dirty="0" err="1"/>
              <a:t>Margin</a:t>
            </a:r>
            <a:r>
              <a:rPr lang="fi-FI" sz="3200" dirty="0"/>
              <a:t> (</a:t>
            </a:r>
            <a:r>
              <a:rPr lang="fi-FI" sz="3200" dirty="0" err="1"/>
              <a:t>double</a:t>
            </a:r>
            <a:r>
              <a:rPr lang="fi-FI" sz="3200" dirty="0"/>
              <a:t> </a:t>
            </a:r>
            <a:r>
              <a:rPr lang="fi-FI" sz="3200" dirty="0" err="1"/>
              <a:t>margin</a:t>
            </a:r>
            <a:r>
              <a:rPr lang="fi-FI" sz="3200" dirty="0"/>
              <a:t>)</a:t>
            </a:r>
          </a:p>
        </p:txBody>
      </p:sp>
    </p:spTree>
    <p:extLst>
      <p:ext uri="{BB962C8B-B14F-4D97-AF65-F5344CB8AC3E}">
        <p14:creationId xmlns:p14="http://schemas.microsoft.com/office/powerpoint/2010/main" val="76451126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3225" y="1439863"/>
            <a:ext cx="8353425" cy="837009"/>
          </a:xfrm>
        </p:spPr>
        <p:txBody>
          <a:bodyPr>
            <a:normAutofit/>
          </a:bodyPr>
          <a:lstStyle/>
          <a:p>
            <a:pPr marL="0" indent="0">
              <a:buNone/>
            </a:pPr>
            <a:r>
              <a:rPr lang="fi-FI" sz="3600" b="1" dirty="0" err="1" smtClean="0">
                <a:latin typeface="Courier New" pitchFamily="49" charset="0"/>
                <a:cs typeface="Courier New" pitchFamily="49" charset="0"/>
              </a:rPr>
              <a:t>AddStructure</a:t>
            </a:r>
            <a:r>
              <a:rPr lang="fi-FI" sz="3600" b="1" dirty="0" smtClean="0">
                <a:latin typeface="Courier New" pitchFamily="49" charset="0"/>
                <a:cs typeface="Courier New" pitchFamily="49" charset="0"/>
              </a:rPr>
              <a:t>, </a:t>
            </a:r>
            <a:r>
              <a:rPr lang="fi-FI" sz="3600" b="1" dirty="0" err="1" smtClean="0">
                <a:latin typeface="Courier New" pitchFamily="49" charset="0"/>
                <a:cs typeface="Courier New" pitchFamily="49" charset="0"/>
              </a:rPr>
              <a:t>Or</a:t>
            </a:r>
            <a:r>
              <a:rPr lang="fi-FI" sz="3600" b="1" dirty="0" smtClean="0">
                <a:latin typeface="Courier New" pitchFamily="49" charset="0"/>
                <a:cs typeface="Courier New" pitchFamily="49" charset="0"/>
              </a:rPr>
              <a:t>, </a:t>
            </a:r>
            <a:r>
              <a:rPr lang="fi-FI" sz="3600" b="1" dirty="0" err="1" smtClean="0">
                <a:latin typeface="Courier New" pitchFamily="49" charset="0"/>
                <a:cs typeface="Courier New" pitchFamily="49" charset="0"/>
              </a:rPr>
              <a:t>Margin</a:t>
            </a:r>
            <a:endParaRPr lang="fi-FI" sz="3600" b="1" dirty="0" smtClean="0"/>
          </a:p>
        </p:txBody>
      </p:sp>
      <p:pic>
        <p:nvPicPr>
          <p:cNvPr id="1035" name="Picture 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1519" y="2492896"/>
            <a:ext cx="9043171" cy="3528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Straight Connector 8"/>
          <p:cNvCxnSpPr/>
          <p:nvPr/>
        </p:nvCxnSpPr>
        <p:spPr>
          <a:xfrm>
            <a:off x="323528" y="2204864"/>
            <a:ext cx="8208912" cy="0"/>
          </a:xfrm>
          <a:prstGeom prst="line">
            <a:avLst/>
          </a:prstGeom>
        </p:spPr>
        <p:style>
          <a:lnRef idx="2">
            <a:schemeClr val="accent1"/>
          </a:lnRef>
          <a:fillRef idx="0">
            <a:schemeClr val="accent1"/>
          </a:fillRef>
          <a:effectRef idx="1">
            <a:schemeClr val="accent1"/>
          </a:effectRef>
          <a:fontRef idx="minor">
            <a:schemeClr val="tx1"/>
          </a:fontRef>
        </p:style>
      </p:cxnSp>
      <p:sp>
        <p:nvSpPr>
          <p:cNvPr id="10" name="Title 1"/>
          <p:cNvSpPr>
            <a:spLocks noGrp="1"/>
          </p:cNvSpPr>
          <p:nvPr>
            <p:ph type="title"/>
          </p:nvPr>
        </p:nvSpPr>
        <p:spPr/>
        <p:txBody>
          <a:bodyPr/>
          <a:lstStyle/>
          <a:p>
            <a:r>
              <a:rPr lang="en-US" dirty="0" smtClean="0"/>
              <a:t>ESAPI Research Features : Structures</a:t>
            </a:r>
            <a:endParaRPr lang="en-US" dirty="0"/>
          </a:p>
        </p:txBody>
      </p:sp>
    </p:spTree>
    <p:extLst>
      <p:ext uri="{BB962C8B-B14F-4D97-AF65-F5344CB8AC3E}">
        <p14:creationId xmlns:p14="http://schemas.microsoft.com/office/powerpoint/2010/main" val="321150447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86369"/>
            <a:ext cx="1410841" cy="13737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a:xfrm>
            <a:off x="1590352" y="117475"/>
            <a:ext cx="7166297" cy="1143000"/>
          </a:xfrm>
        </p:spPr>
        <p:txBody>
          <a:bodyPr/>
          <a:lstStyle/>
          <a:p>
            <a:r>
              <a:rPr lang="fi-FI" dirty="0" smtClean="0"/>
              <a:t>Demo 1 : Plan Automation</a:t>
            </a:r>
            <a:endParaRPr lang="fi-FI" dirty="0"/>
          </a:p>
        </p:txBody>
      </p:sp>
      <p:sp>
        <p:nvSpPr>
          <p:cNvPr id="3" name="Content Placeholder 2"/>
          <p:cNvSpPr>
            <a:spLocks noGrp="1"/>
          </p:cNvSpPr>
          <p:nvPr>
            <p:ph idx="1"/>
          </p:nvPr>
        </p:nvSpPr>
        <p:spPr>
          <a:xfrm>
            <a:off x="403225" y="1439863"/>
            <a:ext cx="4240783" cy="4149377"/>
          </a:xfrm>
        </p:spPr>
        <p:txBody>
          <a:bodyPr>
            <a:normAutofit fontScale="77500" lnSpcReduction="20000"/>
          </a:bodyPr>
          <a:lstStyle/>
          <a:p>
            <a:r>
              <a:rPr lang="fi-FI" dirty="0" smtClean="0"/>
              <a:t>Standalone script creates two plans: one with 5 and another with 7 IMRT fields.</a:t>
            </a:r>
          </a:p>
          <a:p>
            <a:r>
              <a:rPr lang="fi-FI" dirty="0" smtClean="0"/>
              <a:t>Optimization objectives are set.</a:t>
            </a:r>
          </a:p>
          <a:p>
            <a:r>
              <a:rPr lang="fi-FI" dirty="0" smtClean="0"/>
              <a:t>Optimization, LMC and Final Dose Calculation are executed.</a:t>
            </a:r>
          </a:p>
          <a:p>
            <a:r>
              <a:rPr lang="fi-FI" dirty="0" smtClean="0"/>
              <a:t>All data saved to ARIA db.</a:t>
            </a:r>
          </a:p>
          <a:p>
            <a:r>
              <a:rPr lang="fi-FI" dirty="0" smtClean="0"/>
              <a:t>A report is generated (</a:t>
            </a:r>
            <a:r>
              <a:rPr lang="fi-FI" dirty="0"/>
              <a:t>in xps </a:t>
            </a:r>
            <a:r>
              <a:rPr lang="fi-FI" dirty="0" smtClean="0"/>
              <a:t>format).</a:t>
            </a:r>
          </a:p>
          <a:p>
            <a:endParaRPr lang="fi-FI" dirty="0"/>
          </a:p>
        </p:txBody>
      </p:sp>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70351" y="1340768"/>
            <a:ext cx="2486025" cy="571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45813" y="2146940"/>
            <a:ext cx="2335100" cy="12100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944759" y="3568383"/>
            <a:ext cx="1537208" cy="23808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Down Arrow 8"/>
          <p:cNvSpPr/>
          <p:nvPr/>
        </p:nvSpPr>
        <p:spPr bwMode="auto">
          <a:xfrm>
            <a:off x="6605351" y="1912268"/>
            <a:ext cx="216024" cy="216024"/>
          </a:xfrm>
          <a:prstGeom prst="down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pitchFamily="34" charset="0"/>
              <a:cs typeface="Arial" pitchFamily="34" charset="0"/>
            </a:endParaRPr>
          </a:p>
        </p:txBody>
      </p:sp>
      <p:sp>
        <p:nvSpPr>
          <p:cNvPr id="10" name="Down Arrow 9"/>
          <p:cNvSpPr/>
          <p:nvPr/>
        </p:nvSpPr>
        <p:spPr bwMode="auto">
          <a:xfrm>
            <a:off x="6605351" y="3356992"/>
            <a:ext cx="216024" cy="216024"/>
          </a:xfrm>
          <a:prstGeom prst="down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62790376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7612" y="2924944"/>
            <a:ext cx="2651501" cy="13681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a:xfrm>
            <a:off x="1590353" y="117475"/>
            <a:ext cx="7166297" cy="1143000"/>
          </a:xfrm>
        </p:spPr>
        <p:txBody>
          <a:bodyPr/>
          <a:lstStyle/>
          <a:p>
            <a:r>
              <a:rPr lang="fi-FI" dirty="0" smtClean="0"/>
              <a:t>Demo 2 : Create Phantom and Fluence</a:t>
            </a:r>
            <a:endParaRPr lang="fi-FI" dirty="0"/>
          </a:p>
        </p:txBody>
      </p:sp>
      <p:sp>
        <p:nvSpPr>
          <p:cNvPr id="3" name="Content Placeholder 2"/>
          <p:cNvSpPr>
            <a:spLocks noGrp="1"/>
          </p:cNvSpPr>
          <p:nvPr>
            <p:ph idx="1"/>
          </p:nvPr>
        </p:nvSpPr>
        <p:spPr>
          <a:xfrm>
            <a:off x="403225" y="1439863"/>
            <a:ext cx="4240783" cy="4149377"/>
          </a:xfrm>
        </p:spPr>
        <p:txBody>
          <a:bodyPr>
            <a:normAutofit fontScale="92500" lnSpcReduction="10000"/>
          </a:bodyPr>
          <a:lstStyle/>
          <a:p>
            <a:r>
              <a:rPr lang="fi-FI" sz="3600" dirty="0" smtClean="0"/>
              <a:t>Plugin script that creates a cylinder shaped phantom and assigns HU.</a:t>
            </a:r>
          </a:p>
          <a:p>
            <a:r>
              <a:rPr lang="fi-FI" sz="3600" dirty="0" smtClean="0"/>
              <a:t> A plan with one static beam is created.</a:t>
            </a:r>
          </a:p>
          <a:p>
            <a:r>
              <a:rPr lang="fi-FI" sz="3600" dirty="0" smtClean="0"/>
              <a:t>Fluence is set.</a:t>
            </a:r>
          </a:p>
          <a:p>
            <a:endParaRPr lang="fi-FI" sz="3600" dirty="0"/>
          </a:p>
        </p:txBody>
      </p:sp>
      <p:sp>
        <p:nvSpPr>
          <p:cNvPr id="9" name="Down Arrow 8"/>
          <p:cNvSpPr/>
          <p:nvPr/>
        </p:nvSpPr>
        <p:spPr bwMode="auto">
          <a:xfrm>
            <a:off x="6605351" y="2636912"/>
            <a:ext cx="216024" cy="216024"/>
          </a:xfrm>
          <a:prstGeom prst="down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pitchFamily="34" charset="0"/>
              <a:cs typeface="Arial" pitchFamily="34" charset="0"/>
            </a:endParaRPr>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89488" y="1197496"/>
            <a:ext cx="1047750" cy="1295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512" y="86369"/>
            <a:ext cx="1410841" cy="13737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139952" y="4653135"/>
            <a:ext cx="2420532" cy="12771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Down Arrow 11"/>
          <p:cNvSpPr/>
          <p:nvPr/>
        </p:nvSpPr>
        <p:spPr bwMode="auto">
          <a:xfrm>
            <a:off x="6605351" y="4365104"/>
            <a:ext cx="216024" cy="216024"/>
          </a:xfrm>
          <a:prstGeom prst="down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pitchFamily="34" charset="0"/>
              <a:cs typeface="Arial" pitchFamily="34" charset="0"/>
            </a:endParaRPr>
          </a:p>
        </p:txBody>
      </p:sp>
      <p:pic>
        <p:nvPicPr>
          <p:cNvPr id="1027" name="Picture 3"/>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598431" y="4639970"/>
            <a:ext cx="2462696" cy="13034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9731382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err="1" smtClean="0"/>
              <a:t>SmartAdapt</a:t>
            </a:r>
            <a:r>
              <a:rPr lang="fi-FI" dirty="0" smtClean="0"/>
              <a:t> Scripting API v13 </a:t>
            </a:r>
            <a:r>
              <a:rPr lang="fi-FI" dirty="0" err="1" smtClean="0"/>
              <a:t>Capability</a:t>
            </a:r>
            <a:endParaRPr lang="fi-FI" dirty="0"/>
          </a:p>
        </p:txBody>
      </p:sp>
      <p:sp>
        <p:nvSpPr>
          <p:cNvPr id="3" name="Content Placeholder 2"/>
          <p:cNvSpPr>
            <a:spLocks noGrp="1"/>
          </p:cNvSpPr>
          <p:nvPr>
            <p:ph idx="1"/>
          </p:nvPr>
        </p:nvSpPr>
        <p:spPr/>
        <p:txBody>
          <a:bodyPr>
            <a:normAutofit fontScale="92500" lnSpcReduction="10000"/>
          </a:bodyPr>
          <a:lstStyle/>
          <a:p>
            <a:pPr>
              <a:defRPr/>
            </a:pPr>
            <a:r>
              <a:rPr lang="en-US" dirty="0" err="1" smtClean="0"/>
              <a:t>SmartAdapt</a:t>
            </a:r>
            <a:r>
              <a:rPr lang="en-US" dirty="0" smtClean="0"/>
              <a:t>, </a:t>
            </a:r>
            <a:r>
              <a:rPr lang="en-US" dirty="0" err="1" smtClean="0"/>
              <a:t>SmartSegmentation</a:t>
            </a:r>
            <a:r>
              <a:rPr lang="en-US" dirty="0"/>
              <a:t>, </a:t>
            </a:r>
            <a:r>
              <a:rPr lang="en-US" dirty="0" smtClean="0"/>
              <a:t>Contouring, &amp; Registration share this Scripting API.</a:t>
            </a:r>
          </a:p>
          <a:p>
            <a:pPr>
              <a:defRPr/>
            </a:pPr>
            <a:r>
              <a:rPr lang="en-US" dirty="0" smtClean="0"/>
              <a:t>Basic </a:t>
            </a:r>
            <a:r>
              <a:rPr lang="en-US" dirty="0"/>
              <a:t>RT: Images, 3D &amp; 2D, Structure models, Plans, Treatment Records.</a:t>
            </a:r>
          </a:p>
          <a:p>
            <a:pPr>
              <a:defRPr/>
            </a:pPr>
            <a:r>
              <a:rPr lang="en-US" dirty="0"/>
              <a:t>Deformable Vector Field (DVF)</a:t>
            </a:r>
          </a:p>
          <a:p>
            <a:r>
              <a:rPr lang="en-US" dirty="0" smtClean="0"/>
              <a:t>Registrations, both Rigid and Deformable.</a:t>
            </a:r>
          </a:p>
          <a:p>
            <a:r>
              <a:rPr lang="en-US" dirty="0" smtClean="0"/>
              <a:t>Navigate from source to target image, source to target match points.</a:t>
            </a:r>
          </a:p>
          <a:p>
            <a:r>
              <a:rPr lang="en-US" dirty="0" smtClean="0"/>
              <a:t>Transform points and contours w/ reg.</a:t>
            </a:r>
          </a:p>
        </p:txBody>
      </p:sp>
    </p:spTree>
    <p:extLst>
      <p:ext uri="{BB962C8B-B14F-4D97-AF65-F5344CB8AC3E}">
        <p14:creationId xmlns:p14="http://schemas.microsoft.com/office/powerpoint/2010/main" val="151600218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SmartAdapt</a:t>
            </a:r>
            <a:r>
              <a:rPr lang="en-US" dirty="0" smtClean="0"/>
              <a:t> v13 API Capability</a:t>
            </a:r>
            <a:endParaRPr lang="en-US" dirty="0"/>
          </a:p>
        </p:txBody>
      </p:sp>
      <p:graphicFrame>
        <p:nvGraphicFramePr>
          <p:cNvPr id="5" name="Content Placeholder 3"/>
          <p:cNvGraphicFramePr>
            <a:graphicFrameLocks/>
          </p:cNvGraphicFramePr>
          <p:nvPr>
            <p:extLst>
              <p:ext uri="{D42A27DB-BD31-4B8C-83A1-F6EECF244321}">
                <p14:modId xmlns:p14="http://schemas.microsoft.com/office/powerpoint/2010/main" val="3908727215"/>
              </p:ext>
            </p:extLst>
          </p:nvPr>
        </p:nvGraphicFramePr>
        <p:xfrm>
          <a:off x="304800" y="1219200"/>
          <a:ext cx="8353426" cy="3691724"/>
        </p:xfrm>
        <a:graphic>
          <a:graphicData uri="http://schemas.openxmlformats.org/drawingml/2006/table">
            <a:tbl>
              <a:tblPr firstRow="1" bandRow="1">
                <a:tableStyleId>{85BE263C-DBD7-4A20-BB59-AAB30ACAA65A}</a:tableStyleId>
              </a:tblPr>
              <a:tblGrid>
                <a:gridCol w="4176713"/>
                <a:gridCol w="4176713"/>
              </a:tblGrid>
              <a:tr h="521804">
                <a:tc>
                  <a:txBody>
                    <a:bodyPr/>
                    <a:lstStyle/>
                    <a:p>
                      <a:r>
                        <a:rPr lang="en-US" sz="2400" dirty="0" smtClean="0"/>
                        <a:t>New API Class</a:t>
                      </a:r>
                      <a:endParaRPr lang="en-US" sz="2400" dirty="0"/>
                    </a:p>
                  </a:txBody>
                  <a:tcPr/>
                </a:tc>
                <a:tc>
                  <a:txBody>
                    <a:bodyPr/>
                    <a:lstStyle/>
                    <a:p>
                      <a:r>
                        <a:rPr lang="en-US" sz="2400" dirty="0" smtClean="0"/>
                        <a:t>Description</a:t>
                      </a:r>
                      <a:endParaRPr lang="en-US" sz="2400" dirty="0"/>
                    </a:p>
                  </a:txBody>
                  <a:tcPr/>
                </a:tc>
              </a:tr>
              <a:tr h="521804">
                <a:tc>
                  <a:txBody>
                    <a:bodyPr/>
                    <a:lstStyle/>
                    <a:p>
                      <a:r>
                        <a:rPr lang="en-US" dirty="0" err="1">
                          <a:hlinkClick r:id="rId3" action="ppaction://hlinkfile"/>
                        </a:rPr>
                        <a:t>MIRSNonRigidRegistration</a:t>
                      </a:r>
                      <a:endParaRPr lang="en-US" dirty="0"/>
                    </a:p>
                  </a:txBody>
                  <a:tcPr marL="19050" marR="19050" marT="19050" marB="19050" anchor="ctr"/>
                </a:tc>
                <a:tc>
                  <a:txBody>
                    <a:bodyPr/>
                    <a:lstStyle/>
                    <a:p>
                      <a:r>
                        <a:rPr lang="en-US" dirty="0"/>
                        <a:t>Represents a non-rigid registration in MIRS. Wraps a spatial registration of type </a:t>
                      </a:r>
                      <a:r>
                        <a:rPr lang="en-US" dirty="0" err="1">
                          <a:hlinkClick r:id="rId4" action="ppaction://hlinkfile"/>
                        </a:rPr>
                        <a:t>NonRigidRegistration</a:t>
                      </a:r>
                      <a:r>
                        <a:rPr lang="en-US" dirty="0"/>
                        <a:t>. </a:t>
                      </a:r>
                    </a:p>
                  </a:txBody>
                  <a:tcPr marL="19050" marR="19050" marT="19050" marB="19050" anchor="ctr"/>
                </a:tc>
              </a:tr>
              <a:tr h="521804">
                <a:tc>
                  <a:txBody>
                    <a:bodyPr/>
                    <a:lstStyle/>
                    <a:p>
                      <a:r>
                        <a:rPr lang="en-US" dirty="0" err="1">
                          <a:hlinkClick r:id="rId5" action="ppaction://hlinkfile"/>
                        </a:rPr>
                        <a:t>MIRSRegistration</a:t>
                      </a:r>
                      <a:endParaRPr lang="en-US" dirty="0"/>
                    </a:p>
                  </a:txBody>
                  <a:tcPr marL="19050" marR="19050" marT="19050" marB="19050" anchor="ctr"/>
                </a:tc>
                <a:tc>
                  <a:txBody>
                    <a:bodyPr/>
                    <a:lstStyle/>
                    <a:p>
                      <a:r>
                        <a:rPr lang="en-US" dirty="0"/>
                        <a:t>Represents a rigid or non-rigid registration in MIRS. </a:t>
                      </a:r>
                    </a:p>
                  </a:txBody>
                  <a:tcPr marL="19050" marR="19050" marT="19050" marB="19050" anchor="ctr"/>
                </a:tc>
              </a:tr>
              <a:tr h="521804">
                <a:tc>
                  <a:txBody>
                    <a:bodyPr/>
                    <a:lstStyle/>
                    <a:p>
                      <a:r>
                        <a:rPr lang="en-US" dirty="0" err="1">
                          <a:hlinkClick r:id="rId6" action="ppaction://hlinkfile"/>
                        </a:rPr>
                        <a:t>MIRSRigidRegistration</a:t>
                      </a:r>
                      <a:endParaRPr lang="en-US" dirty="0"/>
                    </a:p>
                  </a:txBody>
                  <a:tcPr marL="19050" marR="19050" marT="19050" marB="19050" anchor="ctr"/>
                </a:tc>
                <a:tc>
                  <a:txBody>
                    <a:bodyPr/>
                    <a:lstStyle/>
                    <a:p>
                      <a:r>
                        <a:rPr lang="en-US" dirty="0"/>
                        <a:t>Represents a rigid registration in MIRS. Wraps a spatial registration of type </a:t>
                      </a:r>
                      <a:r>
                        <a:rPr lang="en-US" dirty="0" err="1">
                          <a:hlinkClick r:id="rId7" action="ppaction://hlinkfile"/>
                        </a:rPr>
                        <a:t>RigidRegistration</a:t>
                      </a:r>
                      <a:r>
                        <a:rPr lang="en-US" dirty="0"/>
                        <a:t>. </a:t>
                      </a:r>
                    </a:p>
                  </a:txBody>
                  <a:tcPr marL="19050" marR="19050" marT="19050" marB="19050" anchor="ctr"/>
                </a:tc>
              </a:tr>
              <a:tr h="521804">
                <a:tc>
                  <a:txBody>
                    <a:bodyPr/>
                    <a:lstStyle/>
                    <a:p>
                      <a:r>
                        <a:rPr lang="en-US" dirty="0" err="1">
                          <a:hlinkClick r:id="rId8" action="ppaction://hlinkfile"/>
                        </a:rPr>
                        <a:t>MIRSImage</a:t>
                      </a:r>
                      <a:endParaRPr lang="en-US" dirty="0"/>
                    </a:p>
                  </a:txBody>
                  <a:tcPr marL="19050" marR="19050" marT="19050" marB="19050" anchor="ctr"/>
                </a:tc>
                <a:tc>
                  <a:txBody>
                    <a:bodyPr/>
                    <a:lstStyle/>
                    <a:p>
                      <a:r>
                        <a:rPr lang="en-US" dirty="0"/>
                        <a:t>Represents a 3D image in the MIRS application. Wraps an image of type </a:t>
                      </a:r>
                      <a:r>
                        <a:rPr lang="en-US" dirty="0">
                          <a:hlinkClick r:id="rId9" action="ppaction://hlinkfile"/>
                        </a:rPr>
                        <a:t>Image</a:t>
                      </a:r>
                      <a:r>
                        <a:rPr lang="en-US" dirty="0"/>
                        <a:t>. </a:t>
                      </a:r>
                    </a:p>
                  </a:txBody>
                  <a:tcPr marL="19050" marR="19050" marT="19050" marB="19050" anchor="ctr"/>
                </a:tc>
              </a:tr>
            </a:tbl>
          </a:graphicData>
        </a:graphic>
      </p:graphicFrame>
      <p:sp>
        <p:nvSpPr>
          <p:cNvPr id="6" name="Title 1"/>
          <p:cNvSpPr txBox="1">
            <a:spLocks/>
          </p:cNvSpPr>
          <p:nvPr/>
        </p:nvSpPr>
        <p:spPr bwMode="auto">
          <a:xfrm>
            <a:off x="228601" y="5257800"/>
            <a:ext cx="8686800" cy="5715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defTabSz="457200" rtl="0" eaLnBrk="1" fontAlgn="base" hangingPunct="1">
              <a:spcBef>
                <a:spcPct val="0"/>
              </a:spcBef>
              <a:spcAft>
                <a:spcPct val="0"/>
              </a:spcAft>
              <a:defRPr sz="3500" kern="1200">
                <a:solidFill>
                  <a:schemeClr val="accent2"/>
                </a:solidFill>
                <a:latin typeface="Arial"/>
                <a:ea typeface="ＭＳ Ｐゴシック" charset="-128"/>
                <a:cs typeface="Arial"/>
              </a:defRPr>
            </a:lvl1pPr>
            <a:lvl2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2pPr>
            <a:lvl3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3pPr>
            <a:lvl4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4pPr>
            <a:lvl5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5pPr>
            <a:lvl6pPr marL="4572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9pPr>
          </a:lstStyle>
          <a:p>
            <a:r>
              <a:rPr lang="en-US" sz="2400" dirty="0" smtClean="0"/>
              <a:t>…. And a lot more ! …  See </a:t>
            </a:r>
            <a:r>
              <a:rPr lang="en-US" sz="2400" dirty="0" err="1" smtClean="0"/>
              <a:t>SmartAdapt</a:t>
            </a:r>
            <a:r>
              <a:rPr lang="en-US" sz="2400" dirty="0" smtClean="0"/>
              <a:t> online help.</a:t>
            </a:r>
            <a:endParaRPr lang="en-US" sz="2400" dirty="0"/>
          </a:p>
        </p:txBody>
      </p:sp>
    </p:spTree>
    <p:extLst>
      <p:ext uri="{BB962C8B-B14F-4D97-AF65-F5344CB8AC3E}">
        <p14:creationId xmlns:p14="http://schemas.microsoft.com/office/powerpoint/2010/main" val="190679627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err="1" smtClean="0"/>
              <a:t>PortalDosimetry</a:t>
            </a:r>
            <a:r>
              <a:rPr lang="fi-FI" dirty="0" smtClean="0"/>
              <a:t> v13 Scripting </a:t>
            </a:r>
            <a:r>
              <a:rPr lang="fi-FI" dirty="0" err="1" smtClean="0"/>
              <a:t>Capability</a:t>
            </a:r>
            <a:endParaRPr lang="fi-FI" dirty="0"/>
          </a:p>
        </p:txBody>
      </p:sp>
      <p:sp>
        <p:nvSpPr>
          <p:cNvPr id="3" name="Content Placeholder 2"/>
          <p:cNvSpPr>
            <a:spLocks noGrp="1"/>
          </p:cNvSpPr>
          <p:nvPr>
            <p:ph idx="1"/>
          </p:nvPr>
        </p:nvSpPr>
        <p:spPr/>
        <p:txBody>
          <a:bodyPr>
            <a:normAutofit/>
          </a:bodyPr>
          <a:lstStyle/>
          <a:p>
            <a:r>
              <a:rPr lang="en-US" dirty="0"/>
              <a:t>Basic RT: Images, 3D &amp; 2D</a:t>
            </a:r>
          </a:p>
          <a:p>
            <a:r>
              <a:rPr lang="en-US" dirty="0"/>
              <a:t>Structure </a:t>
            </a:r>
            <a:r>
              <a:rPr lang="en-US" dirty="0" smtClean="0"/>
              <a:t>models</a:t>
            </a:r>
          </a:p>
          <a:p>
            <a:r>
              <a:rPr lang="en-US" dirty="0" smtClean="0"/>
              <a:t>Plans, Treatment Records.</a:t>
            </a:r>
          </a:p>
          <a:p>
            <a:r>
              <a:rPr lang="en-US" dirty="0" smtClean="0"/>
              <a:t>Predicted and measure dose images</a:t>
            </a:r>
          </a:p>
          <a:p>
            <a:r>
              <a:rPr lang="en-US" dirty="0" smtClean="0"/>
              <a:t>Portal Dose Evaluation Tests.</a:t>
            </a:r>
          </a:p>
          <a:p>
            <a:r>
              <a:rPr lang="en-US" dirty="0" smtClean="0"/>
              <a:t>Portal </a:t>
            </a:r>
            <a:r>
              <a:rPr lang="en-US" dirty="0" err="1" smtClean="0"/>
              <a:t>Dosimetry</a:t>
            </a:r>
            <a:r>
              <a:rPr lang="en-US" dirty="0" smtClean="0"/>
              <a:t> Analysis.</a:t>
            </a:r>
            <a:endParaRPr lang="en-US" dirty="0"/>
          </a:p>
          <a:p>
            <a:endParaRPr lang="en-US" dirty="0" smtClean="0"/>
          </a:p>
        </p:txBody>
      </p:sp>
    </p:spTree>
    <p:extLst>
      <p:ext uri="{BB962C8B-B14F-4D97-AF65-F5344CB8AC3E}">
        <p14:creationId xmlns:p14="http://schemas.microsoft.com/office/powerpoint/2010/main" val="331146568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err="1"/>
              <a:t>PortalDosimetry</a:t>
            </a:r>
            <a:r>
              <a:rPr lang="fi-FI" dirty="0"/>
              <a:t> </a:t>
            </a:r>
            <a:r>
              <a:rPr lang="en-US" dirty="0" smtClean="0"/>
              <a:t>v13 API Capability</a:t>
            </a:r>
            <a:endParaRPr lang="en-US" dirty="0"/>
          </a:p>
        </p:txBody>
      </p:sp>
      <p:graphicFrame>
        <p:nvGraphicFramePr>
          <p:cNvPr id="5" name="Content Placeholder 3"/>
          <p:cNvGraphicFramePr>
            <a:graphicFrameLocks/>
          </p:cNvGraphicFramePr>
          <p:nvPr>
            <p:extLst>
              <p:ext uri="{D42A27DB-BD31-4B8C-83A1-F6EECF244321}">
                <p14:modId xmlns:p14="http://schemas.microsoft.com/office/powerpoint/2010/main" val="3730758814"/>
              </p:ext>
            </p:extLst>
          </p:nvPr>
        </p:nvGraphicFramePr>
        <p:xfrm>
          <a:off x="304800" y="1219200"/>
          <a:ext cx="8353426" cy="3966044"/>
        </p:xfrm>
        <a:graphic>
          <a:graphicData uri="http://schemas.openxmlformats.org/drawingml/2006/table">
            <a:tbl>
              <a:tblPr firstRow="1" bandRow="1">
                <a:tableStyleId>{85BE263C-DBD7-4A20-BB59-AAB30ACAA65A}</a:tableStyleId>
              </a:tblPr>
              <a:tblGrid>
                <a:gridCol w="4176713"/>
                <a:gridCol w="4176713"/>
              </a:tblGrid>
              <a:tr h="521804">
                <a:tc>
                  <a:txBody>
                    <a:bodyPr/>
                    <a:lstStyle/>
                    <a:p>
                      <a:r>
                        <a:rPr lang="en-US" sz="2400" dirty="0" smtClean="0"/>
                        <a:t>New API Class</a:t>
                      </a:r>
                      <a:endParaRPr lang="en-US" sz="2400" dirty="0"/>
                    </a:p>
                  </a:txBody>
                  <a:tcPr/>
                </a:tc>
                <a:tc>
                  <a:txBody>
                    <a:bodyPr/>
                    <a:lstStyle/>
                    <a:p>
                      <a:r>
                        <a:rPr lang="en-US" sz="2400" dirty="0" smtClean="0"/>
                        <a:t>Description</a:t>
                      </a:r>
                      <a:endParaRPr lang="en-US" sz="2400" dirty="0"/>
                    </a:p>
                  </a:txBody>
                  <a:tcPr/>
                </a:tc>
              </a:tr>
              <a:tr h="521804">
                <a:tc>
                  <a:txBody>
                    <a:bodyPr/>
                    <a:lstStyle/>
                    <a:p>
                      <a:r>
                        <a:rPr lang="en-US" sz="3200" dirty="0" err="1" smtClean="0"/>
                        <a:t>DoseImage</a:t>
                      </a:r>
                      <a:endParaRPr lang="en-US" sz="3200" dirty="0" smtClean="0"/>
                    </a:p>
                  </a:txBody>
                  <a:tcPr marL="19050" marR="19050" marT="19050" marB="19050" anchor="ctr"/>
                </a:tc>
                <a:tc>
                  <a:txBody>
                    <a:bodyPr/>
                    <a:lstStyle/>
                    <a:p>
                      <a:r>
                        <a:rPr lang="en-US" dirty="0" smtClean="0"/>
                        <a:t>Represents a dose image (portal dose or predicted dose) in the Portal </a:t>
                      </a:r>
                      <a:r>
                        <a:rPr lang="en-US" dirty="0" err="1" smtClean="0"/>
                        <a:t>Dosimetry</a:t>
                      </a:r>
                      <a:r>
                        <a:rPr lang="en-US" dirty="0" smtClean="0"/>
                        <a:t> application. Wraps an image of type </a:t>
                      </a:r>
                      <a:r>
                        <a:rPr lang="en-US" dirty="0" err="1" smtClean="0"/>
                        <a:t>ImageRT</a:t>
                      </a:r>
                      <a:r>
                        <a:rPr lang="en-US" dirty="0" smtClean="0"/>
                        <a:t>. </a:t>
                      </a:r>
                    </a:p>
                  </a:txBody>
                  <a:tcPr marL="19050" marR="19050" marT="19050" marB="19050" anchor="ctr"/>
                </a:tc>
              </a:tr>
              <a:tr h="521804">
                <a:tc>
                  <a:txBody>
                    <a:bodyPr/>
                    <a:lstStyle/>
                    <a:p>
                      <a:r>
                        <a:rPr lang="en-US" sz="3200" dirty="0" err="1" smtClean="0"/>
                        <a:t>EvaluationTest</a:t>
                      </a:r>
                      <a:endParaRPr lang="en-US" sz="3200" dirty="0" smtClean="0"/>
                    </a:p>
                  </a:txBody>
                  <a:tcPr marL="19050" marR="19050" marT="19050" marB="19050" anchor="ctr"/>
                </a:tc>
                <a:tc>
                  <a:txBody>
                    <a:bodyPr/>
                    <a:lstStyle/>
                    <a:p>
                      <a:r>
                        <a:rPr lang="en-US" dirty="0"/>
                        <a:t>Represents a dose evaluation test. Note that values in percent must be in 0 .. 1 (meaning 0 to 100 percent). </a:t>
                      </a:r>
                    </a:p>
                  </a:txBody>
                  <a:tcPr marL="19050" marR="19050" marT="19050" marB="19050" anchor="ctr"/>
                </a:tc>
              </a:tr>
              <a:tr h="521804">
                <a:tc>
                  <a:txBody>
                    <a:bodyPr/>
                    <a:lstStyle/>
                    <a:p>
                      <a:r>
                        <a:rPr lang="en-US" sz="3200" dirty="0" err="1" smtClean="0"/>
                        <a:t>PDAnalysis</a:t>
                      </a:r>
                      <a:endParaRPr lang="en-US" sz="3200" dirty="0" smtClean="0"/>
                    </a:p>
                  </a:txBody>
                  <a:tcPr marL="19050" marR="19050" marT="19050" marB="19050" anchor="ctr"/>
                </a:tc>
                <a:tc>
                  <a:txBody>
                    <a:bodyPr/>
                    <a:lstStyle/>
                    <a:p>
                      <a:r>
                        <a:rPr lang="en-US" dirty="0"/>
                        <a:t>Represents a Portal </a:t>
                      </a:r>
                      <a:r>
                        <a:rPr lang="en-US" dirty="0" err="1"/>
                        <a:t>Dosimetry</a:t>
                      </a:r>
                      <a:r>
                        <a:rPr lang="en-US" dirty="0"/>
                        <a:t> analysis, a comparison or a dose constancy check. </a:t>
                      </a:r>
                    </a:p>
                  </a:txBody>
                  <a:tcPr marL="19050" marR="19050" marT="19050" marB="19050" anchor="ctr"/>
                </a:tc>
              </a:tr>
              <a:tr h="521804">
                <a:tc>
                  <a:txBody>
                    <a:bodyPr/>
                    <a:lstStyle/>
                    <a:p>
                      <a:r>
                        <a:rPr lang="en-US" sz="3200" dirty="0" err="1" smtClean="0"/>
                        <a:t>PortalDoseImage</a:t>
                      </a:r>
                      <a:endParaRPr lang="en-US" sz="3200" dirty="0" smtClean="0"/>
                    </a:p>
                  </a:txBody>
                  <a:tcPr marL="19050" marR="19050" marT="19050" marB="19050" anchor="ctr"/>
                </a:tc>
                <a:tc>
                  <a:txBody>
                    <a:bodyPr/>
                    <a:lstStyle/>
                    <a:p>
                      <a:r>
                        <a:rPr lang="en-US" dirty="0"/>
                        <a:t>Represents a portal dose image in the Portal </a:t>
                      </a:r>
                      <a:r>
                        <a:rPr lang="en-US" dirty="0" err="1"/>
                        <a:t>Dosimetry</a:t>
                      </a:r>
                      <a:r>
                        <a:rPr lang="en-US" dirty="0"/>
                        <a:t> application. </a:t>
                      </a:r>
                    </a:p>
                  </a:txBody>
                  <a:tcPr marL="19050" marR="19050" marT="19050" marB="19050" anchor="ctr"/>
                </a:tc>
              </a:tr>
            </a:tbl>
          </a:graphicData>
        </a:graphic>
      </p:graphicFrame>
      <p:sp>
        <p:nvSpPr>
          <p:cNvPr id="6" name="Title 1"/>
          <p:cNvSpPr txBox="1">
            <a:spLocks/>
          </p:cNvSpPr>
          <p:nvPr/>
        </p:nvSpPr>
        <p:spPr bwMode="auto">
          <a:xfrm>
            <a:off x="228601" y="5257800"/>
            <a:ext cx="8686800" cy="5715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defTabSz="457200" rtl="0" eaLnBrk="1" fontAlgn="base" hangingPunct="1">
              <a:spcBef>
                <a:spcPct val="0"/>
              </a:spcBef>
              <a:spcAft>
                <a:spcPct val="0"/>
              </a:spcAft>
              <a:defRPr sz="3500" kern="1200">
                <a:solidFill>
                  <a:schemeClr val="accent2"/>
                </a:solidFill>
                <a:latin typeface="Arial"/>
                <a:ea typeface="ＭＳ Ｐゴシック" charset="-128"/>
                <a:cs typeface="Arial"/>
              </a:defRPr>
            </a:lvl1pPr>
            <a:lvl2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2pPr>
            <a:lvl3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3pPr>
            <a:lvl4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4pPr>
            <a:lvl5pPr algn="l" defTabSz="457200" rtl="0" eaLnBrk="1" fontAlgn="base" hangingPunct="1">
              <a:spcBef>
                <a:spcPct val="0"/>
              </a:spcBef>
              <a:spcAft>
                <a:spcPct val="0"/>
              </a:spcAft>
              <a:defRPr sz="4400">
                <a:solidFill>
                  <a:schemeClr val="tx1"/>
                </a:solidFill>
                <a:latin typeface="Arial" charset="0"/>
                <a:ea typeface="ＭＳ Ｐゴシック" charset="-128"/>
                <a:cs typeface="ＭＳ Ｐゴシック" charset="-128"/>
              </a:defRPr>
            </a:lvl5pPr>
            <a:lvl6pPr marL="4572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4400">
                <a:solidFill>
                  <a:schemeClr val="accent1"/>
                </a:solidFill>
                <a:latin typeface="Calibri" charset="0"/>
                <a:ea typeface="ＭＳ Ｐゴシック" charset="-128"/>
                <a:cs typeface="ＭＳ Ｐゴシック" charset="-128"/>
              </a:defRPr>
            </a:lvl9pPr>
          </a:lstStyle>
          <a:p>
            <a:r>
              <a:rPr lang="en-US" sz="2400" dirty="0" smtClean="0"/>
              <a:t>…. And a lot more ! …  See </a:t>
            </a:r>
            <a:r>
              <a:rPr lang="en-US" sz="2400" dirty="0" err="1" smtClean="0"/>
              <a:t>PortalDosimetry</a:t>
            </a:r>
            <a:r>
              <a:rPr lang="en-US" sz="2400" dirty="0" smtClean="0"/>
              <a:t> online help.</a:t>
            </a:r>
            <a:endParaRPr lang="en-US" sz="2400" dirty="0"/>
          </a:p>
        </p:txBody>
      </p:sp>
    </p:spTree>
    <p:extLst>
      <p:ext uri="{BB962C8B-B14F-4D97-AF65-F5344CB8AC3E}">
        <p14:creationId xmlns:p14="http://schemas.microsoft.com/office/powerpoint/2010/main" val="307726952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3 Clinical Scripting APIs in v13</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81076387"/>
              </p:ext>
            </p:extLst>
          </p:nvPr>
        </p:nvGraphicFramePr>
        <p:xfrm>
          <a:off x="403225" y="1295400"/>
          <a:ext cx="8353426" cy="3291840"/>
        </p:xfrm>
        <a:graphic>
          <a:graphicData uri="http://schemas.openxmlformats.org/drawingml/2006/table">
            <a:tbl>
              <a:tblPr firstRow="1" bandRow="1">
                <a:tableStyleId>{85BE263C-DBD7-4A20-BB59-AAB30ACAA65A}</a:tableStyleId>
              </a:tblPr>
              <a:tblGrid>
                <a:gridCol w="4176713"/>
                <a:gridCol w="4176713"/>
              </a:tblGrid>
              <a:tr h="370840">
                <a:tc>
                  <a:txBody>
                    <a:bodyPr/>
                    <a:lstStyle/>
                    <a:p>
                      <a:r>
                        <a:rPr lang="en-US" sz="2400" dirty="0" smtClean="0"/>
                        <a:t>Product</a:t>
                      </a:r>
                      <a:endParaRPr lang="en-US" sz="2400" dirty="0"/>
                    </a:p>
                  </a:txBody>
                  <a:tcPr/>
                </a:tc>
                <a:tc>
                  <a:txBody>
                    <a:bodyPr/>
                    <a:lstStyle/>
                    <a:p>
                      <a:r>
                        <a:rPr lang="en-US" sz="2400" dirty="0" smtClean="0"/>
                        <a:t>Description</a:t>
                      </a:r>
                      <a:endParaRPr lang="en-US" sz="2400" dirty="0"/>
                    </a:p>
                  </a:txBody>
                  <a:tcPr/>
                </a:tc>
              </a:tr>
              <a:tr h="370840">
                <a:tc>
                  <a:txBody>
                    <a:bodyPr/>
                    <a:lstStyle/>
                    <a:p>
                      <a:r>
                        <a:rPr lang="en-US" sz="2400" dirty="0" smtClean="0"/>
                        <a:t>Eclipse Scripting API (ESAPI)</a:t>
                      </a:r>
                      <a:endParaRPr lang="en-US" sz="2400" dirty="0"/>
                    </a:p>
                  </a:txBody>
                  <a:tcPr/>
                </a:tc>
                <a:tc>
                  <a:txBody>
                    <a:bodyPr/>
                    <a:lstStyle/>
                    <a:p>
                      <a:r>
                        <a:rPr lang="en-US" sz="2400" dirty="0" smtClean="0"/>
                        <a:t>Read-only</a:t>
                      </a:r>
                      <a:r>
                        <a:rPr lang="en-US" sz="2400" baseline="0" dirty="0" smtClean="0"/>
                        <a:t> Eclipse Scripting API</a:t>
                      </a:r>
                      <a:endParaRPr lang="en-US" sz="2400" dirty="0"/>
                    </a:p>
                  </a:txBody>
                  <a:tcPr/>
                </a:tc>
              </a:tr>
              <a:tr h="370840">
                <a:tc>
                  <a:txBody>
                    <a:bodyPr/>
                    <a:lstStyle/>
                    <a:p>
                      <a:r>
                        <a:rPr lang="en-US" sz="2400" dirty="0" err="1" smtClean="0"/>
                        <a:t>SmartAdapt</a:t>
                      </a:r>
                      <a:r>
                        <a:rPr lang="en-US" sz="2400" baseline="0" dirty="0" smtClean="0"/>
                        <a:t> Scripting API</a:t>
                      </a:r>
                      <a:endParaRPr lang="en-US" sz="2400" dirty="0"/>
                    </a:p>
                  </a:txBody>
                  <a:tcPr/>
                </a:tc>
                <a:tc>
                  <a:txBody>
                    <a:bodyPr/>
                    <a:lstStyle/>
                    <a:p>
                      <a:r>
                        <a:rPr lang="en-US" sz="2400" dirty="0" smtClean="0"/>
                        <a:t>Read-only</a:t>
                      </a:r>
                      <a:r>
                        <a:rPr lang="en-US" sz="2400" baseline="0" dirty="0" smtClean="0"/>
                        <a:t> Registration, Imaging, and Treatment Information API.</a:t>
                      </a:r>
                      <a:endParaRPr lang="en-US" sz="2400" dirty="0"/>
                    </a:p>
                  </a:txBody>
                  <a:tcPr/>
                </a:tc>
              </a:tr>
              <a:tr h="370840">
                <a:tc>
                  <a:txBody>
                    <a:bodyPr/>
                    <a:lstStyle/>
                    <a:p>
                      <a:r>
                        <a:rPr lang="en-US" sz="2400" dirty="0" smtClean="0"/>
                        <a:t>Portal</a:t>
                      </a:r>
                      <a:r>
                        <a:rPr lang="en-US" sz="2400" baseline="0" dirty="0" smtClean="0"/>
                        <a:t> </a:t>
                      </a:r>
                      <a:r>
                        <a:rPr lang="en-US" sz="2400" baseline="0" dirty="0" err="1" smtClean="0"/>
                        <a:t>Dosimetry</a:t>
                      </a:r>
                      <a:r>
                        <a:rPr lang="en-US" sz="2400" baseline="0" dirty="0" smtClean="0"/>
                        <a:t> Scripting API</a:t>
                      </a:r>
                      <a:endParaRPr lang="en-US" sz="2400" b="1" dirty="0"/>
                    </a:p>
                  </a:txBody>
                  <a:tcPr/>
                </a:tc>
                <a:tc>
                  <a:txBody>
                    <a:bodyPr/>
                    <a:lstStyle/>
                    <a:p>
                      <a:r>
                        <a:rPr lang="en-US" sz="2400" dirty="0" smtClean="0"/>
                        <a:t>Read-only Portal </a:t>
                      </a:r>
                      <a:r>
                        <a:rPr lang="en-US" sz="2400" dirty="0" err="1" smtClean="0"/>
                        <a:t>Dosimetry</a:t>
                      </a:r>
                      <a:r>
                        <a:rPr lang="en-US" sz="2400" dirty="0" smtClean="0"/>
                        <a:t> API</a:t>
                      </a:r>
                      <a:endParaRPr lang="en-US" sz="2400" dirty="0"/>
                    </a:p>
                  </a:txBody>
                  <a:tcPr/>
                </a:tc>
              </a:tr>
            </a:tbl>
          </a:graphicData>
        </a:graphic>
      </p:graphicFrame>
    </p:spTree>
    <p:extLst>
      <p:ext uri="{BB962C8B-B14F-4D97-AF65-F5344CB8AC3E}">
        <p14:creationId xmlns:p14="http://schemas.microsoft.com/office/powerpoint/2010/main" val="141501103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Research Scripting API in v13</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2829231"/>
              </p:ext>
            </p:extLst>
          </p:nvPr>
        </p:nvGraphicFramePr>
        <p:xfrm>
          <a:off x="403225" y="1981200"/>
          <a:ext cx="8353426" cy="1280160"/>
        </p:xfrm>
        <a:graphic>
          <a:graphicData uri="http://schemas.openxmlformats.org/drawingml/2006/table">
            <a:tbl>
              <a:tblPr firstRow="1" bandRow="1">
                <a:tableStyleId>{85BE263C-DBD7-4A20-BB59-AAB30ACAA65A}</a:tableStyleId>
              </a:tblPr>
              <a:tblGrid>
                <a:gridCol w="4176713"/>
                <a:gridCol w="4176713"/>
              </a:tblGrid>
              <a:tr h="370840">
                <a:tc>
                  <a:txBody>
                    <a:bodyPr/>
                    <a:lstStyle/>
                    <a:p>
                      <a:r>
                        <a:rPr lang="en-US" sz="2400" dirty="0" smtClean="0"/>
                        <a:t>Product</a:t>
                      </a:r>
                      <a:endParaRPr lang="en-US" sz="2400" dirty="0"/>
                    </a:p>
                  </a:txBody>
                  <a:tcPr/>
                </a:tc>
                <a:tc>
                  <a:txBody>
                    <a:bodyPr/>
                    <a:lstStyle/>
                    <a:p>
                      <a:r>
                        <a:rPr lang="en-US" sz="2400" dirty="0" smtClean="0"/>
                        <a:t>Description</a:t>
                      </a:r>
                      <a:endParaRPr lang="en-US" sz="2400" dirty="0"/>
                    </a:p>
                  </a:txBody>
                  <a:tcPr/>
                </a:tc>
              </a:tr>
              <a:tr h="370840">
                <a:tc>
                  <a:txBody>
                    <a:bodyPr/>
                    <a:lstStyle/>
                    <a:p>
                      <a:r>
                        <a:rPr lang="en-US" sz="2400" dirty="0" smtClean="0"/>
                        <a:t>Eclipse Scripting API for Research</a:t>
                      </a:r>
                      <a:r>
                        <a:rPr lang="en-US" sz="2400" baseline="0" dirty="0" smtClean="0"/>
                        <a:t> Users</a:t>
                      </a:r>
                      <a:endParaRPr lang="en-US" sz="2400" dirty="0">
                        <a:solidFill>
                          <a:srgbClr val="FFC000"/>
                        </a:solidFill>
                      </a:endParaRPr>
                    </a:p>
                  </a:txBody>
                  <a:tcPr/>
                </a:tc>
                <a:tc>
                  <a:txBody>
                    <a:bodyPr/>
                    <a:lstStyle/>
                    <a:p>
                      <a:r>
                        <a:rPr lang="en-US" sz="2400" dirty="0" smtClean="0"/>
                        <a:t>Read/write</a:t>
                      </a:r>
                      <a:r>
                        <a:rPr lang="en-US" sz="2400" baseline="0" dirty="0" smtClean="0"/>
                        <a:t> ESAPI + Optimization + Dose Calc.</a:t>
                      </a:r>
                      <a:endParaRPr lang="en-US" sz="2400" dirty="0"/>
                    </a:p>
                  </a:txBody>
                  <a:tcPr/>
                </a:tc>
              </a:tr>
            </a:tbl>
          </a:graphicData>
        </a:graphic>
      </p:graphicFrame>
    </p:spTree>
    <p:extLst>
      <p:ext uri="{BB962C8B-B14F-4D97-AF65-F5344CB8AC3E}">
        <p14:creationId xmlns:p14="http://schemas.microsoft.com/office/powerpoint/2010/main" val="411078186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FYI : Other APIs available in v11 &amp; v13</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898388426"/>
              </p:ext>
            </p:extLst>
          </p:nvPr>
        </p:nvGraphicFramePr>
        <p:xfrm>
          <a:off x="403225" y="1439863"/>
          <a:ext cx="8353426" cy="4023360"/>
        </p:xfrm>
        <a:graphic>
          <a:graphicData uri="http://schemas.openxmlformats.org/drawingml/2006/table">
            <a:tbl>
              <a:tblPr firstRow="1" bandRow="1">
                <a:tableStyleId>{85BE263C-DBD7-4A20-BB59-AAB30ACAA65A}</a:tableStyleId>
              </a:tblPr>
              <a:tblGrid>
                <a:gridCol w="4176713"/>
                <a:gridCol w="4176713"/>
              </a:tblGrid>
              <a:tr h="370840">
                <a:tc>
                  <a:txBody>
                    <a:bodyPr/>
                    <a:lstStyle/>
                    <a:p>
                      <a:r>
                        <a:rPr lang="en-US" sz="2400" dirty="0" smtClean="0"/>
                        <a:t>Product</a:t>
                      </a:r>
                      <a:endParaRPr lang="en-US" sz="2400" dirty="0"/>
                    </a:p>
                  </a:txBody>
                  <a:tcPr/>
                </a:tc>
                <a:tc>
                  <a:txBody>
                    <a:bodyPr/>
                    <a:lstStyle/>
                    <a:p>
                      <a:r>
                        <a:rPr lang="en-US" sz="2400" dirty="0" smtClean="0"/>
                        <a:t>Description</a:t>
                      </a:r>
                      <a:endParaRPr lang="en-US" sz="2400" dirty="0"/>
                    </a:p>
                  </a:txBody>
                  <a:tcPr/>
                </a:tc>
              </a:tr>
              <a:tr h="370840">
                <a:tc>
                  <a:txBody>
                    <a:bodyPr/>
                    <a:lstStyle/>
                    <a:p>
                      <a:r>
                        <a:rPr lang="en-US" sz="2400" dirty="0" smtClean="0"/>
                        <a:t>Eclipse Algorithm API (EAAPI) (Research Only)</a:t>
                      </a:r>
                      <a:endParaRPr lang="en-US" sz="2400" dirty="0"/>
                    </a:p>
                  </a:txBody>
                  <a:tcPr/>
                </a:tc>
                <a:tc>
                  <a:txBody>
                    <a:bodyPr/>
                    <a:lstStyle/>
                    <a:p>
                      <a:r>
                        <a:rPr lang="en-US" sz="2400" dirty="0" smtClean="0"/>
                        <a:t>C++ API for developing dose </a:t>
                      </a:r>
                      <a:r>
                        <a:rPr lang="en-US" sz="2400" dirty="0" err="1" smtClean="0"/>
                        <a:t>calc</a:t>
                      </a:r>
                      <a:r>
                        <a:rPr lang="en-US" sz="2400" dirty="0" smtClean="0"/>
                        <a:t> and optimization algorithms</a:t>
                      </a:r>
                      <a:r>
                        <a:rPr lang="en-US" sz="2400" baseline="0" dirty="0" smtClean="0"/>
                        <a:t> in Eclipse.</a:t>
                      </a:r>
                      <a:endParaRPr lang="en-US" sz="2400" dirty="0"/>
                    </a:p>
                  </a:txBody>
                  <a:tcPr/>
                </a:tc>
              </a:tr>
              <a:tr h="370840">
                <a:tc>
                  <a:txBody>
                    <a:bodyPr/>
                    <a:lstStyle/>
                    <a:p>
                      <a:r>
                        <a:rPr lang="en-US" sz="2400" dirty="0" smtClean="0"/>
                        <a:t>DICOM DB Daemon</a:t>
                      </a:r>
                      <a:endParaRPr lang="en-US" sz="2400" dirty="0"/>
                    </a:p>
                  </a:txBody>
                  <a:tcPr/>
                </a:tc>
                <a:tc>
                  <a:txBody>
                    <a:bodyPr/>
                    <a:lstStyle/>
                    <a:p>
                      <a:r>
                        <a:rPr lang="en-US" sz="2400" dirty="0" smtClean="0"/>
                        <a:t>Very wide read</a:t>
                      </a:r>
                      <a:r>
                        <a:rPr lang="en-US" sz="2400" baseline="0" dirty="0" smtClean="0"/>
                        <a:t> and write </a:t>
                      </a:r>
                      <a:r>
                        <a:rPr lang="en-US" sz="2400" dirty="0" smtClean="0"/>
                        <a:t>pipe</a:t>
                      </a:r>
                      <a:r>
                        <a:rPr lang="en-US" sz="2400" baseline="0" dirty="0" smtClean="0"/>
                        <a:t> to RT information. Also scriptable.</a:t>
                      </a:r>
                      <a:endParaRPr lang="en-US" sz="2400" dirty="0"/>
                    </a:p>
                  </a:txBody>
                  <a:tcPr/>
                </a:tc>
              </a:tr>
              <a:tr h="370840">
                <a:tc>
                  <a:txBody>
                    <a:bodyPr/>
                    <a:lstStyle/>
                    <a:p>
                      <a:r>
                        <a:rPr lang="en-US" sz="2400" dirty="0" smtClean="0"/>
                        <a:t>Dynamic Documents Service</a:t>
                      </a:r>
                      <a:endParaRPr lang="en-US" sz="2400" dirty="0"/>
                    </a:p>
                  </a:txBody>
                  <a:tcPr/>
                </a:tc>
                <a:tc>
                  <a:txBody>
                    <a:bodyPr/>
                    <a:lstStyle/>
                    <a:p>
                      <a:r>
                        <a:rPr lang="en-US" sz="2400" baseline="0" dirty="0" smtClean="0"/>
                        <a:t>Web service that lets programmers get / add dynamic docs to aria.</a:t>
                      </a:r>
                      <a:endParaRPr lang="en-US" sz="2400" dirty="0"/>
                    </a:p>
                  </a:txBody>
                  <a:tcPr/>
                </a:tc>
              </a:tr>
            </a:tbl>
          </a:graphicData>
        </a:graphic>
      </p:graphicFrame>
    </p:spTree>
    <p:extLst>
      <p:ext uri="{BB962C8B-B14F-4D97-AF65-F5344CB8AC3E}">
        <p14:creationId xmlns:p14="http://schemas.microsoft.com/office/powerpoint/2010/main" val="373050101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48996" y="1439863"/>
            <a:ext cx="5861883" cy="4464050"/>
          </a:xfrm>
        </p:spPr>
      </p:pic>
      <p:sp>
        <p:nvSpPr>
          <p:cNvPr id="6" name="Title 5"/>
          <p:cNvSpPr>
            <a:spLocks noGrp="1"/>
          </p:cNvSpPr>
          <p:nvPr>
            <p:ph type="title"/>
          </p:nvPr>
        </p:nvSpPr>
        <p:spPr/>
        <p:txBody>
          <a:bodyPr/>
          <a:lstStyle/>
          <a:p>
            <a:r>
              <a:rPr lang="en-US" dirty="0" smtClean="0"/>
              <a:t>DICOM Scripting w/ VMS DB Daemon</a:t>
            </a:r>
            <a:endParaRPr lang="en-US" dirty="0"/>
          </a:p>
        </p:txBody>
      </p:sp>
    </p:spTree>
    <p:extLst>
      <p:ext uri="{BB962C8B-B14F-4D97-AF65-F5344CB8AC3E}">
        <p14:creationId xmlns:p14="http://schemas.microsoft.com/office/powerpoint/2010/main" val="181475394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DICOM Scripting w/ VMS DB Daemon</a:t>
            </a:r>
            <a:endParaRPr lang="fi-FI" dirty="0"/>
          </a:p>
        </p:txBody>
      </p:sp>
      <p:sp>
        <p:nvSpPr>
          <p:cNvPr id="3" name="Content Placeholder 2"/>
          <p:cNvSpPr>
            <a:spLocks noGrp="1"/>
          </p:cNvSpPr>
          <p:nvPr>
            <p:ph idx="1"/>
          </p:nvPr>
        </p:nvSpPr>
        <p:spPr/>
        <p:txBody>
          <a:bodyPr>
            <a:normAutofit/>
          </a:bodyPr>
          <a:lstStyle/>
          <a:p>
            <a:pPr marL="0" lvl="1" indent="0">
              <a:buNone/>
            </a:pPr>
            <a:r>
              <a:rPr lang="fi-FI" sz="3200" b="1" u="sng" dirty="0" err="1" smtClean="0"/>
              <a:t>Example</a:t>
            </a:r>
            <a:r>
              <a:rPr lang="fi-FI" sz="3200" b="1" u="sng" dirty="0" smtClean="0"/>
              <a:t>: </a:t>
            </a:r>
          </a:p>
          <a:p>
            <a:pPr marL="0" lvl="1" indent="0">
              <a:buNone/>
            </a:pPr>
            <a:r>
              <a:rPr lang="fi-FI" dirty="0" err="1" smtClean="0"/>
              <a:t>Move</a:t>
            </a:r>
            <a:r>
              <a:rPr lang="fi-FI" dirty="0" smtClean="0"/>
              <a:t> </a:t>
            </a:r>
            <a:r>
              <a:rPr lang="fi-FI" dirty="0" err="1" smtClean="0"/>
              <a:t>treatment</a:t>
            </a:r>
            <a:r>
              <a:rPr lang="fi-FI" dirty="0" smtClean="0"/>
              <a:t> </a:t>
            </a:r>
            <a:r>
              <a:rPr lang="fi-FI" dirty="0" err="1"/>
              <a:t>records</a:t>
            </a:r>
            <a:r>
              <a:rPr lang="fi-FI" dirty="0"/>
              <a:t> for a </a:t>
            </a:r>
            <a:r>
              <a:rPr lang="fi-FI" dirty="0" err="1"/>
              <a:t>given</a:t>
            </a:r>
            <a:r>
              <a:rPr lang="fi-FI" dirty="0"/>
              <a:t> </a:t>
            </a:r>
            <a:r>
              <a:rPr lang="fi-FI" dirty="0" err="1"/>
              <a:t>patient</a:t>
            </a:r>
            <a:r>
              <a:rPr lang="fi-FI" dirty="0"/>
              <a:t> </a:t>
            </a:r>
            <a:r>
              <a:rPr lang="fi-FI" dirty="0" smtClean="0"/>
              <a:t>and </a:t>
            </a:r>
            <a:r>
              <a:rPr lang="fi-FI" dirty="0" err="1" smtClean="0"/>
              <a:t>date</a:t>
            </a:r>
            <a:r>
              <a:rPr lang="fi-FI" dirty="0" smtClean="0"/>
              <a:t> </a:t>
            </a:r>
            <a:r>
              <a:rPr lang="fi-FI" dirty="0" err="1" smtClean="0"/>
              <a:t>from</a:t>
            </a:r>
            <a:r>
              <a:rPr lang="fi-FI" dirty="0" smtClean="0"/>
              <a:t> VMSDBD1 to VMSFD:</a:t>
            </a:r>
          </a:p>
          <a:p>
            <a:pPr marL="0" lvl="1" indent="0">
              <a:buNone/>
            </a:pPr>
            <a:r>
              <a:rPr lang="en-US" dirty="0" smtClean="0"/>
              <a:t>…\</a:t>
            </a:r>
            <a:r>
              <a:rPr lang="en-US" dirty="0" err="1" smtClean="0"/>
              <a:t>dcmtk</a:t>
            </a:r>
            <a:r>
              <a:rPr lang="en-US" dirty="0" smtClean="0"/>
              <a:t>&gt;</a:t>
            </a:r>
            <a:r>
              <a:rPr lang="en-US" b="1" dirty="0" err="1" smtClean="0"/>
              <a:t>movescu</a:t>
            </a:r>
            <a:r>
              <a:rPr lang="en-US" b="1" dirty="0" smtClean="0"/>
              <a:t> </a:t>
            </a:r>
            <a:r>
              <a:rPr lang="en-US" b="1" dirty="0"/>
              <a:t>-v -</a:t>
            </a:r>
            <a:r>
              <a:rPr lang="en-US" b="1" dirty="0" err="1"/>
              <a:t>aet</a:t>
            </a:r>
            <a:r>
              <a:rPr lang="en-US" b="1" dirty="0"/>
              <a:t> </a:t>
            </a:r>
            <a:r>
              <a:rPr lang="en-US" b="1" dirty="0" smtClean="0"/>
              <a:t>DCMTK </a:t>
            </a:r>
            <a:r>
              <a:rPr lang="en-US" b="1" dirty="0"/>
              <a:t>-</a:t>
            </a:r>
            <a:r>
              <a:rPr lang="en-US" b="1" dirty="0" err="1"/>
              <a:t>aec</a:t>
            </a:r>
            <a:r>
              <a:rPr lang="en-US" b="1" dirty="0"/>
              <a:t> </a:t>
            </a:r>
            <a:r>
              <a:rPr lang="en-US" b="1" dirty="0" smtClean="0"/>
              <a:t>VMSDBD1 </a:t>
            </a:r>
            <a:r>
              <a:rPr lang="en-US" b="1" dirty="0"/>
              <a:t>-</a:t>
            </a:r>
            <a:r>
              <a:rPr lang="en-US" b="1" dirty="0" err="1"/>
              <a:t>aem</a:t>
            </a:r>
            <a:r>
              <a:rPr lang="en-US" b="1" dirty="0"/>
              <a:t> </a:t>
            </a:r>
            <a:r>
              <a:rPr lang="en-US" b="1" dirty="0" smtClean="0"/>
              <a:t>VMSFD </a:t>
            </a:r>
            <a:r>
              <a:rPr lang="en-US" b="1" dirty="0"/>
              <a:t>-S -k "0008,0052=TREATMENTRECORD"   -k "0010,0020=QASRSWL1" -k "</a:t>
            </a:r>
            <a:r>
              <a:rPr lang="en-US" b="1" dirty="0" smtClean="0"/>
              <a:t>3008,0250=20130801" 198.214.124.167 </a:t>
            </a:r>
            <a:r>
              <a:rPr lang="en-US" b="1" dirty="0"/>
              <a:t>105</a:t>
            </a:r>
            <a:endParaRPr lang="fi-FI" b="1" dirty="0"/>
          </a:p>
          <a:p>
            <a:endParaRPr lang="fi-FI" dirty="0" smtClean="0"/>
          </a:p>
          <a:p>
            <a:endParaRPr lang="fi-FI" dirty="0" smtClean="0"/>
          </a:p>
        </p:txBody>
      </p:sp>
    </p:spTree>
    <p:extLst>
      <p:ext uri="{BB962C8B-B14F-4D97-AF65-F5344CB8AC3E}">
        <p14:creationId xmlns:p14="http://schemas.microsoft.com/office/powerpoint/2010/main" val="407017153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get help with Scripting?</a:t>
            </a:r>
            <a:endParaRPr lang="en-US" dirty="0"/>
          </a:p>
        </p:txBody>
      </p:sp>
      <p:sp>
        <p:nvSpPr>
          <p:cNvPr id="3" name="Content Placeholder 2"/>
          <p:cNvSpPr>
            <a:spLocks noGrp="1"/>
          </p:cNvSpPr>
          <p:nvPr>
            <p:ph idx="1"/>
          </p:nvPr>
        </p:nvSpPr>
        <p:spPr/>
        <p:txBody>
          <a:bodyPr/>
          <a:lstStyle/>
          <a:p>
            <a:r>
              <a:rPr lang="en-US" sz="3600" dirty="0" smtClean="0"/>
              <a:t>Reference Guides on My.Varian.com.</a:t>
            </a:r>
          </a:p>
          <a:p>
            <a:r>
              <a:rPr lang="en-US" sz="3600" dirty="0" smtClean="0"/>
              <a:t>Online Help installed on Eclipse.</a:t>
            </a:r>
          </a:p>
          <a:p>
            <a:r>
              <a:rPr lang="en-US" sz="3600" dirty="0" smtClean="0"/>
              <a:t>Use the Scripting Wizard to get started.</a:t>
            </a:r>
          </a:p>
          <a:p>
            <a:pPr marL="0" indent="0">
              <a:buNone/>
            </a:pPr>
            <a:r>
              <a:rPr lang="en-US" sz="3200" dirty="0" smtClean="0">
                <a:hlinkClick r:id="rId3"/>
              </a:rPr>
              <a:t>www.variandeveloper.com</a:t>
            </a:r>
            <a:endParaRPr lang="en-US" dirty="0" smtClean="0"/>
          </a:p>
          <a:p>
            <a:pPr marL="0" indent="0">
              <a:buNone/>
            </a:pPr>
            <a:r>
              <a:rPr lang="en-US" dirty="0" smtClean="0">
                <a:hlinkClick r:id="rId4"/>
              </a:rPr>
              <a:t>eclipsedeveloper@varian.com</a:t>
            </a:r>
            <a:endParaRPr lang="en-US" dirty="0" smtClean="0"/>
          </a:p>
          <a:p>
            <a:pPr marL="0" indent="0">
              <a:buNone/>
            </a:pPr>
            <a:r>
              <a:rPr lang="en-US" dirty="0" smtClean="0"/>
              <a:t>	…for harder questions!</a:t>
            </a:r>
            <a:endParaRPr lang="en-US" dirty="0"/>
          </a:p>
        </p:txBody>
      </p:sp>
    </p:spTree>
    <p:extLst>
      <p:ext uri="{BB962C8B-B14F-4D97-AF65-F5344CB8AC3E}">
        <p14:creationId xmlns:p14="http://schemas.microsoft.com/office/powerpoint/2010/main" val="3360017621"/>
      </p:ext>
    </p:extLst>
  </p:cSld>
  <p:clrMapOvr>
    <a:masterClrMapping/>
  </p:clrMapOvr>
  <p:timing>
    <p:tnLst>
      <p:par>
        <p:cTn id="1" dur="indefinite" restart="never" nodeType="tmRoot"/>
      </p:par>
    </p:tnLst>
  </p:timing>
</p:sld>
</file>

<file path=ppt/theme/theme1.xml><?xml version="1.0" encoding="utf-8"?>
<a:theme xmlns:a="http://schemas.openxmlformats.org/drawingml/2006/main" name="VOS_Tangerine_Basic">
  <a:themeElements>
    <a:clrScheme name="VOS High Energy 1">
      <a:dk1>
        <a:srgbClr val="666666"/>
      </a:dk1>
      <a:lt1>
        <a:srgbClr val="FFFFFF"/>
      </a:lt1>
      <a:dk2>
        <a:srgbClr val="B3B3B3"/>
      </a:dk2>
      <a:lt2>
        <a:srgbClr val="569CBE"/>
      </a:lt2>
      <a:accent1>
        <a:srgbClr val="005581"/>
      </a:accent1>
      <a:accent2>
        <a:srgbClr val="EB6E1E"/>
      </a:accent2>
      <a:accent3>
        <a:srgbClr val="62CAE3"/>
      </a:accent3>
      <a:accent4>
        <a:srgbClr val="00929F"/>
      </a:accent4>
      <a:accent5>
        <a:srgbClr val="67AE3E"/>
      </a:accent5>
      <a:accent6>
        <a:srgbClr val="BDB4A4"/>
      </a:accent6>
      <a:hlink>
        <a:srgbClr val="FDB913"/>
      </a:hlink>
      <a:folHlink>
        <a:srgbClr val="62CAE3"/>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2604</TotalTime>
  <Words>2052</Words>
  <Application>Microsoft Office PowerPoint</Application>
  <PresentationFormat>On-screen Show (4:3)</PresentationFormat>
  <Paragraphs>319</Paragraphs>
  <Slides>42</Slides>
  <Notes>34</Notes>
  <HiddenSlides>0</HiddenSlides>
  <MMClips>0</MMClips>
  <ScaleCrop>false</ScaleCrop>
  <HeadingPairs>
    <vt:vector size="8" baseType="variant">
      <vt:variant>
        <vt:lpstr>Fonts Used</vt:lpstr>
      </vt:variant>
      <vt:variant>
        <vt:i4>6</vt:i4>
      </vt:variant>
      <vt:variant>
        <vt:lpstr>Theme</vt:lpstr>
      </vt:variant>
      <vt:variant>
        <vt:i4>1</vt:i4>
      </vt:variant>
      <vt:variant>
        <vt:lpstr>Links</vt:lpstr>
      </vt:variant>
      <vt:variant>
        <vt:i4>3</vt:i4>
      </vt:variant>
      <vt:variant>
        <vt:lpstr>Slide Titles</vt:lpstr>
      </vt:variant>
      <vt:variant>
        <vt:i4>42</vt:i4>
      </vt:variant>
    </vt:vector>
  </HeadingPairs>
  <TitlesOfParts>
    <vt:vector size="52" baseType="lpstr">
      <vt:lpstr>ＭＳ Ｐゴシック</vt:lpstr>
      <vt:lpstr>Arial</vt:lpstr>
      <vt:lpstr>Arial Bold</vt:lpstr>
      <vt:lpstr>Calibri</vt:lpstr>
      <vt:lpstr>Courier New</vt:lpstr>
      <vt:lpstr>Wingdings</vt:lpstr>
      <vt:lpstr>VOS_Tangerine_Basic</vt:lpstr>
      <vt:lpstr>C:\Users\wkeranen\Documents\translational research software\PdM\training\Drawing1\Drawing\~Page-1\Sheet.7</vt:lpstr>
      <vt:lpstr>C:\Users\wkeranen\Documents\translational research software\PdM\training\Drawing1\Drawing\~Page-2\Sheet.7</vt:lpstr>
      <vt:lpstr>C:\Users\wkeranen\Documents\translational research software\PdM\training\supporting\training.vsd\Drawing\~Page-3\Sheet.7</vt:lpstr>
      <vt:lpstr>vARIAN apiS in V11 &amp; v13</vt:lpstr>
      <vt:lpstr>Goals of this session:</vt:lpstr>
      <vt:lpstr>What is an API?</vt:lpstr>
      <vt:lpstr>API</vt:lpstr>
      <vt:lpstr>Eclipse Script Types</vt:lpstr>
      <vt:lpstr>Standalone Executable</vt:lpstr>
      <vt:lpstr>ESAPI Standalone Executable</vt:lpstr>
      <vt:lpstr>Single File Plug-in Script</vt:lpstr>
      <vt:lpstr>Binary Plug-in Script</vt:lpstr>
      <vt:lpstr>Why Eclipse Scripting API ?</vt:lpstr>
      <vt:lpstr>Scripting APIs available in v11</vt:lpstr>
      <vt:lpstr>Eclipse Scripting API v11 &amp; V13 : Clinical</vt:lpstr>
      <vt:lpstr>ESAPI v11 &amp; V13 : Sample Use Cases</vt:lpstr>
      <vt:lpstr>Eclipse Scripting API v11/v13 Capability</vt:lpstr>
      <vt:lpstr>Eclipse Scripting API v11/13: DVH, Dose</vt:lpstr>
      <vt:lpstr>ESAPI Example: Accessing DVH Engine</vt:lpstr>
      <vt:lpstr>ESAPI Example: Data Mining : </vt:lpstr>
      <vt:lpstr>On to V13</vt:lpstr>
      <vt:lpstr>Scripting APIs available in v13</vt:lpstr>
      <vt:lpstr>ESAPI v13: New Optimization Support</vt:lpstr>
      <vt:lpstr>ESAPI v13: New Optimization Support</vt:lpstr>
      <vt:lpstr>ESAPI v13: New Brachy Support</vt:lpstr>
      <vt:lpstr>ESAPI v13: New Brachy Support (2)</vt:lpstr>
      <vt:lpstr>ESAPI v13: New Brachy Support (3)</vt:lpstr>
      <vt:lpstr>New in v13: ESAPI for Research Users</vt:lpstr>
      <vt:lpstr>ESAPI for Research : Research System</vt:lpstr>
      <vt:lpstr>ESAPI for Research : Research System</vt:lpstr>
      <vt:lpstr>ESAPI Research Features : Plans</vt:lpstr>
      <vt:lpstr>ESAPI Research Features : Structures</vt:lpstr>
      <vt:lpstr>ESAPI Research Features : Structures</vt:lpstr>
      <vt:lpstr>Demo 1 : Plan Automation</vt:lpstr>
      <vt:lpstr>Demo 2 : Create Phantom and Fluence</vt:lpstr>
      <vt:lpstr>SmartAdapt Scripting API v13 Capability</vt:lpstr>
      <vt:lpstr>SmartAdapt v13 API Capability</vt:lpstr>
      <vt:lpstr>PortalDosimetry v13 Scripting Capability</vt:lpstr>
      <vt:lpstr>PortalDosimetry v13 API Capability</vt:lpstr>
      <vt:lpstr>Summary: 3 Clinical Scripting APIs in v13</vt:lpstr>
      <vt:lpstr>Summary: Research Scripting API in v13</vt:lpstr>
      <vt:lpstr>FYI : Other APIs available in v11 &amp; v13</vt:lpstr>
      <vt:lpstr>DICOM Scripting w/ VMS DB Daemon</vt:lpstr>
      <vt:lpstr>DICOM Scripting w/ VMS DB Daemon</vt:lpstr>
      <vt:lpstr>How to get help with Scripting?</vt:lpstr>
    </vt:vector>
  </TitlesOfParts>
  <Company>Varian Medical Systems Int.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Wayne Keranen</dc:creator>
  <cp:lastModifiedBy>Kim, Jinkoo</cp:lastModifiedBy>
  <cp:revision>89</cp:revision>
  <dcterms:created xsi:type="dcterms:W3CDTF">2013-10-14T23:03:09Z</dcterms:created>
  <dcterms:modified xsi:type="dcterms:W3CDTF">2016-04-29T22:27:07Z</dcterms:modified>
</cp:coreProperties>
</file>